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comment2.xml" ContentType="application/vnd.openxmlformats-officedocument.presentationml.comment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9" r:id="rId3"/>
    <p:sldId id="263" r:id="rId4"/>
    <p:sldId id="265" r:id="rId5"/>
    <p:sldId id="264" r:id="rId6"/>
    <p:sldId id="266" r:id="rId7"/>
    <p:sldId id="267" r:id="rId8"/>
    <p:sldId id="260" r:id="rId9"/>
    <p:sldId id="268" r:id="rId10"/>
    <p:sldId id="301" r:id="rId11"/>
    <p:sldId id="269" r:id="rId12"/>
    <p:sldId id="270" r:id="rId13"/>
    <p:sldId id="272" r:id="rId14"/>
    <p:sldId id="274" r:id="rId15"/>
    <p:sldId id="275" r:id="rId16"/>
    <p:sldId id="276" r:id="rId17"/>
    <p:sldId id="299" r:id="rId18"/>
    <p:sldId id="302" r:id="rId19"/>
    <p:sldId id="305" r:id="rId20"/>
    <p:sldId id="306" r:id="rId21"/>
    <p:sldId id="307" r:id="rId22"/>
    <p:sldId id="303" r:id="rId23"/>
    <p:sldId id="304" r:id="rId24"/>
    <p:sldId id="296" r:id="rId25"/>
    <p:sldId id="297" r:id="rId26"/>
  </p:sldIdLst>
  <p:sldSz cx="9144000" cy="5143500" type="screen16x9"/>
  <p:notesSz cx="6858000" cy="9144000"/>
  <p:embeddedFontLst>
    <p:embeddedFont>
      <p:font typeface="Nunito" pitchFamily="2" charset="77"/>
      <p:regular r:id="rId28"/>
      <p:bold r:id="rId29"/>
      <p:italic r:id="rId30"/>
      <p:boldItalic r:id="rId31"/>
    </p:embeddedFont>
    <p:embeddedFont>
      <p:font typeface="Raleway" pitchFamily="2" charset="77"/>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j3YPEZRWUjBS0oweoW6ufoKvsXw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li Willet" initials="" lastIdx="3" clrIdx="0"/>
  <p:cmAuthor id="1" name="Georgie Samaha" initials="" lastIdx="8"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FF2F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8E360BE-9E8C-47FA-9224-D54531E0FC42}">
  <a:tblStyle styleId="{58E360BE-9E8C-47FA-9224-D54531E0FC4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2E0EC5B-1B34-438A-A319-86F458C8C85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79554AE-82F3-4285-8CC5-1978A281E307}" styleName="Table_2">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AEF"/>
          </a:solidFill>
        </a:fill>
      </a:tcStyle>
    </a:wholeTbl>
    <a:band1H>
      <a:tcTxStyle/>
      <a:tcStyle>
        <a:tcBdr/>
        <a:fill>
          <a:solidFill>
            <a:srgbClr val="CAD2DD"/>
          </a:solidFill>
        </a:fill>
      </a:tcStyle>
    </a:band1H>
    <a:band2H>
      <a:tcTxStyle/>
      <a:tcStyle>
        <a:tcBdr/>
      </a:tcStyle>
    </a:band2H>
    <a:band1V>
      <a:tcTxStyle/>
      <a:tcStyle>
        <a:tcBdr/>
        <a:fill>
          <a:solidFill>
            <a:srgbClr val="CAD2DD"/>
          </a:solidFill>
        </a:fill>
      </a:tcStyle>
    </a:band1V>
    <a:band2V>
      <a:tcTxStyle/>
      <a:tcStyle>
        <a:tcBdr/>
      </a:tcStyle>
    </a:band2V>
    <a:lastCol>
      <a:tcTxStyle b="on" i="off">
        <a:font>
          <a:latin typeface="Arial"/>
          <a:ea typeface="Arial"/>
          <a:cs typeface="Arial"/>
        </a:font>
        <a:schemeClr val="lt1"/>
      </a:tcTxStyle>
      <a:tcStyle>
        <a:tcBdr/>
        <a:fill>
          <a:solidFill>
            <a:schemeClr val="accent5"/>
          </a:solidFill>
        </a:fill>
      </a:tcStyle>
    </a:lastCol>
    <a:firstCol>
      <a:tcTxStyle b="on" i="off">
        <a:font>
          <a:latin typeface="Arial"/>
          <a:ea typeface="Arial"/>
          <a:cs typeface="Arial"/>
        </a:font>
        <a:schemeClr val="lt1"/>
      </a:tcTxStyle>
      <a:tcStyle>
        <a:tcBdr/>
        <a:fill>
          <a:solidFill>
            <a:schemeClr val="accent5"/>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p:restoredTop sz="81530"/>
  </p:normalViewPr>
  <p:slideViewPr>
    <p:cSldViewPr snapToGrid="0">
      <p:cViewPr varScale="1">
        <p:scale>
          <a:sx n="129" d="100"/>
          <a:sy n="129" d="100"/>
        </p:scale>
        <p:origin x="78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56"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59"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0-18T05:44:33.474" idx="1">
    <p:pos x="6000" y="0"/>
    <p:text>@hossein don’t worry about tools at this stage, Cali can explore that in part 2. My UNSOLICITED advice is to just focus on high level comparison of inputs (gene list, background, database), purpose, outputs of each. A very rough suggestion is to use a table like this (will need adjusting, Im sure my info isnt actually correct)</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BW_ppKtA"/>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4-10-18T05:23:55.772" idx="8">
    <p:pos x="196" y="658"/>
    <p:text>Just a suggestion</p:text>
    <p:extLst>
      <p:ext uri="{C676402C-5697-4E1C-873F-D02D1690AC5C}">
        <p15:threadingInfo xmlns:p15="http://schemas.microsoft.com/office/powerpoint/2012/main" timeZoneBias="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journals.plos.org/ploscompbiol/article?id=10.1371/journal.pcbi.1003123"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g30bad334051_3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5" name="Google Shape;35;g30bad334051_3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fc836300ec_4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2" name="Google Shape;52;g2fc836300ec_4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0bad334051_3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33" name="Google Shape;133;g30bad334051_3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0bad334051_3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5" name="Google Shape;145;g30bad334051_3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0bad334051_3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39" name="Google Shape;139;g30bad334051_3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AU" sz="1100" b="1" i="0" u="none" strike="noStrike" cap="none" dirty="0">
                <a:solidFill>
                  <a:srgbClr val="000000"/>
                </a:solidFill>
                <a:effectLst/>
                <a:latin typeface="Arial"/>
                <a:ea typeface="Arial"/>
                <a:cs typeface="Arial"/>
                <a:sym typeface="Arial"/>
              </a:rPr>
              <a:t>Example 1:</a:t>
            </a: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0" i="0" u="none" strike="noStrike" cap="none" dirty="0">
                <a:solidFill>
                  <a:srgbClr val="000000"/>
                </a:solidFill>
                <a:effectLst/>
                <a:latin typeface="Arial"/>
                <a:ea typeface="Arial"/>
                <a:cs typeface="Arial"/>
                <a:sym typeface="Arial"/>
              </a:rPr>
              <a:t>You perform RNA-seq on treated vs. untreated cells and find that FEA shows enrichment in:</a:t>
            </a:r>
          </a:p>
          <a:p>
            <a:pPr marL="158750" indent="0">
              <a:buNone/>
            </a:pPr>
            <a:r>
              <a:rPr lang="en-AU" sz="1100" b="1" i="0" u="none" strike="noStrike" cap="none" dirty="0">
                <a:solidFill>
                  <a:srgbClr val="000000"/>
                </a:solidFill>
                <a:effectLst/>
                <a:latin typeface="Arial"/>
                <a:ea typeface="Arial"/>
                <a:cs typeface="Arial"/>
                <a:sym typeface="Arial"/>
              </a:rPr>
              <a:t>“Apoptotic process”</a:t>
            </a:r>
            <a:r>
              <a:rPr lang="en-AU" sz="1100" b="0" i="0" u="none" strike="noStrike" cap="none" dirty="0">
                <a:solidFill>
                  <a:srgbClr val="000000"/>
                </a:solidFill>
                <a:effectLst/>
                <a:latin typeface="Arial"/>
                <a:ea typeface="Arial"/>
                <a:cs typeface="Arial"/>
                <a:sym typeface="Arial"/>
              </a:rPr>
              <a:t> and </a:t>
            </a:r>
            <a:r>
              <a:rPr lang="en-AU" sz="1100" b="1" i="0" u="none" strike="noStrike" cap="none" dirty="0">
                <a:solidFill>
                  <a:srgbClr val="000000"/>
                </a:solidFill>
                <a:effectLst/>
                <a:latin typeface="Arial"/>
                <a:ea typeface="Arial"/>
                <a:cs typeface="Arial"/>
                <a:sym typeface="Arial"/>
              </a:rPr>
              <a:t>“p53 </a:t>
            </a:r>
            <a:r>
              <a:rPr lang="en-AU" sz="1100" b="1" i="0" u="none" strike="noStrike" cap="none" dirty="0" err="1">
                <a:solidFill>
                  <a:srgbClr val="000000"/>
                </a:solidFill>
                <a:effectLst/>
                <a:latin typeface="Arial"/>
                <a:ea typeface="Arial"/>
                <a:cs typeface="Arial"/>
                <a:sym typeface="Arial"/>
              </a:rPr>
              <a:t>signaling</a:t>
            </a:r>
            <a:r>
              <a:rPr lang="en-AU" sz="1100" b="1" i="0" u="none" strike="noStrike" cap="none" dirty="0">
                <a:solidFill>
                  <a:srgbClr val="000000"/>
                </a:solidFill>
                <a:effectLst/>
                <a:latin typeface="Arial"/>
                <a:ea typeface="Arial"/>
                <a:cs typeface="Arial"/>
                <a:sym typeface="Arial"/>
              </a:rPr>
              <a:t> pathway”</a:t>
            </a: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1" i="0" u="none" strike="noStrike" cap="none" dirty="0">
                <a:solidFill>
                  <a:srgbClr val="000000"/>
                </a:solidFill>
                <a:effectLst/>
                <a:latin typeface="Arial"/>
                <a:ea typeface="Arial"/>
                <a:cs typeface="Arial"/>
                <a:sym typeface="Arial"/>
              </a:rPr>
              <a:t>Hypothesis generated:</a:t>
            </a:r>
            <a:br>
              <a:rPr lang="en-AU" sz="1100" b="0" i="0" u="none" strike="noStrike" cap="none" dirty="0">
                <a:solidFill>
                  <a:srgbClr val="000000"/>
                </a:solidFill>
                <a:effectLst/>
                <a:latin typeface="Arial"/>
                <a:ea typeface="Arial"/>
                <a:cs typeface="Arial"/>
                <a:sym typeface="Arial"/>
              </a:rPr>
            </a:br>
            <a:r>
              <a:rPr lang="en-AU" sz="1100" b="0" i="0" u="none" strike="noStrike" cap="none" dirty="0">
                <a:solidFill>
                  <a:srgbClr val="000000"/>
                </a:solidFill>
                <a:effectLst/>
                <a:latin typeface="Arial"/>
                <a:ea typeface="Arial"/>
                <a:cs typeface="Arial"/>
                <a:sym typeface="Arial"/>
              </a:rPr>
              <a:t>→ “The treatment might be triggering apoptosis through p53 activation.”</a:t>
            </a:r>
            <a:br>
              <a:rPr lang="en-AU" sz="1100" b="0" i="0" u="none" strike="noStrike" cap="none" dirty="0">
                <a:solidFill>
                  <a:srgbClr val="000000"/>
                </a:solidFill>
                <a:effectLst/>
                <a:latin typeface="Arial"/>
                <a:ea typeface="Arial"/>
                <a:cs typeface="Arial"/>
                <a:sym typeface="Arial"/>
              </a:rPr>
            </a:br>
            <a:r>
              <a:rPr lang="en-AU" sz="1100" b="1" i="0" u="none" strike="noStrike" cap="none" dirty="0">
                <a:solidFill>
                  <a:srgbClr val="000000"/>
                </a:solidFill>
                <a:effectLst/>
                <a:latin typeface="Arial"/>
                <a:ea typeface="Arial"/>
                <a:cs typeface="Arial"/>
                <a:sym typeface="Arial"/>
              </a:rPr>
              <a:t>Next experiment:</a:t>
            </a:r>
            <a:br>
              <a:rPr lang="en-AU" sz="1100" b="0" i="0" u="none" strike="noStrike" cap="none" dirty="0">
                <a:solidFill>
                  <a:srgbClr val="000000"/>
                </a:solidFill>
                <a:effectLst/>
                <a:latin typeface="Arial"/>
                <a:ea typeface="Arial"/>
                <a:cs typeface="Arial"/>
                <a:sym typeface="Arial"/>
              </a:rPr>
            </a:br>
            <a:r>
              <a:rPr lang="en-AU" sz="1100" b="0" i="0" u="none" strike="noStrike" cap="none" dirty="0">
                <a:solidFill>
                  <a:srgbClr val="000000"/>
                </a:solidFill>
                <a:effectLst/>
                <a:latin typeface="Arial"/>
                <a:ea typeface="Arial"/>
                <a:cs typeface="Arial"/>
                <a:sym typeface="Arial"/>
              </a:rPr>
              <a:t>→ Test p53 expression or caspase activity to confirm.</a:t>
            </a:r>
          </a:p>
          <a:p>
            <a:pPr marL="158750" indent="0">
              <a:buNone/>
            </a:pPr>
            <a:br>
              <a:rPr lang="en-AU" sz="1100" b="0" i="0" u="none" strike="noStrike" cap="none" dirty="0">
                <a:solidFill>
                  <a:srgbClr val="000000"/>
                </a:solidFill>
                <a:effectLst/>
                <a:latin typeface="Arial"/>
                <a:ea typeface="Arial"/>
                <a:cs typeface="Arial"/>
                <a:sym typeface="Arial"/>
              </a:rPr>
            </a:b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1" i="0" u="none" strike="noStrike" cap="none" dirty="0">
                <a:solidFill>
                  <a:srgbClr val="000000"/>
                </a:solidFill>
                <a:effectLst/>
                <a:latin typeface="Arial"/>
                <a:ea typeface="Arial"/>
                <a:cs typeface="Arial"/>
                <a:sym typeface="Arial"/>
              </a:rPr>
              <a:t>Example 2:</a:t>
            </a: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0" i="0" u="none" strike="noStrike" cap="none" dirty="0">
                <a:solidFill>
                  <a:srgbClr val="000000"/>
                </a:solidFill>
                <a:effectLst/>
                <a:latin typeface="Arial"/>
                <a:ea typeface="Arial"/>
                <a:cs typeface="Arial"/>
                <a:sym typeface="Arial"/>
              </a:rPr>
              <a:t>In a cancer dataset, FEA shows enrichment in:</a:t>
            </a:r>
          </a:p>
          <a:p>
            <a:pPr marL="158750" indent="0">
              <a:buNone/>
            </a:pPr>
            <a:r>
              <a:rPr lang="en-AU" sz="1100" b="1" i="0" u="none" strike="noStrike" cap="none" dirty="0">
                <a:solidFill>
                  <a:srgbClr val="000000"/>
                </a:solidFill>
                <a:effectLst/>
                <a:latin typeface="Arial"/>
                <a:ea typeface="Arial"/>
                <a:cs typeface="Arial"/>
                <a:sym typeface="Arial"/>
              </a:rPr>
              <a:t>“Angiogenesis”</a:t>
            </a:r>
            <a:r>
              <a:rPr lang="en-AU" sz="1100" b="0" i="0" u="none" strike="noStrike" cap="none" dirty="0">
                <a:solidFill>
                  <a:srgbClr val="000000"/>
                </a:solidFill>
                <a:effectLst/>
                <a:latin typeface="Arial"/>
                <a:ea typeface="Arial"/>
                <a:cs typeface="Arial"/>
                <a:sym typeface="Arial"/>
              </a:rPr>
              <a:t> and </a:t>
            </a:r>
            <a:r>
              <a:rPr lang="en-AU" sz="1100" b="1" i="0" u="none" strike="noStrike" cap="none" dirty="0">
                <a:solidFill>
                  <a:srgbClr val="000000"/>
                </a:solidFill>
                <a:effectLst/>
                <a:latin typeface="Arial"/>
                <a:ea typeface="Arial"/>
                <a:cs typeface="Arial"/>
                <a:sym typeface="Arial"/>
              </a:rPr>
              <a:t>“VEGF </a:t>
            </a:r>
            <a:r>
              <a:rPr lang="en-AU" sz="1100" b="1" i="0" u="none" strike="noStrike" cap="none" dirty="0" err="1">
                <a:solidFill>
                  <a:srgbClr val="000000"/>
                </a:solidFill>
                <a:effectLst/>
                <a:latin typeface="Arial"/>
                <a:ea typeface="Arial"/>
                <a:cs typeface="Arial"/>
                <a:sym typeface="Arial"/>
              </a:rPr>
              <a:t>signaling</a:t>
            </a:r>
            <a:r>
              <a:rPr lang="en-AU" sz="1100" b="1" i="0" u="none" strike="noStrike" cap="none" dirty="0">
                <a:solidFill>
                  <a:srgbClr val="000000"/>
                </a:solidFill>
                <a:effectLst/>
                <a:latin typeface="Arial"/>
                <a:ea typeface="Arial"/>
                <a:cs typeface="Arial"/>
                <a:sym typeface="Arial"/>
              </a:rPr>
              <a:t>”</a:t>
            </a: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1" i="0" u="none" strike="noStrike" cap="none" dirty="0">
                <a:solidFill>
                  <a:srgbClr val="000000"/>
                </a:solidFill>
                <a:effectLst/>
                <a:latin typeface="Arial"/>
                <a:ea typeface="Arial"/>
                <a:cs typeface="Arial"/>
                <a:sym typeface="Arial"/>
              </a:rPr>
              <a:t>Hypothesis generated:</a:t>
            </a:r>
            <a:br>
              <a:rPr lang="en-AU" sz="1100" b="0" i="0" u="none" strike="noStrike" cap="none" dirty="0">
                <a:solidFill>
                  <a:srgbClr val="000000"/>
                </a:solidFill>
                <a:effectLst/>
                <a:latin typeface="Arial"/>
                <a:ea typeface="Arial"/>
                <a:cs typeface="Arial"/>
                <a:sym typeface="Arial"/>
              </a:rPr>
            </a:br>
            <a:r>
              <a:rPr lang="en-AU" sz="1100" b="0" i="0" u="none" strike="noStrike" cap="none" dirty="0">
                <a:solidFill>
                  <a:srgbClr val="000000"/>
                </a:solidFill>
                <a:effectLst/>
                <a:latin typeface="Arial"/>
                <a:ea typeface="Arial"/>
                <a:cs typeface="Arial"/>
                <a:sym typeface="Arial"/>
              </a:rPr>
              <a:t>→ “</a:t>
            </a:r>
            <a:r>
              <a:rPr lang="en-AU" sz="1100" b="0" i="0" u="none" strike="noStrike" cap="none" dirty="0" err="1">
                <a:solidFill>
                  <a:srgbClr val="000000"/>
                </a:solidFill>
                <a:effectLst/>
                <a:latin typeface="Arial"/>
                <a:ea typeface="Arial"/>
                <a:cs typeface="Arial"/>
                <a:sym typeface="Arial"/>
              </a:rPr>
              <a:t>Tumor</a:t>
            </a:r>
            <a:r>
              <a:rPr lang="en-AU" sz="1100" b="0" i="0" u="none" strike="noStrike" cap="none" dirty="0">
                <a:solidFill>
                  <a:srgbClr val="000000"/>
                </a:solidFill>
                <a:effectLst/>
                <a:latin typeface="Arial"/>
                <a:ea typeface="Arial"/>
                <a:cs typeface="Arial"/>
                <a:sym typeface="Arial"/>
              </a:rPr>
              <a:t> growth in this condition could be driven by increased VEGF </a:t>
            </a:r>
            <a:r>
              <a:rPr lang="en-AU" sz="1100" b="0" i="0" u="none" strike="noStrike" cap="none" dirty="0" err="1">
                <a:solidFill>
                  <a:srgbClr val="000000"/>
                </a:solidFill>
                <a:effectLst/>
                <a:latin typeface="Arial"/>
                <a:ea typeface="Arial"/>
                <a:cs typeface="Arial"/>
                <a:sym typeface="Arial"/>
              </a:rPr>
              <a:t>signaling</a:t>
            </a:r>
            <a:r>
              <a:rPr lang="en-AU" sz="1100" b="0" i="0" u="none" strike="noStrike" cap="none" dirty="0">
                <a:solidFill>
                  <a:srgbClr val="000000"/>
                </a:solidFill>
                <a:effectLst/>
                <a:latin typeface="Arial"/>
                <a:ea typeface="Arial"/>
                <a:cs typeface="Arial"/>
                <a:sym typeface="Arial"/>
              </a:rPr>
              <a:t>.”</a:t>
            </a:r>
            <a:br>
              <a:rPr lang="en-AU" sz="1100" b="0" i="0" u="none" strike="noStrike" cap="none" dirty="0">
                <a:solidFill>
                  <a:srgbClr val="000000"/>
                </a:solidFill>
                <a:effectLst/>
                <a:latin typeface="Arial"/>
                <a:ea typeface="Arial"/>
                <a:cs typeface="Arial"/>
                <a:sym typeface="Arial"/>
              </a:rPr>
            </a:br>
            <a:r>
              <a:rPr lang="en-AU" sz="1100" b="1" i="0" u="none" strike="noStrike" cap="none" dirty="0">
                <a:solidFill>
                  <a:srgbClr val="000000"/>
                </a:solidFill>
                <a:effectLst/>
                <a:latin typeface="Arial"/>
                <a:ea typeface="Arial"/>
                <a:cs typeface="Arial"/>
                <a:sym typeface="Arial"/>
              </a:rPr>
              <a:t>Next experiment:</a:t>
            </a:r>
            <a:br>
              <a:rPr lang="en-AU" sz="1100" b="0" i="0" u="none" strike="noStrike" cap="none" dirty="0">
                <a:solidFill>
                  <a:srgbClr val="000000"/>
                </a:solidFill>
                <a:effectLst/>
                <a:latin typeface="Arial"/>
                <a:ea typeface="Arial"/>
                <a:cs typeface="Arial"/>
                <a:sym typeface="Arial"/>
              </a:rPr>
            </a:br>
            <a:r>
              <a:rPr lang="en-AU" sz="1100" b="0" i="0" u="none" strike="noStrike" cap="none" dirty="0">
                <a:solidFill>
                  <a:srgbClr val="000000"/>
                </a:solidFill>
                <a:effectLst/>
                <a:latin typeface="Arial"/>
                <a:ea typeface="Arial"/>
                <a:cs typeface="Arial"/>
                <a:sym typeface="Arial"/>
              </a:rPr>
              <a:t>→ Measure VEGF levels or inhibit VEGF receptors to see the effect.</a:t>
            </a:r>
          </a:p>
          <a:p>
            <a:pPr marL="158750" indent="0">
              <a:buNone/>
            </a:pPr>
            <a:br>
              <a:rPr lang="en-AU" sz="1100" b="0" i="0" u="none" strike="noStrike" cap="none" dirty="0">
                <a:solidFill>
                  <a:srgbClr val="000000"/>
                </a:solidFill>
                <a:effectLst/>
                <a:latin typeface="Arial"/>
                <a:ea typeface="Arial"/>
                <a:cs typeface="Arial"/>
                <a:sym typeface="Arial"/>
              </a:rPr>
            </a:b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1" i="0" u="none" strike="noStrike" cap="none" dirty="0">
                <a:solidFill>
                  <a:srgbClr val="000000"/>
                </a:solidFill>
                <a:effectLst/>
                <a:latin typeface="Arial"/>
                <a:ea typeface="Arial"/>
                <a:cs typeface="Arial"/>
                <a:sym typeface="Arial"/>
              </a:rPr>
              <a:t>Example 3:</a:t>
            </a: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0" i="0" u="none" strike="noStrike" cap="none" dirty="0">
                <a:solidFill>
                  <a:srgbClr val="000000"/>
                </a:solidFill>
                <a:effectLst/>
                <a:latin typeface="Arial"/>
                <a:ea typeface="Arial"/>
                <a:cs typeface="Arial"/>
                <a:sym typeface="Arial"/>
              </a:rPr>
              <a:t>In a microbiome study, FEA finds enrichment in:</a:t>
            </a:r>
          </a:p>
          <a:p>
            <a:pPr marL="158750" indent="0">
              <a:buNone/>
            </a:pPr>
            <a:r>
              <a:rPr lang="en-AU" sz="1100" b="1" i="0" u="none" strike="noStrike" cap="none" dirty="0">
                <a:solidFill>
                  <a:srgbClr val="000000"/>
                </a:solidFill>
                <a:effectLst/>
                <a:latin typeface="Arial"/>
                <a:ea typeface="Arial"/>
                <a:cs typeface="Arial"/>
                <a:sym typeface="Arial"/>
              </a:rPr>
              <a:t>“Lipid metabolism”</a:t>
            </a:r>
            <a:r>
              <a:rPr lang="en-AU" sz="1100" b="0" i="0" u="none" strike="noStrike" cap="none" dirty="0">
                <a:solidFill>
                  <a:srgbClr val="000000"/>
                </a:solidFill>
                <a:effectLst/>
                <a:latin typeface="Arial"/>
                <a:ea typeface="Arial"/>
                <a:cs typeface="Arial"/>
                <a:sym typeface="Arial"/>
              </a:rPr>
              <a:t> and </a:t>
            </a:r>
            <a:r>
              <a:rPr lang="en-AU" sz="1100" b="1" i="0" u="none" strike="noStrike" cap="none" dirty="0">
                <a:solidFill>
                  <a:srgbClr val="000000"/>
                </a:solidFill>
                <a:effectLst/>
                <a:latin typeface="Arial"/>
                <a:ea typeface="Arial"/>
                <a:cs typeface="Arial"/>
                <a:sym typeface="Arial"/>
              </a:rPr>
              <a:t>“Immune regulation”</a:t>
            </a: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1" i="0" u="none" strike="noStrike" cap="none" dirty="0">
                <a:solidFill>
                  <a:srgbClr val="000000"/>
                </a:solidFill>
                <a:effectLst/>
                <a:latin typeface="Arial"/>
                <a:ea typeface="Arial"/>
                <a:cs typeface="Arial"/>
                <a:sym typeface="Arial"/>
              </a:rPr>
              <a:t>Hypothesis generated:</a:t>
            </a:r>
            <a:br>
              <a:rPr lang="en-AU" sz="1100" b="0" i="0" u="none" strike="noStrike" cap="none" dirty="0">
                <a:solidFill>
                  <a:srgbClr val="000000"/>
                </a:solidFill>
                <a:effectLst/>
                <a:latin typeface="Arial"/>
                <a:ea typeface="Arial"/>
                <a:cs typeface="Arial"/>
                <a:sym typeface="Arial"/>
              </a:rPr>
            </a:br>
            <a:r>
              <a:rPr lang="en-AU" sz="1100" b="0" i="0" u="none" strike="noStrike" cap="none" dirty="0">
                <a:solidFill>
                  <a:srgbClr val="000000"/>
                </a:solidFill>
                <a:effectLst/>
                <a:latin typeface="Arial"/>
                <a:ea typeface="Arial"/>
                <a:cs typeface="Arial"/>
                <a:sym typeface="Arial"/>
              </a:rPr>
              <a:t>→ “Microbial changes might influence host lipid metabolism and immune balance.”</a:t>
            </a:r>
            <a:br>
              <a:rPr lang="en-AU" sz="1100" b="0" i="0" u="none" strike="noStrike" cap="none" dirty="0">
                <a:solidFill>
                  <a:srgbClr val="000000"/>
                </a:solidFill>
                <a:effectLst/>
                <a:latin typeface="Arial"/>
                <a:ea typeface="Arial"/>
                <a:cs typeface="Arial"/>
                <a:sym typeface="Arial"/>
              </a:rPr>
            </a:br>
            <a:r>
              <a:rPr lang="en-AU" sz="1100" b="1" i="0" u="none" strike="noStrike" cap="none" dirty="0">
                <a:solidFill>
                  <a:srgbClr val="000000"/>
                </a:solidFill>
                <a:effectLst/>
                <a:latin typeface="Arial"/>
                <a:ea typeface="Arial"/>
                <a:cs typeface="Arial"/>
                <a:sym typeface="Arial"/>
              </a:rPr>
              <a:t>Next experiment:</a:t>
            </a:r>
            <a:br>
              <a:rPr lang="en-AU" sz="1100" b="0" i="0" u="none" strike="noStrike" cap="none" dirty="0">
                <a:solidFill>
                  <a:srgbClr val="000000"/>
                </a:solidFill>
                <a:effectLst/>
                <a:latin typeface="Arial"/>
                <a:ea typeface="Arial"/>
                <a:cs typeface="Arial"/>
                <a:sym typeface="Arial"/>
              </a:rPr>
            </a:br>
            <a:r>
              <a:rPr lang="en-AU" sz="1100" b="0" i="0" u="none" strike="noStrike" cap="none" dirty="0">
                <a:solidFill>
                  <a:srgbClr val="000000"/>
                </a:solidFill>
                <a:effectLst/>
                <a:latin typeface="Arial"/>
                <a:ea typeface="Arial"/>
                <a:cs typeface="Arial"/>
                <a:sym typeface="Arial"/>
              </a:rPr>
              <a:t>→ Validate lipid levels or immune markers in host tissues.</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0bad334051_3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1" name="Google Shape;151;g30bad334051_3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0bad334051_3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0" name="Google Shape;160;g30bad334051_3_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AU" dirty="0"/>
              <a:t>Relevant concepts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0bad334051_3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8" name="Google Shape;58;g30bad334051_3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Typical Workflow</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bad334051_3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6" name="Google Shape;166;g30bad334051_3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AU" b="1" dirty="0">
                <a:solidFill>
                  <a:schemeClr val="lt2"/>
                </a:solidFill>
                <a:latin typeface="Nunito"/>
                <a:ea typeface="Nunito"/>
                <a:cs typeface="Nunito"/>
                <a:sym typeface="Nunito"/>
              </a:rPr>
              <a:t>Topology-based methods</a:t>
            </a:r>
            <a:r>
              <a:rPr lang="en-AU" dirty="0">
                <a:solidFill>
                  <a:schemeClr val="lt2"/>
                </a:solidFill>
                <a:latin typeface="Nunito"/>
                <a:ea typeface="Nunito"/>
                <a:cs typeface="Nunito"/>
                <a:sym typeface="Nunito"/>
              </a:rPr>
              <a:t>: A scoring system to measure gene location within a pathway, number of interactions, and expression levels.</a:t>
            </a:r>
          </a:p>
          <a:p>
            <a:pPr marL="0" lvl="0" indent="0" algn="l" rtl="0">
              <a:spcBef>
                <a:spcPts val="0"/>
              </a:spcBef>
              <a:spcAft>
                <a:spcPts val="0"/>
              </a:spcAft>
              <a:buNone/>
            </a:pPr>
            <a:endParaRPr lang="en-AU" dirty="0">
              <a:solidFill>
                <a:schemeClr val="lt2"/>
              </a:solidFill>
              <a:latin typeface="Nunito"/>
              <a:ea typeface="Nunito"/>
              <a:cs typeface="Nunito"/>
              <a:sym typeface="Nunito"/>
            </a:endParaRPr>
          </a:p>
          <a:p>
            <a:pPr marL="0" lvl="0" indent="0" algn="l" rtl="0">
              <a:spcBef>
                <a:spcPts val="0"/>
              </a:spcBef>
              <a:spcAft>
                <a:spcPts val="0"/>
              </a:spcAft>
              <a:buNone/>
            </a:pPr>
            <a:endParaRPr lang="en-AU" dirty="0">
              <a:solidFill>
                <a:schemeClr val="lt2"/>
              </a:solidFill>
              <a:latin typeface="Nunito"/>
              <a:ea typeface="Nunito"/>
              <a:cs typeface="Nunito"/>
              <a:sym typeface="Nunito"/>
            </a:endParaRPr>
          </a:p>
          <a:p>
            <a:pPr marL="0" lvl="0" indent="0" algn="l" rtl="0">
              <a:spcBef>
                <a:spcPts val="0"/>
              </a:spcBef>
              <a:spcAft>
                <a:spcPts val="0"/>
              </a:spcAft>
              <a:buNone/>
            </a:pPr>
            <a:r>
              <a:rPr lang="en-AU" dirty="0">
                <a:solidFill>
                  <a:schemeClr val="lt2"/>
                </a:solidFill>
                <a:latin typeface="Nunito"/>
                <a:ea typeface="Nunito"/>
                <a:cs typeface="Nunito"/>
                <a:sym typeface="Nunito"/>
              </a:rPr>
              <a:t>*Note: </a:t>
            </a:r>
            <a:r>
              <a:rPr lang="en-AU" dirty="0">
                <a:solidFill>
                  <a:srgbClr val="FF0000"/>
                </a:solidFill>
                <a:latin typeface="Nunito"/>
                <a:ea typeface="Nunito"/>
                <a:cs typeface="Nunito"/>
                <a:sym typeface="Nuni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TPA</a:t>
            </a:r>
            <a:r>
              <a:rPr lang="en-AU" dirty="0">
                <a:solidFill>
                  <a:schemeClr val="lt2"/>
                </a:solidFill>
                <a:latin typeface="Nunito"/>
                <a:ea typeface="Nunito"/>
                <a:cs typeface="Nunito"/>
                <a:sym typeface="Nuni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 is not covered in our workshop</a:t>
            </a:r>
            <a:r>
              <a:rPr lang="en-AU" dirty="0">
                <a:solidFill>
                  <a:schemeClr val="lt2"/>
                </a:solidFill>
                <a:latin typeface="Nunito"/>
                <a:ea typeface="Nunito"/>
                <a:cs typeface="Nunito"/>
                <a:sym typeface="Nunito"/>
              </a:rPr>
              <a:t>.</a:t>
            </a:r>
            <a:br>
              <a:rPr lang="en-AU" dirty="0">
                <a:solidFill>
                  <a:schemeClr val="lt2"/>
                </a:solidFill>
                <a:latin typeface="Nunito"/>
                <a:ea typeface="Nunito"/>
                <a:cs typeface="Nunito"/>
                <a:sym typeface="Nunito"/>
              </a:rPr>
            </a:br>
            <a:endParaRPr lang="en-AU" dirty="0">
              <a:solidFill>
                <a:schemeClr val="lt2"/>
              </a:solidFill>
              <a:latin typeface="Nunito"/>
              <a:ea typeface="Nunito"/>
              <a:cs typeface="Nunito"/>
              <a:sym typeface="Nunito"/>
            </a:endParaRPr>
          </a:p>
          <a:p>
            <a:pPr marL="457200" lvl="0" indent="-317500" algn="l" rtl="0">
              <a:spcBef>
                <a:spcPts val="0"/>
              </a:spcBef>
              <a:spcAft>
                <a:spcPts val="0"/>
              </a:spcAft>
              <a:buClr>
                <a:schemeClr val="lt2"/>
              </a:buClr>
              <a:buSzPts val="1400"/>
              <a:buFont typeface="Nunito"/>
              <a:buChar char="●"/>
            </a:pPr>
            <a:r>
              <a:rPr lang="en-AU" dirty="0">
                <a:solidFill>
                  <a:schemeClr val="lt2"/>
                </a:solidFill>
                <a:latin typeface="Nunito"/>
                <a:ea typeface="Nunito"/>
                <a:cs typeface="Nunito"/>
                <a:sym typeface="Nunito"/>
              </a:rPr>
              <a:t>Requires good understanding of network biology and pathway topology</a:t>
            </a:r>
          </a:p>
          <a:p>
            <a:pPr marL="457200" lvl="0" indent="-317500" algn="l" rtl="0">
              <a:spcBef>
                <a:spcPts val="0"/>
              </a:spcBef>
              <a:spcAft>
                <a:spcPts val="0"/>
              </a:spcAft>
              <a:buClr>
                <a:schemeClr val="lt2"/>
              </a:buClr>
              <a:buSzPts val="1400"/>
              <a:buFont typeface="Nunito"/>
              <a:buChar char="●"/>
            </a:pPr>
            <a:r>
              <a:rPr lang="en-AU" dirty="0">
                <a:solidFill>
                  <a:schemeClr val="lt2"/>
                </a:solidFill>
                <a:latin typeface="Nunito"/>
                <a:ea typeface="Nunito"/>
                <a:cs typeface="Nunito"/>
                <a:sym typeface="Nunito"/>
              </a:rPr>
              <a:t>Needs high-quality pathway topology information (detailed pathway data), which might not be always available for all organisms or conditions</a:t>
            </a:r>
          </a:p>
          <a:p>
            <a:pPr marL="457200" lvl="0" indent="-317500" algn="l" rtl="0">
              <a:spcBef>
                <a:spcPts val="0"/>
              </a:spcBef>
              <a:spcAft>
                <a:spcPts val="0"/>
              </a:spcAft>
              <a:buClr>
                <a:schemeClr val="lt2"/>
              </a:buClr>
              <a:buSzPts val="1400"/>
              <a:buFont typeface="Nunito"/>
              <a:buChar char="●"/>
            </a:pPr>
            <a:r>
              <a:rPr lang="en-AU" dirty="0">
                <a:solidFill>
                  <a:schemeClr val="lt2"/>
                </a:solidFill>
                <a:latin typeface="Nunito"/>
                <a:ea typeface="Nunito"/>
                <a:cs typeface="Nunito"/>
                <a:sym typeface="Nunito"/>
              </a:rPr>
              <a:t>ORA and GSEA have been mostly used by researchers</a:t>
            </a:r>
          </a:p>
          <a:p>
            <a:pPr marL="457200" lvl="0" indent="-317500" algn="l" rtl="0">
              <a:spcBef>
                <a:spcPts val="0"/>
              </a:spcBef>
              <a:spcAft>
                <a:spcPts val="0"/>
              </a:spcAft>
              <a:buClr>
                <a:schemeClr val="lt2"/>
              </a:buClr>
              <a:buSzPts val="1400"/>
              <a:buFont typeface="Nunito"/>
              <a:buChar char="●"/>
            </a:pPr>
            <a:endParaRPr lang="en-AU" dirty="0">
              <a:solidFill>
                <a:schemeClr val="lt2"/>
              </a:solidFill>
              <a:latin typeface="Nunito"/>
              <a:ea typeface="Nunito"/>
              <a:cs typeface="Nunito"/>
              <a:sym typeface="Nunito"/>
            </a:endParaRPr>
          </a:p>
          <a:p>
            <a:pPr marL="457200" lvl="0" indent="-317500" algn="l" rtl="0">
              <a:spcBef>
                <a:spcPts val="0"/>
              </a:spcBef>
              <a:spcAft>
                <a:spcPts val="0"/>
              </a:spcAft>
              <a:buClr>
                <a:schemeClr val="lt2"/>
              </a:buClr>
              <a:buSzPts val="1400"/>
              <a:buFont typeface="Nunito"/>
              <a:buChar char="●"/>
            </a:pPr>
            <a:endParaRPr lang="en-AU" dirty="0">
              <a:solidFill>
                <a:schemeClr val="lt2"/>
              </a:solidFill>
              <a:latin typeface="Nunito"/>
              <a:ea typeface="Nunito"/>
              <a:cs typeface="Nunito"/>
              <a:sym typeface="Nunito"/>
            </a:endParaRPr>
          </a:p>
          <a:p>
            <a:pPr marL="139700" lvl="0" indent="0" algn="l" rtl="0">
              <a:spcBef>
                <a:spcPts val="0"/>
              </a:spcBef>
              <a:spcAft>
                <a:spcPts val="0"/>
              </a:spcAft>
              <a:buClr>
                <a:schemeClr val="lt2"/>
              </a:buClr>
              <a:buSzPts val="1400"/>
              <a:buFont typeface="Nunito"/>
              <a:buNone/>
            </a:pPr>
            <a:r>
              <a:rPr lang="en-AU" dirty="0">
                <a:solidFill>
                  <a:schemeClr val="lt2"/>
                </a:solidFill>
                <a:latin typeface="Nunito"/>
                <a:ea typeface="Nunito"/>
                <a:cs typeface="Nunito"/>
                <a:sym typeface="Nunito"/>
              </a:rPr>
              <a:t>TPA </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a:extLst>
            <a:ext uri="{FF2B5EF4-FFF2-40B4-BE49-F238E27FC236}">
              <a16:creationId xmlns:a16="http://schemas.microsoft.com/office/drawing/2014/main" id="{CCC97DE1-6DEC-8AA6-4363-D490E048573F}"/>
            </a:ext>
          </a:extLst>
        </p:cNvPr>
        <p:cNvGrpSpPr/>
        <p:nvPr/>
      </p:nvGrpSpPr>
      <p:grpSpPr>
        <a:xfrm>
          <a:off x="0" y="0"/>
          <a:ext cx="0" cy="0"/>
          <a:chOff x="0" y="0"/>
          <a:chExt cx="0" cy="0"/>
        </a:xfrm>
      </p:grpSpPr>
      <p:sp>
        <p:nvSpPr>
          <p:cNvPr id="165" name="Google Shape;165;g30bad334051_3_111:notes">
            <a:extLst>
              <a:ext uri="{FF2B5EF4-FFF2-40B4-BE49-F238E27FC236}">
                <a16:creationId xmlns:a16="http://schemas.microsoft.com/office/drawing/2014/main" id="{37316677-EFA1-8B01-121A-D736FE137A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6" name="Google Shape;166;g30bad334051_3_111:notes">
            <a:extLst>
              <a:ext uri="{FF2B5EF4-FFF2-40B4-BE49-F238E27FC236}">
                <a16:creationId xmlns:a16="http://schemas.microsoft.com/office/drawing/2014/main" id="{C089F499-CC57-2212-5FC1-B628DCFC64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26155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fc52d580c8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74" name="Google Shape;174;g2fc52d580c8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fc52d580c8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80" name="Google Shape;180;g2fc52d580c8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0bad334051_3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2" name="Google Shape;192;g30bad334051_3_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AU" dirty="0"/>
              <a:t>Gene Ontology is a </a:t>
            </a:r>
            <a:r>
              <a:rPr lang="en-AU" b="1" dirty="0"/>
              <a:t>standardised system</a:t>
            </a:r>
            <a:r>
              <a:rPr lang="en-AU" dirty="0"/>
              <a:t> that describes what genes, and their products </a:t>
            </a:r>
            <a:r>
              <a:rPr lang="en-AU" b="1" dirty="0"/>
              <a:t>do</a:t>
            </a:r>
            <a:r>
              <a:rPr lang="en-AU" dirty="0"/>
              <a:t> in different organisms (Common language for gene function). GO is not pathway-based; it’s an ontology  — a structured vocabulary that describes concepts and relationships between them.</a:t>
            </a:r>
          </a:p>
          <a:p>
            <a:pPr marL="0" lvl="0" indent="0" algn="l" rtl="0">
              <a:lnSpc>
                <a:spcPct val="100000"/>
              </a:lnSpc>
              <a:spcBef>
                <a:spcPts val="0"/>
              </a:spcBef>
              <a:spcAft>
                <a:spcPts val="0"/>
              </a:spcAft>
              <a:buSzPts val="1100"/>
              <a:buNone/>
            </a:pPr>
            <a:r>
              <a:rPr lang="en-AU" dirty="0"/>
              <a:t>A </a:t>
            </a:r>
            <a:r>
              <a:rPr lang="en-AU" b="1" dirty="0"/>
              <a:t>pathway</a:t>
            </a:r>
            <a:r>
              <a:rPr lang="en-AU" dirty="0"/>
              <a:t> is a map of </a:t>
            </a:r>
            <a:r>
              <a:rPr lang="en-AU" b="1" dirty="0"/>
              <a:t>how molecules interact</a:t>
            </a:r>
            <a:r>
              <a:rPr lang="en-AU" dirty="0"/>
              <a:t> to carry out a biological process.</a:t>
            </a:r>
            <a:br>
              <a:rPr lang="en-AU" dirty="0"/>
            </a:br>
            <a:endParaRPr lang="en-AU"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The </a:t>
            </a:r>
            <a:r>
              <a:rPr lang="en-AU" b="1" dirty="0"/>
              <a:t>glycolysis pathway</a:t>
            </a:r>
            <a:r>
              <a:rPr lang="en-AU" dirty="0"/>
              <a:t> shows how glucose is broken down for energy,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A </a:t>
            </a:r>
            <a:r>
              <a:rPr lang="en-AU" b="1" dirty="0"/>
              <a:t>Gene Ontology (GO) term</a:t>
            </a:r>
            <a:r>
              <a:rPr lang="en-AU" dirty="0"/>
              <a:t> is a </a:t>
            </a:r>
            <a:r>
              <a:rPr lang="en-AU" b="1" dirty="0"/>
              <a:t>defined label that describes a specific biological concept.</a:t>
            </a:r>
            <a:endParaRPr lang="en-AU" dirty="0"/>
          </a:p>
          <a:p>
            <a:pPr marL="0" lvl="0" indent="0" algn="l" rtl="0">
              <a:lnSpc>
                <a:spcPct val="100000"/>
              </a:lnSpc>
              <a:spcBef>
                <a:spcPts val="0"/>
              </a:spcBef>
              <a:spcAft>
                <a:spcPts val="0"/>
              </a:spcAft>
              <a:buSzPts val="1100"/>
              <a:buNone/>
            </a:pPr>
            <a:endParaRPr lang="en-AU"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A </a:t>
            </a:r>
            <a:r>
              <a:rPr lang="en-AU" b="1" dirty="0"/>
              <a:t>pathway</a:t>
            </a:r>
            <a:r>
              <a:rPr lang="en-AU" dirty="0"/>
              <a:t> is a </a:t>
            </a:r>
            <a:r>
              <a:rPr lang="en-AU" b="1" dirty="0"/>
              <a:t>map</a:t>
            </a:r>
            <a:r>
              <a:rPr lang="en-AU" dirty="0"/>
              <a:t> that shows </a:t>
            </a:r>
            <a:r>
              <a:rPr lang="en-AU" i="1" dirty="0"/>
              <a:t>how multiple genes or proteins work together</a:t>
            </a:r>
            <a:r>
              <a:rPr lang="en-AU" dirty="0"/>
              <a:t> to make something happen.</a:t>
            </a:r>
            <a:endParaRPr lang="en-AU"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A </a:t>
            </a:r>
            <a:r>
              <a:rPr lang="en-AU" b="1" dirty="0"/>
              <a:t>GO term</a:t>
            </a:r>
            <a:r>
              <a:rPr lang="en-AU" dirty="0"/>
              <a:t> is like a </a:t>
            </a:r>
            <a:r>
              <a:rPr lang="en-AU" b="1" dirty="0"/>
              <a:t>tag</a:t>
            </a:r>
            <a:r>
              <a:rPr lang="en-AU" dirty="0"/>
              <a:t> or </a:t>
            </a:r>
            <a:r>
              <a:rPr lang="en-AU" b="1" dirty="0"/>
              <a:t>label</a:t>
            </a:r>
            <a:r>
              <a:rPr lang="en-AU" dirty="0"/>
              <a:t> that tells you </a:t>
            </a:r>
            <a:r>
              <a:rPr lang="en-AU" i="1" dirty="0"/>
              <a:t>what a gene does</a:t>
            </a:r>
            <a:r>
              <a:rPr lang="en-AU" dirty="0"/>
              <a:t> or </a:t>
            </a:r>
            <a:r>
              <a:rPr lang="en-AU" i="1" dirty="0"/>
              <a:t>where/how it works</a:t>
            </a:r>
            <a:r>
              <a:rPr lang="en-AU" dirty="0"/>
              <a:t>.</a:t>
            </a:r>
          </a:p>
          <a:p>
            <a:pPr marL="0" lvl="0" indent="0" algn="l" rtl="0">
              <a:lnSpc>
                <a:spcPct val="100000"/>
              </a:lnSpc>
              <a:spcBef>
                <a:spcPts val="0"/>
              </a:spcBef>
              <a:spcAft>
                <a:spcPts val="0"/>
              </a:spcAft>
              <a:buSzPts val="1100"/>
              <a:buNone/>
            </a:pPr>
            <a:endParaRPr lang="en-AU" b="1" dirty="0"/>
          </a:p>
          <a:p>
            <a:pPr marL="0" lvl="0" indent="0" algn="l" rtl="0">
              <a:lnSpc>
                <a:spcPct val="100000"/>
              </a:lnSpc>
              <a:spcBef>
                <a:spcPts val="0"/>
              </a:spcBef>
              <a:spcAft>
                <a:spcPts val="0"/>
              </a:spcAft>
              <a:buSzPts val="1100"/>
              <a:buNone/>
            </a:pPr>
            <a:endParaRPr lang="en-AU" b="1" dirty="0"/>
          </a:p>
          <a:p>
            <a:pPr marL="0" lvl="0" indent="0" algn="l" rtl="0">
              <a:lnSpc>
                <a:spcPct val="100000"/>
              </a:lnSpc>
              <a:spcBef>
                <a:spcPts val="0"/>
              </a:spcBef>
              <a:spcAft>
                <a:spcPts val="0"/>
              </a:spcAft>
              <a:buSzPts val="1100"/>
              <a:buNone/>
            </a:pPr>
            <a:endParaRPr lang="en-AU" b="1" dirty="0"/>
          </a:p>
          <a:p>
            <a:pPr marL="0" lvl="0" indent="0" algn="l" rtl="0">
              <a:lnSpc>
                <a:spcPct val="100000"/>
              </a:lnSpc>
              <a:spcBef>
                <a:spcPts val="0"/>
              </a:spcBef>
              <a:spcAft>
                <a:spcPts val="0"/>
              </a:spcAft>
              <a:buSzPts val="1100"/>
              <a:buNone/>
            </a:pPr>
            <a:r>
              <a:rPr lang="en-AU" b="1" dirty="0"/>
              <a:t>KEGG</a:t>
            </a:r>
            <a:r>
              <a:rPr lang="en-AU" dirty="0"/>
              <a:t>: Professionally curated</a:t>
            </a:r>
            <a:br>
              <a:rPr lang="en-AU" dirty="0"/>
            </a:br>
            <a:r>
              <a:rPr lang="en-AU" b="1" dirty="0" err="1"/>
              <a:t>Reactome</a:t>
            </a:r>
            <a:r>
              <a:rPr lang="en-AU" dirty="0"/>
              <a:t>: Expert curated (Human-specific mainly)</a:t>
            </a:r>
            <a:br>
              <a:rPr lang="en-AU" dirty="0"/>
            </a:br>
            <a:r>
              <a:rPr lang="en-AU" b="1" dirty="0" err="1"/>
              <a:t>Wikipathway</a:t>
            </a:r>
            <a:r>
              <a:rPr lang="en-AU" dirty="0"/>
              <a:t>: Community-curated resource</a:t>
            </a:r>
          </a:p>
          <a:p>
            <a:pPr marL="0" lvl="0" indent="0" algn="l" rtl="0">
              <a:lnSpc>
                <a:spcPct val="100000"/>
              </a:lnSpc>
              <a:spcBef>
                <a:spcPts val="0"/>
              </a:spcBef>
              <a:spcAft>
                <a:spcPts val="0"/>
              </a:spcAft>
              <a:buSzPts val="1100"/>
              <a:buNone/>
            </a:pPr>
            <a:endParaRPr lang="en-AU"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b="1" dirty="0"/>
              <a:t>KEGG</a:t>
            </a:r>
            <a:r>
              <a:rPr lang="en-AU" dirty="0"/>
              <a:t>: Broad focus (metabolism, genetic info, diseases, drugs)</a:t>
            </a:r>
            <a:br>
              <a:rPr lang="en-AU" dirty="0"/>
            </a:br>
            <a:r>
              <a:rPr lang="en-AU" b="1" dirty="0" err="1"/>
              <a:t>Reactome</a:t>
            </a:r>
            <a:r>
              <a:rPr lang="en-AU" dirty="0"/>
              <a:t>: Detailed molecular reactions </a:t>
            </a:r>
            <a:br>
              <a:rPr lang="en-AU" dirty="0"/>
            </a:br>
            <a:r>
              <a:rPr lang="en-AU" b="1" dirty="0" err="1"/>
              <a:t>Wikipathway</a:t>
            </a:r>
            <a:r>
              <a:rPr lang="en-AU" dirty="0"/>
              <a:t>: Broad (editable)</a:t>
            </a:r>
          </a:p>
          <a:p>
            <a:pPr marL="0" lvl="0" indent="0" algn="l" rtl="0">
              <a:lnSpc>
                <a:spcPct val="100000"/>
              </a:lnSpc>
              <a:spcBef>
                <a:spcPts val="0"/>
              </a:spcBef>
              <a:spcAft>
                <a:spcPts val="0"/>
              </a:spcAft>
              <a:buSzPts val="1100"/>
              <a:buNone/>
            </a:pPr>
            <a:endParaRPr lang="en-AU"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b="1" dirty="0"/>
              <a:t>KEGG</a:t>
            </a:r>
            <a:r>
              <a:rPr lang="en-AU" dirty="0"/>
              <a:t>: pathway maps</a:t>
            </a:r>
            <a:br>
              <a:rPr lang="en-AU" dirty="0"/>
            </a:br>
            <a:r>
              <a:rPr lang="en-AU" b="1" dirty="0" err="1"/>
              <a:t>Reactome</a:t>
            </a:r>
            <a:r>
              <a:rPr lang="en-AU" dirty="0"/>
              <a:t>: reaction network</a:t>
            </a:r>
            <a:br>
              <a:rPr lang="en-AU" dirty="0"/>
            </a:br>
            <a:r>
              <a:rPr lang="en-AU" b="1" dirty="0" err="1"/>
              <a:t>Wikipathway</a:t>
            </a:r>
            <a:r>
              <a:rPr lang="en-AU" dirty="0"/>
              <a:t>: pathway diagram</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0bad334051_3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15" name="Google Shape;215;g30bad334051_3_1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AU" sz="1100" b="0" i="0" u="none" strike="noStrike" cap="none" dirty="0">
                <a:solidFill>
                  <a:srgbClr val="000000"/>
                </a:solidFill>
                <a:effectLst/>
                <a:latin typeface="Arial"/>
                <a:ea typeface="Arial"/>
                <a:cs typeface="Arial"/>
                <a:sym typeface="Arial"/>
              </a:rPr>
              <a:t>The Gene Ontology (GO) provides a framework and set of concepts for describing the functions of gene products from all organisms</a:t>
            </a:r>
            <a:br>
              <a:rPr lang="en-AU" dirty="0"/>
            </a:br>
            <a:endParaRPr lang="en-AU" dirty="0"/>
          </a:p>
          <a:p>
            <a:pPr marL="0" lvl="0" indent="0" algn="l" rtl="0">
              <a:lnSpc>
                <a:spcPct val="100000"/>
              </a:lnSpc>
              <a:spcBef>
                <a:spcPts val="0"/>
              </a:spcBef>
              <a:spcAft>
                <a:spcPts val="0"/>
              </a:spcAft>
              <a:buSzPts val="1100"/>
              <a:buNone/>
            </a:pPr>
            <a:r>
              <a:rPr lang="en-AU" dirty="0"/>
              <a:t>Integrate data about gene products across species</a:t>
            </a:r>
          </a:p>
          <a:p>
            <a:pPr marL="0" lvl="0" indent="0" algn="l" rtl="0">
              <a:lnSpc>
                <a:spcPct val="100000"/>
              </a:lnSpc>
              <a:spcBef>
                <a:spcPts val="0"/>
              </a:spcBef>
              <a:spcAft>
                <a:spcPts val="0"/>
              </a:spcAft>
              <a:buSzPts val="1100"/>
              <a:buNone/>
            </a:pPr>
            <a:endParaRPr lang="en-AU" dirty="0"/>
          </a:p>
          <a:p>
            <a:pPr marL="0" lvl="0" indent="0" algn="l" rtl="0">
              <a:lnSpc>
                <a:spcPct val="100000"/>
              </a:lnSpc>
              <a:spcBef>
                <a:spcPts val="0"/>
              </a:spcBef>
              <a:spcAft>
                <a:spcPts val="0"/>
              </a:spcAft>
              <a:buSzPts val="1100"/>
              <a:buNone/>
            </a:pPr>
            <a:r>
              <a:rPr lang="en-AU" dirty="0"/>
              <a:t>Two parts: </a:t>
            </a:r>
          </a:p>
          <a:p>
            <a:pPr marL="0" lvl="0" indent="0" algn="l" rtl="0">
              <a:lnSpc>
                <a:spcPct val="100000"/>
              </a:lnSpc>
              <a:spcBef>
                <a:spcPts val="0"/>
              </a:spcBef>
              <a:spcAft>
                <a:spcPts val="0"/>
              </a:spcAft>
              <a:buSzPts val="1100"/>
              <a:buNone/>
            </a:pPr>
            <a:r>
              <a:rPr lang="en-AU" dirty="0"/>
              <a:t>	ontology (dictionary of terms) </a:t>
            </a:r>
          </a:p>
          <a:p>
            <a:pPr marL="0" lvl="0" indent="0" algn="l" rtl="0">
              <a:lnSpc>
                <a:spcPct val="100000"/>
              </a:lnSpc>
              <a:spcBef>
                <a:spcPts val="0"/>
              </a:spcBef>
              <a:spcAft>
                <a:spcPts val="0"/>
              </a:spcAft>
              <a:buSzPts val="1100"/>
              <a:buNone/>
            </a:pPr>
            <a:r>
              <a:rPr lang="en-AU" dirty="0"/>
              <a:t>	annotations (association of a gene product to an ontology term)</a:t>
            </a:r>
          </a:p>
          <a:p>
            <a:pPr marL="0" lvl="0" indent="0" algn="l" rtl="0">
              <a:lnSpc>
                <a:spcPct val="100000"/>
              </a:lnSpc>
              <a:spcBef>
                <a:spcPts val="0"/>
              </a:spcBef>
              <a:spcAft>
                <a:spcPts val="0"/>
              </a:spcAft>
              <a:buSzPts val="1100"/>
              <a:buNone/>
            </a:pPr>
            <a:endParaRPr lang="en-AU" dirty="0"/>
          </a:p>
          <a:p>
            <a:pPr marL="0" lvl="0" indent="0" algn="l" rtl="0">
              <a:lnSpc>
                <a:spcPct val="100000"/>
              </a:lnSpc>
              <a:spcBef>
                <a:spcPts val="0"/>
              </a:spcBef>
              <a:spcAft>
                <a:spcPts val="0"/>
              </a:spcAft>
              <a:buSzPts val="1100"/>
              <a:buNone/>
            </a:pPr>
            <a:r>
              <a:rPr lang="en-AU" dirty="0"/>
              <a:t>Literature curation</a:t>
            </a:r>
          </a:p>
          <a:p>
            <a:pPr marL="0" lvl="0" indent="0" algn="l" rtl="0">
              <a:lnSpc>
                <a:spcPct val="100000"/>
              </a:lnSpc>
              <a:spcBef>
                <a:spcPts val="0"/>
              </a:spcBef>
              <a:spcAft>
                <a:spcPts val="0"/>
              </a:spcAft>
              <a:buSzPts val="1100"/>
              <a:buNone/>
            </a:pPr>
            <a:r>
              <a:rPr lang="en-AU" dirty="0"/>
              <a:t>Sequence analysis, infer information from unpublished genes  </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0bad334051_3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22" name="Google Shape;222;g30bad334051_3_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AU" dirty="0"/>
              <a:t>The </a:t>
            </a:r>
            <a:r>
              <a:rPr lang="en-AU" b="1" dirty="0"/>
              <a:t>Gene Ontology (GO)</a:t>
            </a:r>
            <a:r>
              <a:rPr lang="en-AU" dirty="0"/>
              <a:t> is a </a:t>
            </a:r>
            <a:r>
              <a:rPr lang="en-AU" b="1" dirty="0"/>
              <a:t>structured, controlled vocabulary</a:t>
            </a:r>
            <a:r>
              <a:rPr lang="en-AU" dirty="0"/>
              <a:t> that describes the </a:t>
            </a:r>
            <a:r>
              <a:rPr lang="en-AU" b="1" dirty="0"/>
              <a:t>functions of genes and gene products</a:t>
            </a:r>
            <a:r>
              <a:rPr lang="en-AU" dirty="0"/>
              <a:t> across all species in a </a:t>
            </a:r>
            <a:r>
              <a:rPr lang="en-AU" b="1" dirty="0"/>
              <a:t>consistent, </a:t>
            </a:r>
            <a:r>
              <a:rPr lang="en-AU" b="1"/>
              <a:t>hierarchical way</a:t>
            </a:r>
            <a:endParaRPr lang="en-AU" dirty="0"/>
          </a:p>
          <a:p>
            <a:pPr marL="0" lvl="0" indent="0" algn="l" rtl="0">
              <a:lnSpc>
                <a:spcPct val="100000"/>
              </a:lnSpc>
              <a:spcBef>
                <a:spcPts val="0"/>
              </a:spcBef>
              <a:spcAft>
                <a:spcPts val="0"/>
              </a:spcAft>
              <a:buSzPts val="1100"/>
              <a:buNone/>
            </a:pPr>
            <a:endParaRPr lang="en-AU" dirty="0"/>
          </a:p>
          <a:p>
            <a:pPr marL="0" lvl="0" indent="0" algn="l" rtl="0">
              <a:lnSpc>
                <a:spcPct val="100000"/>
              </a:lnSpc>
              <a:spcBef>
                <a:spcPts val="0"/>
              </a:spcBef>
              <a:spcAft>
                <a:spcPts val="0"/>
              </a:spcAft>
              <a:buSzPts val="1100"/>
              <a:buNone/>
            </a:pPr>
            <a:r>
              <a:rPr lang="en-AU" dirty="0"/>
              <a:t>Directed Acyclic Graph (DAG)</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0bad334051_3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30bad334051_3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64c78d625d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53" name="Google Shape;253;g64c78d625d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CD62922F-3243-F0C3-DF47-100DF7362468}"/>
            </a:ext>
          </a:extLst>
        </p:cNvPr>
        <p:cNvGrpSpPr/>
        <p:nvPr/>
      </p:nvGrpSpPr>
      <p:grpSpPr>
        <a:xfrm>
          <a:off x="0" y="0"/>
          <a:ext cx="0" cy="0"/>
          <a:chOff x="0" y="0"/>
          <a:chExt cx="0" cy="0"/>
        </a:xfrm>
      </p:grpSpPr>
      <p:sp>
        <p:nvSpPr>
          <p:cNvPr id="191" name="Google Shape;191;g30bad334051_3_121:notes">
            <a:extLst>
              <a:ext uri="{FF2B5EF4-FFF2-40B4-BE49-F238E27FC236}">
                <a16:creationId xmlns:a16="http://schemas.microsoft.com/office/drawing/2014/main" id="{AD75E09E-80BF-106F-C282-A294619EA9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2" name="Google Shape;192;g30bad334051_3_121:notes">
            <a:extLst>
              <a:ext uri="{FF2B5EF4-FFF2-40B4-BE49-F238E27FC236}">
                <a16:creationId xmlns:a16="http://schemas.microsoft.com/office/drawing/2014/main" id="{CA8D4609-CCB9-058E-FDD6-7B7C7A14ED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AU" sz="1100" b="1" i="0" u="none" strike="noStrike" cap="none" dirty="0">
              <a:solidFill>
                <a:srgbClr val="000000"/>
              </a:solidFill>
              <a:latin typeface="Nunito" pitchFamily="2" charset="77"/>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sz="1100" b="1" i="0" u="none" strike="noStrike" cap="none" dirty="0">
                <a:solidFill>
                  <a:srgbClr val="000000"/>
                </a:solidFill>
                <a:latin typeface="Nunito" pitchFamily="2" charset="77"/>
                <a:cs typeface="Arial"/>
                <a:sym typeface="Arial"/>
              </a:rPr>
              <a:t>Gene Ontology (GO)-Based Databases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b="1" dirty="0">
                <a:latin typeface="Nunito" pitchFamily="2" charset="77"/>
              </a:rPr>
              <a:t>Pathway Databases</a:t>
            </a:r>
            <a:endParaRPr lang="en-AU" sz="1100" b="1" i="0" u="none" strike="noStrike" cap="none" dirty="0">
              <a:solidFill>
                <a:srgbClr val="000000"/>
              </a:solidFill>
              <a:latin typeface="Nunito" pitchFamily="2" charset="77"/>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sz="1100" b="1" i="0" u="none" strike="noStrike" cap="none" dirty="0">
                <a:solidFill>
                  <a:srgbClr val="000000"/>
                </a:solidFill>
                <a:latin typeface="Nunito" pitchFamily="2" charset="77"/>
                <a:cs typeface="Arial"/>
                <a:sym typeface="Arial"/>
              </a:rPr>
              <a:t>Functional Category / Protein Family Databases</a:t>
            </a:r>
            <a:r>
              <a:rPr lang="en-AU" sz="1100" b="0" i="0" u="none" strike="noStrike" cap="none" dirty="0">
                <a:solidFill>
                  <a:srgbClr val="000000"/>
                </a:solidFill>
                <a:latin typeface="Nunito" pitchFamily="2" charset="77"/>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sz="1100" b="0" i="0" u="none" strike="noStrike" cap="none" dirty="0">
                <a:solidFill>
                  <a:srgbClr val="000000"/>
                </a:solidFill>
                <a:latin typeface="Nunito" pitchFamily="2" charset="77"/>
                <a:cs typeface="Arial"/>
                <a:sym typeface="Arial"/>
              </a:rPr>
              <a:t>	</a:t>
            </a:r>
            <a:r>
              <a:rPr lang="en-AU" sz="1100" b="0" i="0" u="none" strike="noStrike" cap="none" dirty="0" err="1">
                <a:solidFill>
                  <a:srgbClr val="000000"/>
                </a:solidFill>
                <a:latin typeface="Nunito" pitchFamily="2" charset="77"/>
                <a:cs typeface="Arial"/>
                <a:sym typeface="Arial"/>
              </a:rPr>
              <a:t>InterPro</a:t>
            </a:r>
            <a:r>
              <a:rPr lang="en-AU" sz="1100" b="0" i="0" u="none" strike="noStrike" cap="none" dirty="0">
                <a:solidFill>
                  <a:srgbClr val="000000"/>
                </a:solidFill>
                <a:latin typeface="Nunito" pitchFamily="2" charset="77"/>
                <a:cs typeface="Arial"/>
                <a:sym typeface="Arial"/>
              </a:rPr>
              <a:t>: The focus is </a:t>
            </a:r>
            <a:r>
              <a:rPr lang="en-AU" b="0" dirty="0"/>
              <a:t>Protein </a:t>
            </a:r>
            <a:r>
              <a:rPr lang="en-AU" dirty="0"/>
              <a:t>families, domains, and functional sites (binding sites/ active sites)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	</a:t>
            </a:r>
            <a:r>
              <a:rPr lang="en-AU" dirty="0" err="1"/>
              <a:t>BioGrid</a:t>
            </a:r>
            <a:r>
              <a:rPr lang="en-AU" dirty="0"/>
              <a:t>: The focus is protein and genetic interactions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	</a:t>
            </a:r>
            <a:r>
              <a:rPr lang="en-AU" dirty="0" err="1"/>
              <a:t>pfam</a:t>
            </a:r>
            <a:r>
              <a:rPr lang="en-AU" dirty="0"/>
              <a:t>: protein domains and families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AU"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	protein family is a group of proteins that are </a:t>
            </a:r>
            <a:r>
              <a:rPr lang="en-AU" b="1" dirty="0"/>
              <a:t>evolutionarily related</a:t>
            </a:r>
            <a:r>
              <a:rPr lang="en-AU" dirty="0"/>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t>	protein domain is a </a:t>
            </a:r>
            <a:r>
              <a:rPr lang="en-AU" b="1" dirty="0"/>
              <a:t>distinct structural and functional unit</a:t>
            </a:r>
            <a:r>
              <a:rPr lang="en-AU" dirty="0"/>
              <a:t> within a protein.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AU" sz="1100" b="1" i="0" u="none" strike="noStrike" cap="none" dirty="0">
              <a:solidFill>
                <a:srgbClr val="000000"/>
              </a:solidFill>
              <a:latin typeface="Nunito" pitchFamily="2" charset="77"/>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sz="1100" b="1" i="0" u="none" strike="noStrike" cap="none" dirty="0">
                <a:solidFill>
                  <a:srgbClr val="000000"/>
                </a:solidFill>
                <a:latin typeface="Nunito" pitchFamily="2" charset="77"/>
                <a:cs typeface="Arial"/>
                <a:sym typeface="Arial"/>
              </a:rPr>
              <a:t>Integrated database's</a:t>
            </a:r>
          </a:p>
          <a:p>
            <a:pPr marL="0" lvl="0" indent="0" algn="l" rtl="0">
              <a:lnSpc>
                <a:spcPct val="100000"/>
              </a:lnSpc>
              <a:spcBef>
                <a:spcPts val="0"/>
              </a:spcBef>
              <a:spcAft>
                <a:spcPts val="0"/>
              </a:spcAft>
              <a:buSzPts val="1100"/>
              <a:buNone/>
            </a:pPr>
            <a:r>
              <a:rPr lang="en-AU" sz="1100" b="1" i="0" u="none" strike="noStrike" cap="none" dirty="0">
                <a:solidFill>
                  <a:srgbClr val="000000"/>
                </a:solidFill>
                <a:latin typeface="Arial"/>
                <a:cs typeface="Arial"/>
                <a:sym typeface="Arial"/>
              </a:rPr>
              <a:t>Metabolomics/Lipidomics</a:t>
            </a:r>
          </a:p>
          <a:p>
            <a:pPr marL="0" lvl="0" indent="0" algn="l" rtl="0">
              <a:lnSpc>
                <a:spcPct val="100000"/>
              </a:lnSpc>
              <a:spcBef>
                <a:spcPts val="0"/>
              </a:spcBef>
              <a:spcAft>
                <a:spcPts val="0"/>
              </a:spcAft>
              <a:buSzPts val="1100"/>
              <a:buNone/>
            </a:pPr>
            <a:br>
              <a:rPr lang="en-AU" sz="1100" b="1" i="0" u="none" strike="noStrike" cap="none" dirty="0">
                <a:solidFill>
                  <a:srgbClr val="000000"/>
                </a:solidFill>
                <a:latin typeface="Arial"/>
                <a:cs typeface="Arial"/>
                <a:sym typeface="Arial"/>
              </a:rPr>
            </a:br>
            <a:r>
              <a:rPr lang="en-AU" sz="1100" b="1" i="0" u="none" strike="noStrike" cap="none" dirty="0">
                <a:solidFill>
                  <a:srgbClr val="000000"/>
                </a:solidFill>
                <a:effectLst/>
                <a:latin typeface="Arial"/>
                <a:ea typeface="Arial"/>
                <a:cs typeface="Arial"/>
                <a:sym typeface="Arial"/>
              </a:rPr>
              <a:t>SMPDB</a:t>
            </a:r>
            <a:r>
              <a:rPr lang="en-AU" sz="1100" b="0" i="0" u="none" strike="noStrike" cap="none" dirty="0">
                <a:solidFill>
                  <a:srgbClr val="000000"/>
                </a:solidFill>
                <a:latin typeface="Arial"/>
                <a:cs typeface="Arial"/>
                <a:sym typeface="Arial"/>
              </a:rPr>
              <a:t>: </a:t>
            </a:r>
            <a:r>
              <a:rPr lang="en-AU" sz="1100" b="0" i="0" u="none" strike="noStrike" cap="none" dirty="0">
                <a:solidFill>
                  <a:srgbClr val="000000"/>
                </a:solidFill>
                <a:latin typeface="Nunito" pitchFamily="2" charset="77"/>
                <a:cs typeface="Arial"/>
                <a:sym typeface="Arial"/>
              </a:rPr>
              <a:t>The Small Molecule Pathway Database</a:t>
            </a:r>
          </a:p>
          <a:p>
            <a:pPr marL="0" lvl="0" indent="0" algn="l" rtl="0">
              <a:lnSpc>
                <a:spcPct val="100000"/>
              </a:lnSpc>
              <a:spcBef>
                <a:spcPts val="0"/>
              </a:spcBef>
              <a:spcAft>
                <a:spcPts val="0"/>
              </a:spcAft>
              <a:buSzPts val="1100"/>
              <a:buNone/>
            </a:pPr>
            <a:endParaRPr lang="en-AU" sz="1100" b="0" i="0" u="none" strike="noStrike" cap="none" dirty="0">
              <a:solidFill>
                <a:srgbClr val="000000"/>
              </a:solidFill>
              <a:latin typeface="Nunito" pitchFamily="2" charset="77"/>
              <a:cs typeface="Arial"/>
              <a:sym typeface="Arial"/>
            </a:endParaRPr>
          </a:p>
          <a:p>
            <a:pPr marL="0" lvl="0" indent="0" algn="l" rtl="0">
              <a:lnSpc>
                <a:spcPct val="100000"/>
              </a:lnSpc>
              <a:spcBef>
                <a:spcPts val="0"/>
              </a:spcBef>
              <a:spcAft>
                <a:spcPts val="0"/>
              </a:spcAft>
              <a:buSzPts val="1100"/>
              <a:buNone/>
            </a:pPr>
            <a:r>
              <a:rPr lang="en-AU" sz="1100" b="1" i="0" u="none" strike="noStrike" cap="none" dirty="0" err="1">
                <a:solidFill>
                  <a:srgbClr val="000000"/>
                </a:solidFill>
                <a:latin typeface="Nunito" pitchFamily="2" charset="77"/>
                <a:cs typeface="Arial"/>
                <a:sym typeface="Arial"/>
              </a:rPr>
              <a:t>BioCyc</a:t>
            </a:r>
            <a:r>
              <a:rPr lang="en-AU" sz="1100" b="0" i="0" u="none" strike="noStrike" cap="none" dirty="0">
                <a:solidFill>
                  <a:srgbClr val="000000"/>
                </a:solidFill>
                <a:latin typeface="Nunito" pitchFamily="2" charset="77"/>
                <a:cs typeface="Arial"/>
                <a:sym typeface="Arial"/>
              </a:rPr>
              <a:t>: Provides detailed </a:t>
            </a:r>
            <a:r>
              <a:rPr lang="en-AU" dirty="0"/>
              <a:t>information on the genomes, metabolic pathways, enzymes, reactions, and regulatory networks of thousands of organisms.</a:t>
            </a:r>
            <a:endParaRPr sz="1100" b="0" i="0" u="none" strike="noStrike" cap="none" dirty="0">
              <a:solidFill>
                <a:srgbClr val="000000"/>
              </a:solidFill>
              <a:latin typeface="Nunito" pitchFamily="2" charset="77"/>
              <a:cs typeface="Arial"/>
              <a:sym typeface="Arial"/>
            </a:endParaRPr>
          </a:p>
        </p:txBody>
      </p:sp>
    </p:spTree>
    <p:extLst>
      <p:ext uri="{BB962C8B-B14F-4D97-AF65-F5344CB8AC3E}">
        <p14:creationId xmlns:p14="http://schemas.microsoft.com/office/powerpoint/2010/main" val="1537653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F66814E9-857D-B209-4403-25DD8D49EE5D}"/>
            </a:ext>
          </a:extLst>
        </p:cNvPr>
        <p:cNvGrpSpPr/>
        <p:nvPr/>
      </p:nvGrpSpPr>
      <p:grpSpPr>
        <a:xfrm>
          <a:off x="0" y="0"/>
          <a:ext cx="0" cy="0"/>
          <a:chOff x="0" y="0"/>
          <a:chExt cx="0" cy="0"/>
        </a:xfrm>
      </p:grpSpPr>
      <p:sp>
        <p:nvSpPr>
          <p:cNvPr id="450" name="Google Shape;450;g30babdeb835_0_433:notes">
            <a:extLst>
              <a:ext uri="{FF2B5EF4-FFF2-40B4-BE49-F238E27FC236}">
                <a16:creationId xmlns:a16="http://schemas.microsoft.com/office/drawing/2014/main" id="{479BC7B3-2076-CFAA-221E-413F023713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1" name="Google Shape;451;g30babdeb835_0_433:notes">
            <a:extLst>
              <a:ext uri="{FF2B5EF4-FFF2-40B4-BE49-F238E27FC236}">
                <a16:creationId xmlns:a16="http://schemas.microsoft.com/office/drawing/2014/main" id="{9AE06D6B-8B6F-8566-0B8F-3B26545251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7891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831631DB-3EF1-0D14-8764-9C5E51BBC3F1}"/>
            </a:ext>
          </a:extLst>
        </p:cNvPr>
        <p:cNvGrpSpPr/>
        <p:nvPr/>
      </p:nvGrpSpPr>
      <p:grpSpPr>
        <a:xfrm>
          <a:off x="0" y="0"/>
          <a:ext cx="0" cy="0"/>
          <a:chOff x="0" y="0"/>
          <a:chExt cx="0" cy="0"/>
        </a:xfrm>
      </p:grpSpPr>
      <p:sp>
        <p:nvSpPr>
          <p:cNvPr id="450" name="Google Shape;450;g30babdeb835_0_433:notes">
            <a:extLst>
              <a:ext uri="{FF2B5EF4-FFF2-40B4-BE49-F238E27FC236}">
                <a16:creationId xmlns:a16="http://schemas.microsoft.com/office/drawing/2014/main" id="{B64EF94C-4E65-9DEB-13B4-C76C44A88F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1" name="Google Shape;451;g30babdeb835_0_433:notes">
            <a:extLst>
              <a:ext uri="{FF2B5EF4-FFF2-40B4-BE49-F238E27FC236}">
                <a16:creationId xmlns:a16="http://schemas.microsoft.com/office/drawing/2014/main" id="{9B817FA5-6493-166E-8E7A-77B8586684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AU" sz="1100" b="0" i="0" u="none" strike="noStrike" cap="none" dirty="0">
                <a:solidFill>
                  <a:srgbClr val="000000"/>
                </a:solidFill>
                <a:effectLst/>
                <a:latin typeface="Arial"/>
                <a:ea typeface="Arial"/>
                <a:cs typeface="Arial"/>
                <a:sym typeface="Arial"/>
              </a:rPr>
              <a:t>For example, enrichment analysis was performed to examine whether genes associated with specialized metabolism were associated with specific epigenetic modification patterns relative to other types of metabolic genes. </a:t>
            </a:r>
          </a:p>
          <a:p>
            <a:pPr marL="158750" indent="0">
              <a:buNone/>
            </a:pP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0" i="0" u="none" strike="noStrike" cap="none" dirty="0">
                <a:solidFill>
                  <a:srgbClr val="000000"/>
                </a:solidFill>
                <a:effectLst/>
                <a:latin typeface="Arial"/>
                <a:ea typeface="Arial"/>
                <a:cs typeface="Arial"/>
                <a:sym typeface="Arial"/>
              </a:rPr>
              <a:t>In this analysis, total metabolic genes were chosen as the background set instead of total genes detected in epigenomic profiling.</a:t>
            </a:r>
          </a:p>
          <a:p>
            <a:pPr marL="0" lvl="0" indent="0" algn="l" rtl="0">
              <a:spcBef>
                <a:spcPts val="0"/>
              </a:spcBef>
              <a:spcAft>
                <a:spcPts val="0"/>
              </a:spcAft>
              <a:buNone/>
            </a:pPr>
            <a:endParaRPr lang="en-AU" dirty="0"/>
          </a:p>
          <a:p>
            <a:pPr marL="0" lvl="0" indent="0" algn="l" rtl="0">
              <a:spcBef>
                <a:spcPts val="0"/>
              </a:spcBef>
              <a:spcAft>
                <a:spcPts val="0"/>
              </a:spcAft>
              <a:buNone/>
            </a:pPr>
            <a:endParaRPr lang="en-AU" dirty="0"/>
          </a:p>
          <a:p>
            <a:r>
              <a:rPr lang="en-AU" sz="1100" b="0" i="0" u="none" strike="noStrike" cap="none" dirty="0">
                <a:solidFill>
                  <a:srgbClr val="000000"/>
                </a:solidFill>
                <a:effectLst/>
                <a:latin typeface="Arial"/>
                <a:ea typeface="Arial"/>
                <a:cs typeface="Arial"/>
                <a:sym typeface="Arial"/>
              </a:rPr>
              <a:t>Zhao, K. et al. (2021) A novel bivalent chromatin associates with rapid induction of camalexin biosynthesis genes in response to a pathogen signal in Arabidopsis. </a:t>
            </a:r>
            <a:r>
              <a:rPr lang="en-AU" sz="1100" b="0" i="0" u="none" strike="noStrike" cap="none" dirty="0" err="1">
                <a:solidFill>
                  <a:srgbClr val="000000"/>
                </a:solidFill>
                <a:effectLst/>
                <a:latin typeface="Arial"/>
                <a:ea typeface="Arial"/>
                <a:cs typeface="Arial"/>
                <a:sym typeface="Arial"/>
              </a:rPr>
              <a:t>eLife</a:t>
            </a:r>
            <a:r>
              <a:rPr lang="en-AU" sz="1100" b="0" i="0" u="none" strike="noStrike" cap="none" dirty="0">
                <a:solidFill>
                  <a:srgbClr val="000000"/>
                </a:solidFill>
                <a:effectLst/>
                <a:latin typeface="Arial"/>
                <a:ea typeface="Arial"/>
                <a:cs typeface="Arial"/>
                <a:sym typeface="Arial"/>
              </a:rPr>
              <a:t> 10, e69508</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17772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D8208E3A-F7D3-5AC0-F35C-9A41CE943B64}"/>
            </a:ext>
          </a:extLst>
        </p:cNvPr>
        <p:cNvGrpSpPr/>
        <p:nvPr/>
      </p:nvGrpSpPr>
      <p:grpSpPr>
        <a:xfrm>
          <a:off x="0" y="0"/>
          <a:ext cx="0" cy="0"/>
          <a:chOff x="0" y="0"/>
          <a:chExt cx="0" cy="0"/>
        </a:xfrm>
      </p:grpSpPr>
      <p:sp>
        <p:nvSpPr>
          <p:cNvPr id="450" name="Google Shape;450;g30babdeb835_0_433:notes">
            <a:extLst>
              <a:ext uri="{FF2B5EF4-FFF2-40B4-BE49-F238E27FC236}">
                <a16:creationId xmlns:a16="http://schemas.microsoft.com/office/drawing/2014/main" id="{B5861EF0-49DC-0683-5838-CBC94963F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1" name="Google Shape;451;g30babdeb835_0_433:notes">
            <a:extLst>
              <a:ext uri="{FF2B5EF4-FFF2-40B4-BE49-F238E27FC236}">
                <a16:creationId xmlns:a16="http://schemas.microsoft.com/office/drawing/2014/main" id="{B0E8FB39-FFD9-05DC-195C-7307A440E0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AU" sz="1100" dirty="0">
                <a:latin typeface="Nunito" pitchFamily="2" charset="77"/>
              </a:rPr>
              <a:t>KEGG pathways: large (many biological processes merged)</a:t>
            </a:r>
          </a:p>
          <a:p>
            <a:pPr marL="285750" indent="-285750">
              <a:buFont typeface="Arial" panose="020B0604020202020204" pitchFamily="34" charset="0"/>
              <a:buChar char="•"/>
            </a:pPr>
            <a:r>
              <a:rPr lang="en-AU" sz="1100" dirty="0" err="1">
                <a:latin typeface="Nunito" pitchFamily="2" charset="77"/>
              </a:rPr>
              <a:t>EcoCyc</a:t>
            </a:r>
            <a:r>
              <a:rPr lang="en-AU" sz="1100" dirty="0">
                <a:latin typeface="Nunito" pitchFamily="2" charset="77"/>
              </a:rPr>
              <a:t> pathways: finer granularity (typically one biological process)</a:t>
            </a:r>
          </a:p>
          <a:p>
            <a:pPr marL="285750" indent="-285750">
              <a:buFont typeface="Arial" panose="020B0604020202020204" pitchFamily="34" charset="0"/>
              <a:buChar char="•"/>
            </a:pPr>
            <a:r>
              <a:rPr lang="en-AU" sz="1100" dirty="0">
                <a:latin typeface="Nunito" pitchFamily="2" charset="77"/>
              </a:rPr>
              <a:t>The same number of “significant genes” results in more significant enrichment (smaller p‐values) compared to KEGG</a:t>
            </a:r>
          </a:p>
          <a:p>
            <a:pPr marL="285750" indent="-285750">
              <a:buFont typeface="Arial" panose="020B0604020202020204" pitchFamily="34" charset="0"/>
              <a:buChar char="•"/>
            </a:pPr>
            <a:endParaRPr lang="en-AU" sz="1100" dirty="0">
              <a:latin typeface="Nunito" pitchFamily="2" charset="77"/>
            </a:endParaRPr>
          </a:p>
          <a:p>
            <a:pPr marL="285750" indent="-285750">
              <a:buFont typeface="Arial" panose="020B0604020202020204" pitchFamily="34" charset="0"/>
              <a:buChar char="•"/>
            </a:pPr>
            <a:endParaRPr lang="en-AU" sz="1100" dirty="0">
              <a:latin typeface="Nunito" pitchFamily="2" charset="77"/>
            </a:endParaRPr>
          </a:p>
          <a:p>
            <a:pPr marL="285750" indent="-285750">
              <a:buFont typeface="Arial" panose="020B0604020202020204" pitchFamily="34" charset="0"/>
              <a:buChar char="•"/>
            </a:pPr>
            <a:r>
              <a:rPr lang="en-AU" sz="1100" b="0" i="0" u="none" strike="noStrike" cap="none" dirty="0">
                <a:solidFill>
                  <a:srgbClr val="000000"/>
                </a:solidFill>
                <a:effectLst/>
                <a:latin typeface="Arial"/>
                <a:ea typeface="Arial"/>
                <a:cs typeface="Arial"/>
                <a:sym typeface="Arial"/>
              </a:rPr>
              <a:t>KEGG contains only 348 metabolic modules (December 12, 2019) compared to the 2801 pathways in </a:t>
            </a:r>
            <a:r>
              <a:rPr lang="en-AU" sz="1100" b="0" i="0" u="none" strike="noStrike" cap="none" dirty="0" err="1">
                <a:solidFill>
                  <a:srgbClr val="000000"/>
                </a:solidFill>
                <a:effectLst/>
                <a:latin typeface="Arial"/>
                <a:ea typeface="Arial"/>
                <a:cs typeface="Arial"/>
                <a:sym typeface="Arial"/>
              </a:rPr>
              <a:t>MetaCyc</a:t>
            </a:r>
            <a:r>
              <a:rPr lang="en-AU" sz="1100" b="0" i="0" u="none" strike="noStrike" cap="none" dirty="0">
                <a:solidFill>
                  <a:srgbClr val="000000"/>
                </a:solidFill>
                <a:effectLst/>
                <a:latin typeface="Arial"/>
                <a:ea typeface="Arial"/>
                <a:cs typeface="Arial"/>
                <a:sym typeface="Arial"/>
              </a:rPr>
              <a:t> version 24.0 (December 12, 2019)</a:t>
            </a:r>
          </a:p>
          <a:p>
            <a:pPr marL="285750" indent="-285750">
              <a:buFont typeface="Arial" panose="020B0604020202020204" pitchFamily="34" charset="0"/>
              <a:buChar char="•"/>
            </a:pPr>
            <a:endParaRPr lang="en-AU" sz="1100" b="0" i="0" u="none" strike="noStrike" cap="none" dirty="0">
              <a:solidFill>
                <a:srgbClr val="000000"/>
              </a:solidFill>
              <a:effectLst/>
              <a:latin typeface="Arial"/>
              <a:cs typeface="Arial"/>
              <a:sym typeface="Arial"/>
            </a:endParaRPr>
          </a:p>
          <a:p>
            <a:pPr marL="285750" indent="-285750">
              <a:buFont typeface="Arial" panose="020B0604020202020204" pitchFamily="34" charset="0"/>
              <a:buChar char="•"/>
            </a:pPr>
            <a:endParaRPr lang="en-AU" sz="1100" b="0" i="0" u="none" strike="noStrike" cap="none" dirty="0">
              <a:solidFill>
                <a:srgbClr val="000000"/>
              </a:solidFill>
              <a:effectLst/>
              <a:latin typeface="Arial"/>
              <a:cs typeface="Arial"/>
              <a:sym typeface="Arial"/>
            </a:endParaRPr>
          </a:p>
          <a:p>
            <a:pPr marL="285750" indent="-285750">
              <a:buFont typeface="Arial" panose="020B0604020202020204" pitchFamily="34" charset="0"/>
              <a:buChar char="•"/>
            </a:pPr>
            <a:endParaRPr lang="en-AU" sz="1100" b="0" i="0" u="none" strike="noStrike" cap="none" dirty="0">
              <a:solidFill>
                <a:srgbClr val="000000"/>
              </a:solidFill>
              <a:effectLst/>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n-AU" dirty="0" err="1">
                <a:latin typeface="Nunito" pitchFamily="2" charset="77"/>
              </a:rPr>
              <a:t>MPath</a:t>
            </a:r>
            <a:r>
              <a:rPr lang="en-AU" dirty="0">
                <a:latin typeface="Nunito" pitchFamily="2" charset="77"/>
              </a:rPr>
              <a:t> (KEGG + </a:t>
            </a:r>
            <a:r>
              <a:rPr lang="en-AU" dirty="0" err="1">
                <a:latin typeface="Nunito" pitchFamily="2" charset="77"/>
              </a:rPr>
              <a:t>Reactome</a:t>
            </a:r>
            <a:r>
              <a:rPr lang="en-AU" dirty="0">
                <a:latin typeface="Nunito" pitchFamily="2" charset="77"/>
              </a:rPr>
              <a:t> + </a:t>
            </a:r>
            <a:r>
              <a:rPr lang="en-AU" dirty="0" err="1">
                <a:latin typeface="Nunito" pitchFamily="2" charset="77"/>
              </a:rPr>
              <a:t>WikiPathways</a:t>
            </a:r>
            <a:r>
              <a:rPr lang="en-AU" dirty="0">
                <a:latin typeface="Nunito" pitchFamily="2" charset="77"/>
              </a:rPr>
              <a:t>)</a:t>
            </a:r>
          </a:p>
          <a:p>
            <a:pPr marL="285750" indent="-285750">
              <a:buFont typeface="Arial" panose="020B0604020202020204" pitchFamily="34" charset="0"/>
              <a:buChar char="•"/>
            </a:pPr>
            <a:r>
              <a:rPr lang="en-AU" dirty="0">
                <a:latin typeface="Nunito" pitchFamily="2" charset="77"/>
              </a:rPr>
              <a:t>TPA method showed even greater variability due to structural differences between databases</a:t>
            </a:r>
          </a:p>
          <a:p>
            <a:pPr marL="285750" indent="-285750">
              <a:buFont typeface="Arial" panose="020B0604020202020204" pitchFamily="34" charset="0"/>
              <a:buChar char="•"/>
            </a:pPr>
            <a:r>
              <a:rPr lang="en-AU" dirty="0" err="1">
                <a:latin typeface="Nunito" pitchFamily="2" charset="77"/>
              </a:rPr>
              <a:t>Mpath</a:t>
            </a:r>
            <a:r>
              <a:rPr lang="en-AU" dirty="0">
                <a:latin typeface="Nunito" pitchFamily="2" charset="77"/>
              </a:rPr>
              <a:t>: a more consistent </a:t>
            </a:r>
            <a:r>
              <a:rPr lang="en-AU" dirty="0" err="1">
                <a:latin typeface="Nunito" pitchFamily="2" charset="77"/>
              </a:rPr>
              <a:t>databse</a:t>
            </a:r>
            <a:endParaRPr lang="en-AU" dirty="0">
              <a:latin typeface="Nunito" pitchFamily="2" charset="77"/>
            </a:endParaRPr>
          </a:p>
          <a:p>
            <a:pPr marL="285750" indent="-285750">
              <a:buFont typeface="Arial" panose="020B0604020202020204" pitchFamily="34" charset="0"/>
              <a:buChar char="•"/>
            </a:pPr>
            <a:endParaRPr lang="en-AU" dirty="0">
              <a:latin typeface="Nunito" pitchFamily="2" charset="77"/>
            </a:endParaRPr>
          </a:p>
          <a:p>
            <a:pPr marL="285750" indent="-285750">
              <a:buFont typeface="Arial" panose="020B0604020202020204" pitchFamily="34" charset="0"/>
              <a:buChar char="•"/>
            </a:pPr>
            <a:endParaRPr lang="en-AU" dirty="0">
              <a:latin typeface="Nunito" pitchFamily="2" charset="77"/>
            </a:endParaRPr>
          </a:p>
          <a:p>
            <a:pPr marL="285750" indent="-285750">
              <a:buFont typeface="Arial" panose="020B0604020202020204" pitchFamily="34" charset="0"/>
              <a:buChar char="•"/>
            </a:pPr>
            <a:r>
              <a:rPr lang="en-AU" dirty="0"/>
              <a:t>The reversal in the direction of pathway regulation (e.g., from </a:t>
            </a:r>
            <a:r>
              <a:rPr lang="en-AU" i="1" dirty="0"/>
              <a:t>overexpressed</a:t>
            </a:r>
            <a:r>
              <a:rPr lang="en-AU" dirty="0"/>
              <a:t> in KEGG/</a:t>
            </a:r>
            <a:r>
              <a:rPr lang="en-AU" dirty="0" err="1"/>
              <a:t>WikiPathways</a:t>
            </a:r>
            <a:r>
              <a:rPr lang="en-AU" dirty="0"/>
              <a:t> to </a:t>
            </a:r>
            <a:r>
              <a:rPr lang="en-AU" i="1" dirty="0" err="1"/>
              <a:t>underexpressed</a:t>
            </a:r>
            <a:r>
              <a:rPr lang="en-AU" dirty="0"/>
              <a:t> in </a:t>
            </a:r>
            <a:r>
              <a:rPr lang="en-AU" dirty="0" err="1"/>
              <a:t>MPath</a:t>
            </a:r>
            <a:r>
              <a:rPr lang="en-AU" dirty="0"/>
              <a:t>) arises from </a:t>
            </a:r>
            <a:r>
              <a:rPr lang="en-AU" b="1" dirty="0"/>
              <a:t>how </a:t>
            </a:r>
            <a:r>
              <a:rPr lang="en-AU" b="1" dirty="0" err="1"/>
              <a:t>MPath</a:t>
            </a:r>
            <a:r>
              <a:rPr lang="en-AU" b="1" dirty="0"/>
              <a:t> integrates and merges information</a:t>
            </a:r>
            <a:r>
              <a:rPr lang="en-AU" dirty="0"/>
              <a:t> across databases: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AU" dirty="0" err="1"/>
              <a:t>MPath’s</a:t>
            </a:r>
            <a:r>
              <a:rPr lang="en-AU" dirty="0"/>
              <a:t> includes </a:t>
            </a:r>
            <a:r>
              <a:rPr lang="en-AU" i="1" dirty="0"/>
              <a:t>all genes/interactions</a:t>
            </a:r>
            <a:r>
              <a:rPr lang="en-AU" dirty="0"/>
              <a:t> from multiple sources (Expands gene set dramatically)</a:t>
            </a:r>
          </a:p>
          <a:p>
            <a:r>
              <a:rPr lang="en-AU" dirty="0"/>
              <a:t>Added genes may alter net enrichment direction</a:t>
            </a:r>
          </a:p>
        </p:txBody>
      </p:sp>
    </p:spTree>
    <p:extLst>
      <p:ext uri="{BB962C8B-B14F-4D97-AF65-F5344CB8AC3E}">
        <p14:creationId xmlns:p14="http://schemas.microsoft.com/office/powerpoint/2010/main" val="1560306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B270A442-6DA7-8777-1990-1889B19A3AE9}"/>
            </a:ext>
          </a:extLst>
        </p:cNvPr>
        <p:cNvGrpSpPr/>
        <p:nvPr/>
      </p:nvGrpSpPr>
      <p:grpSpPr>
        <a:xfrm>
          <a:off x="0" y="0"/>
          <a:ext cx="0" cy="0"/>
          <a:chOff x="0" y="0"/>
          <a:chExt cx="0" cy="0"/>
        </a:xfrm>
      </p:grpSpPr>
      <p:sp>
        <p:nvSpPr>
          <p:cNvPr id="450" name="Google Shape;450;g30babdeb835_0_433:notes">
            <a:extLst>
              <a:ext uri="{FF2B5EF4-FFF2-40B4-BE49-F238E27FC236}">
                <a16:creationId xmlns:a16="http://schemas.microsoft.com/office/drawing/2014/main" id="{B8D112DA-BDEE-5727-4B71-FB53920346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1" name="Google Shape;451;g30babdeb835_0_433:notes">
            <a:extLst>
              <a:ext uri="{FF2B5EF4-FFF2-40B4-BE49-F238E27FC236}">
                <a16:creationId xmlns:a16="http://schemas.microsoft.com/office/drawing/2014/main" id="{BBD7EC1C-6791-8DA3-6E11-97C14937B3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AU" sz="1100" b="1" i="0" u="none" strike="noStrike" cap="none" dirty="0">
                <a:solidFill>
                  <a:srgbClr val="000000"/>
                </a:solidFill>
                <a:effectLst/>
                <a:latin typeface="Arial"/>
                <a:ea typeface="Arial"/>
                <a:cs typeface="Arial"/>
                <a:sym typeface="Arial"/>
              </a:rPr>
              <a:t>PSEA-Quant:</a:t>
            </a:r>
            <a:br>
              <a:rPr lang="en-AU" sz="1100" b="0" i="0" u="none" strike="noStrike" cap="none" dirty="0">
                <a:solidFill>
                  <a:srgbClr val="000000"/>
                </a:solidFill>
                <a:effectLst/>
                <a:latin typeface="Arial"/>
                <a:ea typeface="Arial"/>
                <a:cs typeface="Arial"/>
                <a:sym typeface="Arial"/>
              </a:rPr>
            </a:br>
            <a:r>
              <a:rPr lang="en-AU" sz="1100" b="0" i="0" u="none" strike="noStrike" cap="none" dirty="0">
                <a:solidFill>
                  <a:srgbClr val="000000"/>
                </a:solidFill>
                <a:effectLst/>
                <a:latin typeface="Arial"/>
                <a:ea typeface="Arial"/>
                <a:cs typeface="Arial"/>
                <a:sym typeface="Arial"/>
              </a:rPr>
              <a:t>Average abundance and variation between replicates &gt;&gt;&gt; Protein enrichment score.</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sz="1100" dirty="0">
                <a:latin typeface="Nunito" pitchFamily="2" charset="77"/>
              </a:rPr>
              <a:t>High abundance and low variation proteins &gt; higher score on the rank</a:t>
            </a:r>
          </a:p>
          <a:p>
            <a:pPr marL="158750" indent="0">
              <a:buNone/>
            </a:pPr>
            <a:r>
              <a:rPr lang="en-AU" sz="1100" b="0" i="0" u="none" strike="noStrike" cap="none" dirty="0">
                <a:solidFill>
                  <a:srgbClr val="000000"/>
                </a:solidFill>
                <a:effectLst/>
                <a:latin typeface="Arial"/>
                <a:ea typeface="Arial"/>
                <a:cs typeface="Arial"/>
                <a:sym typeface="Arial"/>
              </a:rPr>
              <a:t>Pathway enrichment score = the sum of weighted enrichment scores of its constituent proteins.</a:t>
            </a:r>
          </a:p>
        </p:txBody>
      </p:sp>
    </p:spTree>
    <p:extLst>
      <p:ext uri="{BB962C8B-B14F-4D97-AF65-F5344CB8AC3E}">
        <p14:creationId xmlns:p14="http://schemas.microsoft.com/office/powerpoint/2010/main" val="41375425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a:extLst>
            <a:ext uri="{FF2B5EF4-FFF2-40B4-BE49-F238E27FC236}">
              <a16:creationId xmlns:a16="http://schemas.microsoft.com/office/drawing/2014/main" id="{0A5E854D-C890-88A0-C452-6DA3E61F79A0}"/>
            </a:ext>
          </a:extLst>
        </p:cNvPr>
        <p:cNvGrpSpPr/>
        <p:nvPr/>
      </p:nvGrpSpPr>
      <p:grpSpPr>
        <a:xfrm>
          <a:off x="0" y="0"/>
          <a:ext cx="0" cy="0"/>
          <a:chOff x="0" y="0"/>
          <a:chExt cx="0" cy="0"/>
        </a:xfrm>
      </p:grpSpPr>
      <p:sp>
        <p:nvSpPr>
          <p:cNvPr id="450" name="Google Shape;450;g30babdeb835_0_433:notes">
            <a:extLst>
              <a:ext uri="{FF2B5EF4-FFF2-40B4-BE49-F238E27FC236}">
                <a16:creationId xmlns:a16="http://schemas.microsoft.com/office/drawing/2014/main" id="{AD236DD1-5CA6-6848-DF20-CEA4055AB6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1" name="Google Shape;451;g30babdeb835_0_433:notes">
            <a:extLst>
              <a:ext uri="{FF2B5EF4-FFF2-40B4-BE49-F238E27FC236}">
                <a16:creationId xmlns:a16="http://schemas.microsoft.com/office/drawing/2014/main" id="{D7F4189C-F992-B9A8-040D-36823BA8CE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AU" dirty="0">
                <a:latin typeface="Nunito" pitchFamily="2" charset="77"/>
              </a:rPr>
              <a:t>Quantification relies on fragmentation of compounds generated by MS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AU" dirty="0">
                <a:latin typeface="Nunito" pitchFamily="2" charset="77"/>
              </a:rPr>
            </a:br>
            <a:r>
              <a:rPr lang="en-AU" dirty="0">
                <a:latin typeface="Nunito" pitchFamily="2" charset="77"/>
              </a:rPr>
              <a:t>Compound annotation represent a bottleneck in analysing metabolomics data </a:t>
            </a:r>
            <a:r>
              <a:rPr lang="en-AU" sz="1100" b="0" i="0" u="none" strike="noStrike" cap="none" dirty="0">
                <a:solidFill>
                  <a:srgbClr val="000000"/>
                </a:solidFill>
                <a:effectLst/>
                <a:latin typeface="Arial"/>
                <a:ea typeface="Arial"/>
                <a:cs typeface="Arial"/>
                <a:sym typeface="Arial"/>
              </a:rPr>
              <a:t>which makes </a:t>
            </a:r>
            <a:r>
              <a:rPr lang="en-AU" sz="1100" b="1" i="0" u="none" strike="noStrike" cap="none" dirty="0">
                <a:solidFill>
                  <a:srgbClr val="000000"/>
                </a:solidFill>
                <a:effectLst/>
                <a:latin typeface="Arial"/>
                <a:ea typeface="Arial"/>
                <a:cs typeface="Arial"/>
                <a:sym typeface="Arial"/>
              </a:rPr>
              <a:t>metabolomic profiles</a:t>
            </a:r>
            <a:r>
              <a:rPr lang="en-AU" sz="1100" b="0" i="0" u="none" strike="noStrike" cap="none" dirty="0">
                <a:solidFill>
                  <a:srgbClr val="000000"/>
                </a:solidFill>
                <a:effectLst/>
                <a:latin typeface="Arial"/>
                <a:ea typeface="Arial"/>
                <a:cs typeface="Arial"/>
                <a:sym typeface="Arial"/>
              </a:rPr>
              <a:t> sparser and more ambiguous</a:t>
            </a:r>
          </a:p>
          <a:p>
            <a:pPr marL="158750" indent="0">
              <a:buNone/>
            </a:pPr>
            <a:r>
              <a:rPr lang="en-AU" sz="1100" b="0" i="0" u="none" strike="noStrike" cap="none" dirty="0">
                <a:solidFill>
                  <a:srgbClr val="000000"/>
                </a:solidFill>
                <a:effectLst/>
                <a:latin typeface="Arial"/>
                <a:ea typeface="Arial"/>
                <a:cs typeface="Arial"/>
                <a:sym typeface="Arial"/>
              </a:rPr>
              <a:t>than transcriptomics.</a:t>
            </a:r>
          </a:p>
          <a:p>
            <a:pPr marL="158750" indent="0">
              <a:buNone/>
            </a:pPr>
            <a:endParaRPr lang="en-AU" sz="1100" b="0" i="0" u="none" strike="noStrike" cap="none" dirty="0">
              <a:solidFill>
                <a:srgbClr val="000000"/>
              </a:solidFill>
              <a:effectLst/>
              <a:latin typeface="Arial"/>
              <a:ea typeface="Arial"/>
              <a:cs typeface="Arial"/>
              <a:sym typeface="Arial"/>
            </a:endParaRPr>
          </a:p>
          <a:p>
            <a:pPr marL="158750" indent="0">
              <a:buNone/>
            </a:pPr>
            <a:r>
              <a:rPr lang="en-AU" sz="1100" b="0" i="0" u="none" strike="noStrike" cap="none" dirty="0">
                <a:solidFill>
                  <a:srgbClr val="000000"/>
                </a:solidFill>
                <a:effectLst/>
                <a:latin typeface="Arial"/>
                <a:ea typeface="Arial"/>
                <a:cs typeface="Arial"/>
                <a:sym typeface="Arial"/>
              </a:rPr>
              <a:t>However, </a:t>
            </a:r>
            <a:r>
              <a:rPr lang="en-AU" sz="1100" b="1" i="0" u="none" strike="noStrike" cap="none" dirty="0" err="1">
                <a:solidFill>
                  <a:srgbClr val="000000"/>
                </a:solidFill>
                <a:effectLst/>
                <a:latin typeface="Arial"/>
                <a:ea typeface="Arial"/>
                <a:cs typeface="Arial"/>
                <a:sym typeface="Arial"/>
              </a:rPr>
              <a:t>MetPA</a:t>
            </a:r>
            <a:r>
              <a:rPr lang="en-AU" sz="1100" b="0" i="0" u="none" strike="noStrike" cap="none" dirty="0">
                <a:solidFill>
                  <a:srgbClr val="000000"/>
                </a:solidFill>
                <a:effectLst/>
                <a:latin typeface="Arial"/>
                <a:ea typeface="Arial"/>
                <a:cs typeface="Arial"/>
                <a:sym typeface="Arial"/>
              </a:rPr>
              <a:t> and </a:t>
            </a:r>
            <a:r>
              <a:rPr lang="en-AU" sz="1100" b="1" i="0" u="none" strike="noStrike" cap="none" dirty="0">
                <a:solidFill>
                  <a:srgbClr val="000000"/>
                </a:solidFill>
                <a:effectLst/>
                <a:latin typeface="Arial"/>
                <a:ea typeface="Arial"/>
                <a:cs typeface="Arial"/>
                <a:sym typeface="Arial"/>
              </a:rPr>
              <a:t>MSEA</a:t>
            </a:r>
            <a:r>
              <a:rPr lang="en-AU" sz="1100" b="0" i="0" u="none" strike="noStrike" cap="none" dirty="0">
                <a:solidFill>
                  <a:srgbClr val="000000"/>
                </a:solidFill>
                <a:effectLst/>
                <a:latin typeface="Arial"/>
                <a:ea typeface="Arial"/>
                <a:cs typeface="Arial"/>
                <a:sym typeface="Arial"/>
              </a:rPr>
              <a:t> require metabolite identifications prior to use, which remains an important challenge in untargeted metabolomics. In comparison, the mummichog algorithm (</a:t>
            </a:r>
            <a:r>
              <a:rPr lang="en-AU" sz="1100" b="0" i="0" u="sng" strike="noStrike" cap="none" dirty="0">
                <a:solidFill>
                  <a:srgbClr val="000000"/>
                </a:solidFill>
                <a:effectLst/>
                <a:latin typeface="Arial"/>
                <a:ea typeface="Arial"/>
                <a:cs typeface="Arial"/>
                <a:sym typeface="Arial"/>
                <a:hlinkClick r:id="rId3"/>
              </a:rPr>
              <a:t>Li et al. 2013</a:t>
            </a:r>
            <a:r>
              <a:rPr lang="en-AU" sz="1100" b="0" i="0" u="none" strike="noStrike" cap="none" dirty="0">
                <a:solidFill>
                  <a:srgbClr val="000000"/>
                </a:solidFill>
                <a:effectLst/>
                <a:latin typeface="Arial"/>
                <a:ea typeface="Arial"/>
                <a:cs typeface="Arial"/>
                <a:sym typeface="Arial"/>
              </a:rPr>
              <a:t>) bypasses the bottleneck of metabolite identification prior to pathway analysis, leveraging a priori pathway and network knowledge to directly infer biological activity based on mass peaks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07759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0babdeb835_0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5" name="Google Shape;445;g30babdeb835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06538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0babdeb835_0_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51" name="Google Shape;451;g30babdeb835_0_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5106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7"/>
          <p:cNvSpPr txBox="1">
            <a:spLocks noGrp="1"/>
          </p:cNvSpPr>
          <p:nvPr>
            <p:ph type="ctrTitle"/>
          </p:nvPr>
        </p:nvSpPr>
        <p:spPr>
          <a:xfrm>
            <a:off x="1118850" y="1545450"/>
            <a:ext cx="6906300" cy="2052600"/>
          </a:xfrm>
          <a:prstGeom prst="rect">
            <a:avLst/>
          </a:prstGeom>
          <a:noFill/>
          <a:ln>
            <a:noFill/>
          </a:ln>
        </p:spPr>
        <p:txBody>
          <a:bodyPr spcFirstLastPara="1" wrap="square" lIns="91425" tIns="91425" rIns="91425" bIns="91425" anchor="b" anchorCtr="0">
            <a:spAutoFit/>
          </a:bodyPr>
          <a:lstStyle>
            <a:lvl1pPr marR="0" lvl="0" algn="ctr" rtl="0">
              <a:lnSpc>
                <a:spcPct val="100000"/>
              </a:lnSpc>
              <a:spcBef>
                <a:spcPts val="0"/>
              </a:spcBef>
              <a:spcAft>
                <a:spcPts val="0"/>
              </a:spcAft>
              <a:buClr>
                <a:srgbClr val="000000"/>
              </a:buClr>
              <a:buSzPts val="5400"/>
              <a:buFont typeface="Nunito"/>
              <a:buNone/>
              <a:defRPr sz="5400" b="0" i="0" u="none" strike="noStrike" cap="none">
                <a:solidFill>
                  <a:srgbClr val="000000"/>
                </a:solidFill>
                <a:latin typeface="Nunito"/>
                <a:ea typeface="Nunito"/>
                <a:cs typeface="Nunito"/>
                <a:sym typeface="Nunito"/>
              </a:defRPr>
            </a:lvl1pPr>
            <a:lvl2pPr marR="0" lvl="1"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endParaRPr/>
          </a:p>
        </p:txBody>
      </p:sp>
      <p:sp>
        <p:nvSpPr>
          <p:cNvPr id="13" name="Google Shape;13;p17"/>
          <p:cNvSpPr txBox="1">
            <a:spLocks noGrp="1"/>
          </p:cNvSpPr>
          <p:nvPr>
            <p:ph type="subTitle" idx="1"/>
          </p:nvPr>
        </p:nvSpPr>
        <p:spPr>
          <a:xfrm>
            <a:off x="311700" y="2714925"/>
            <a:ext cx="8520600" cy="79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1pPr>
            <a:lvl2pPr marR="0" lvl="1"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2pPr>
            <a:lvl3pPr marR="0" lvl="2"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3pPr>
            <a:lvl4pPr marR="0" lvl="3"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4pPr>
            <a:lvl5pPr marR="0" lvl="4"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5pPr>
            <a:lvl6pPr marR="0" lvl="5"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6pPr>
            <a:lvl7pPr marR="0" lvl="6"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7pPr>
            <a:lvl8pPr marR="0" lvl="7"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8pPr>
            <a:lvl9pPr marR="0" lvl="8" algn="ctr" rtl="0">
              <a:lnSpc>
                <a:spcPct val="100000"/>
              </a:lnSpc>
              <a:spcBef>
                <a:spcPts val="0"/>
              </a:spcBef>
              <a:spcAft>
                <a:spcPts val="0"/>
              </a:spcAft>
              <a:buClr>
                <a:srgbClr val="000000"/>
              </a:buClr>
              <a:buSzPts val="2800"/>
              <a:buFont typeface="Nunito"/>
              <a:buNone/>
              <a:defRPr sz="2800" b="0" i="0" u="none" strike="noStrike" cap="none">
                <a:solidFill>
                  <a:srgbClr val="000000"/>
                </a:solidFill>
                <a:latin typeface="Nunito"/>
                <a:ea typeface="Nunito"/>
                <a:cs typeface="Nunito"/>
                <a:sym typeface="Nunito"/>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lus image">
  <p:cSld name="Default_1_1">
    <p:spTree>
      <p:nvGrpSpPr>
        <p:cNvPr id="1" name="Shape 17"/>
        <p:cNvGrpSpPr/>
        <p:nvPr/>
      </p:nvGrpSpPr>
      <p:grpSpPr>
        <a:xfrm>
          <a:off x="0" y="0"/>
          <a:ext cx="0" cy="0"/>
          <a:chOff x="0" y="0"/>
          <a:chExt cx="0" cy="0"/>
        </a:xfrm>
      </p:grpSpPr>
      <p:sp>
        <p:nvSpPr>
          <p:cNvPr id="18" name="Google Shape;18;p18"/>
          <p:cNvSpPr txBox="1">
            <a:spLocks noGrp="1"/>
          </p:cNvSpPr>
          <p:nvPr>
            <p:ph type="body" idx="1"/>
          </p:nvPr>
        </p:nvSpPr>
        <p:spPr>
          <a:xfrm>
            <a:off x="514484" y="1363359"/>
            <a:ext cx="4038300" cy="3205500"/>
          </a:xfrm>
          <a:prstGeom prst="rect">
            <a:avLst/>
          </a:prstGeom>
          <a:noFill/>
          <a:ln>
            <a:noFill/>
          </a:ln>
        </p:spPr>
        <p:txBody>
          <a:bodyPr spcFirstLastPara="1" wrap="square" lIns="91425" tIns="91425" rIns="91425" bIns="91425" anchor="ctr" anchorCtr="0">
            <a:spAutoFit/>
          </a:bodyPr>
          <a:lstStyle>
            <a:lvl1pPr marL="457200" marR="0" lvl="0" indent="-330200" algn="l" rtl="0">
              <a:lnSpc>
                <a:spcPct val="115000"/>
              </a:lnSpc>
              <a:spcBef>
                <a:spcPts val="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1pPr>
            <a:lvl2pPr marL="914400" marR="0" lvl="1"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2pPr>
            <a:lvl3pPr marL="1371600" marR="0" lvl="2"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3pPr>
            <a:lvl4pPr marL="1828800" marR="0" lvl="3"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4pPr>
            <a:lvl5pPr marL="2286000" marR="0" lvl="4"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5pPr>
            <a:lvl6pPr marL="2743200" marR="0" lvl="5"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6pPr>
            <a:lvl7pPr marL="3200400" marR="0" lvl="6"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7pPr>
            <a:lvl8pPr marL="3657600" marR="0" lvl="7"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8pPr>
            <a:lvl9pPr marL="4114800" marR="0" lvl="8" indent="-330200" algn="l" rtl="0">
              <a:lnSpc>
                <a:spcPct val="115000"/>
              </a:lnSpc>
              <a:spcBef>
                <a:spcPts val="800"/>
              </a:spcBef>
              <a:spcAft>
                <a:spcPts val="800"/>
              </a:spcAft>
              <a:buClr>
                <a:srgbClr val="000000"/>
              </a:buClr>
              <a:buSzPts val="1600"/>
              <a:buFont typeface="Nunito"/>
              <a:buChar char="■"/>
              <a:defRPr sz="1600" b="0" i="0" u="none" strike="noStrike" cap="none">
                <a:solidFill>
                  <a:srgbClr val="000000"/>
                </a:solidFill>
                <a:latin typeface="Nunito"/>
                <a:ea typeface="Nunito"/>
                <a:cs typeface="Nunito"/>
                <a:sym typeface="Nunito"/>
              </a:defRPr>
            </a:lvl9pPr>
          </a:lstStyle>
          <a:p>
            <a:endParaRPr/>
          </a:p>
        </p:txBody>
      </p:sp>
      <p:sp>
        <p:nvSpPr>
          <p:cNvPr id="19" name="Google Shape;19;p18"/>
          <p:cNvSpPr txBox="1">
            <a:spLocks noGrp="1"/>
          </p:cNvSpPr>
          <p:nvPr>
            <p:ph type="title"/>
          </p:nvPr>
        </p:nvSpPr>
        <p:spPr>
          <a:xfrm>
            <a:off x="311700" y="292625"/>
            <a:ext cx="8520600" cy="5727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1pPr>
            <a:lvl2pPr marR="0" lvl="1"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2pPr>
            <a:lvl3pPr marR="0" lvl="2"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3pPr>
            <a:lvl4pPr marR="0" lvl="3"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4pPr>
            <a:lvl5pPr marR="0" lvl="4"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5pPr>
            <a:lvl6pPr marR="0" lvl="5"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6pPr>
            <a:lvl7pPr marR="0" lvl="6"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7pPr>
            <a:lvl8pPr marR="0" lvl="7"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8pPr>
            <a:lvl9pPr marR="0" lvl="8"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9pPr>
          </a:lstStyle>
          <a:p>
            <a:endParaRPr/>
          </a:p>
        </p:txBody>
      </p:sp>
      <p:sp>
        <p:nvSpPr>
          <p:cNvPr id="20" name="Google Shape;20;p18"/>
          <p:cNvSpPr>
            <a:spLocks noGrp="1"/>
          </p:cNvSpPr>
          <p:nvPr>
            <p:ph type="pic" idx="2"/>
          </p:nvPr>
        </p:nvSpPr>
        <p:spPr>
          <a:xfrm>
            <a:off x="5163070" y="1363341"/>
            <a:ext cx="3754200" cy="3205500"/>
          </a:xfrm>
          <a:prstGeom prst="rect">
            <a:avLst/>
          </a:prstGeom>
          <a:noFill/>
          <a:ln>
            <a:no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Default">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311700" y="292625"/>
            <a:ext cx="8520600" cy="5727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1pPr>
            <a:lvl2pPr marR="0" lvl="1"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2pPr>
            <a:lvl3pPr marR="0" lvl="2"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3pPr>
            <a:lvl4pPr marR="0" lvl="3"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4pPr>
            <a:lvl5pPr marR="0" lvl="4"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5pPr>
            <a:lvl6pPr marR="0" lvl="5"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6pPr>
            <a:lvl7pPr marR="0" lvl="6"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7pPr>
            <a:lvl8pPr marR="0" lvl="7"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8pPr>
            <a:lvl9pPr marR="0" lvl="8" algn="l"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9pPr>
          </a:lstStyle>
          <a:p>
            <a:endParaRPr/>
          </a:p>
        </p:txBody>
      </p:sp>
    </p:spTree>
  </p:cSld>
  <p:clrMapOvr>
    <a:masterClrMapping/>
  </p:clrMapOvr>
  <p:extLst>
    <p:ext uri="{DCECCB84-F9BA-43D5-87BE-67443E8EF086}">
      <p15:sldGuideLst xmlns:p15="http://schemas.microsoft.com/office/powerpoint/2012/main">
        <p15:guide id="1" orient="horz" pos="54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No title">
  <p:cSld name="Default_1">
    <p:spTree>
      <p:nvGrpSpPr>
        <p:cNvPr id="1" name="Shape 2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p:cSld name="TITLE_AND_BODY_2">
    <p:spTree>
      <p:nvGrpSpPr>
        <p:cNvPr id="1" name="Shape 30"/>
        <p:cNvGrpSpPr/>
        <p:nvPr/>
      </p:nvGrpSpPr>
      <p:grpSpPr>
        <a:xfrm>
          <a:off x="0" y="0"/>
          <a:ext cx="0" cy="0"/>
          <a:chOff x="0" y="0"/>
          <a:chExt cx="0" cy="0"/>
        </a:xfrm>
      </p:grpSpPr>
      <p:sp>
        <p:nvSpPr>
          <p:cNvPr id="31" name="Google Shape;31;g30bad334051_3_5"/>
          <p:cNvSpPr txBox="1">
            <a:spLocks noGrp="1"/>
          </p:cNvSpPr>
          <p:nvPr>
            <p:ph type="title"/>
          </p:nvPr>
        </p:nvSpPr>
        <p:spPr>
          <a:xfrm>
            <a:off x="311700" y="292625"/>
            <a:ext cx="8520600" cy="5727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000"/>
              <a:buFont typeface="Nunito"/>
              <a:buChar char="●"/>
              <a:defRPr sz="3000" b="0" i="0" u="none" strike="noStrike" cap="none">
                <a:solidFill>
                  <a:schemeClr val="dk1"/>
                </a:solidFill>
                <a:latin typeface="Nunito"/>
                <a:ea typeface="Nunito"/>
                <a:cs typeface="Nunito"/>
                <a:sym typeface="Nunito"/>
              </a:defRPr>
            </a:lvl1pPr>
            <a:lvl2pPr marR="0" lvl="1"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2pPr>
            <a:lvl3pPr marR="0" lvl="2"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3pPr>
            <a:lvl4pPr marR="0" lvl="3"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4pPr>
            <a:lvl5pPr marR="0" lvl="4"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5pPr>
            <a:lvl6pPr marR="0" lvl="5"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6pPr>
            <a:lvl7pPr marR="0" lvl="6"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7pPr>
            <a:lvl8pPr marR="0" lvl="7"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8pPr>
            <a:lvl9pPr marR="0" lvl="8" algn="l" rtl="0">
              <a:lnSpc>
                <a:spcPct val="100000"/>
              </a:lnSpc>
              <a:spcBef>
                <a:spcPts val="0"/>
              </a:spcBef>
              <a:spcAft>
                <a:spcPts val="0"/>
              </a:spcAft>
              <a:buClr>
                <a:srgbClr val="000000"/>
              </a:buClr>
              <a:buSzPts val="1400"/>
              <a:buFont typeface="Nunito"/>
              <a:buChar char="■"/>
              <a:defRPr sz="1400" b="0" i="0" u="none" strike="noStrike" cap="none">
                <a:solidFill>
                  <a:srgbClr val="000000"/>
                </a:solidFill>
                <a:latin typeface="Nunito"/>
                <a:ea typeface="Nunito"/>
                <a:cs typeface="Nunito"/>
                <a:sym typeface="Nunito"/>
              </a:defRPr>
            </a:lvl9pPr>
          </a:lstStyle>
          <a:p>
            <a:endParaRPr/>
          </a:p>
        </p:txBody>
      </p:sp>
      <p:sp>
        <p:nvSpPr>
          <p:cNvPr id="32" name="Google Shape;32;g30bad334051_3_5"/>
          <p:cNvSpPr txBox="1">
            <a:spLocks noGrp="1"/>
          </p:cNvSpPr>
          <p:nvPr>
            <p:ph type="body" idx="1"/>
          </p:nvPr>
        </p:nvSpPr>
        <p:spPr>
          <a:xfrm>
            <a:off x="1080000" y="1152475"/>
            <a:ext cx="6984000" cy="3416400"/>
          </a:xfrm>
          <a:prstGeom prst="rect">
            <a:avLst/>
          </a:prstGeom>
          <a:noFill/>
          <a:ln>
            <a:noFill/>
          </a:ln>
        </p:spPr>
        <p:txBody>
          <a:bodyPr spcFirstLastPara="1" wrap="square" lIns="91425" tIns="91425" rIns="91425" bIns="91425" anchor="ctr" anchorCtr="0">
            <a:spAutoFit/>
          </a:bodyPr>
          <a:lstStyle>
            <a:lvl1pPr marL="457200" marR="0" lvl="0" indent="-330200" algn="l" rtl="0">
              <a:lnSpc>
                <a:spcPct val="115000"/>
              </a:lnSpc>
              <a:spcBef>
                <a:spcPts val="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1pPr>
            <a:lvl2pPr marL="914400" marR="0" lvl="1"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2pPr>
            <a:lvl3pPr marL="1371600" marR="0" lvl="2"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3pPr>
            <a:lvl4pPr marL="1828800" marR="0" lvl="3"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4pPr>
            <a:lvl5pPr marL="2286000" marR="0" lvl="4"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5pPr>
            <a:lvl6pPr marL="2743200" marR="0" lvl="5"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6pPr>
            <a:lvl7pPr marL="3200400" marR="0" lvl="6"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7pPr>
            <a:lvl8pPr marL="3657600" marR="0" lvl="7" indent="-330200" algn="l" rtl="0">
              <a:lnSpc>
                <a:spcPct val="115000"/>
              </a:lnSpc>
              <a:spcBef>
                <a:spcPts val="800"/>
              </a:spcBef>
              <a:spcAft>
                <a:spcPts val="0"/>
              </a:spcAft>
              <a:buClr>
                <a:srgbClr val="000000"/>
              </a:buClr>
              <a:buSzPts val="1600"/>
              <a:buFont typeface="Nunito"/>
              <a:buChar char="○"/>
              <a:defRPr sz="1600" b="0" i="0" u="none" strike="noStrike" cap="none">
                <a:solidFill>
                  <a:srgbClr val="000000"/>
                </a:solidFill>
                <a:latin typeface="Nunito"/>
                <a:ea typeface="Nunito"/>
                <a:cs typeface="Nunito"/>
                <a:sym typeface="Nunito"/>
              </a:defRPr>
            </a:lvl8pPr>
            <a:lvl9pPr marL="4114800" marR="0" lvl="8" indent="-330200" algn="l" rtl="0">
              <a:lnSpc>
                <a:spcPct val="115000"/>
              </a:lnSpc>
              <a:spcBef>
                <a:spcPts val="800"/>
              </a:spcBef>
              <a:spcAft>
                <a:spcPts val="800"/>
              </a:spcAft>
              <a:buClr>
                <a:srgbClr val="000000"/>
              </a:buClr>
              <a:buSzPts val="1600"/>
              <a:buFont typeface="Nunito"/>
              <a:buChar char="■"/>
              <a:defRPr sz="1600" b="0" i="0" u="none" strike="noStrike" cap="none">
                <a:solidFill>
                  <a:srgbClr val="000000"/>
                </a:solidFill>
                <a:latin typeface="Nunito"/>
                <a:ea typeface="Nunito"/>
                <a:cs typeface="Nunito"/>
                <a:sym typeface="Nunito"/>
              </a:defRPr>
            </a:lvl9pPr>
          </a:lstStyle>
          <a:p>
            <a:endParaRPr/>
          </a:p>
        </p:txBody>
      </p:sp>
    </p:spTree>
  </p:cSld>
  <p:clrMapOvr>
    <a:masterClrMapping/>
  </p:clrMapOvr>
  <p:extLst>
    <p:ext uri="{DCECCB84-F9BA-43D5-87BE-67443E8EF086}">
      <p15:sldGuideLst xmlns:p15="http://schemas.microsoft.com/office/powerpoint/2012/main">
        <p15:guide id="1" orient="horz" pos="545">
          <p15:clr>
            <a:srgbClr val="E46962"/>
          </p15:clr>
        </p15:guide>
        <p15:guide id="2" pos="680">
          <p15:clr>
            <a:srgbClr val="E46962"/>
          </p15:clr>
        </p15:guide>
        <p15:guide id="3" pos="508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extLst>
      <p:ext uri="{BB962C8B-B14F-4D97-AF65-F5344CB8AC3E}">
        <p14:creationId xmlns:p14="http://schemas.microsoft.com/office/powerpoint/2010/main" val="4164717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81">
          <p15:clr>
            <a:srgbClr val="E46962"/>
          </p15:clr>
        </p15:guide>
        <p15:guide id="2" orient="horz" pos="3157">
          <p15:clr>
            <a:srgbClr val="E46962"/>
          </p15:clr>
        </p15:guide>
        <p15:guide id="3" pos="5617">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gif"/><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jpg"/><Relationship Id="rId1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hyperlink" Target="https://www.youtube.com/watch?v=6Am2VMbyTm4" TargetMode="Externa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hyperlink" Target="http://amigo.geneontology.org/amigo/term/GO:0005886" TargetMode="External"/><Relationship Id="rId13" Type="http://schemas.openxmlformats.org/officeDocument/2006/relationships/hyperlink" Target="http://amigo.geneontology.org/amigo/term/GO:0019856" TargetMode="External"/><Relationship Id="rId3" Type="http://schemas.openxmlformats.org/officeDocument/2006/relationships/hyperlink" Target="http://amigo.geneontology.org/amigo/term/GO:0003824" TargetMode="External"/><Relationship Id="rId7" Type="http://schemas.openxmlformats.org/officeDocument/2006/relationships/hyperlink" Target="http://amigo.geneontology.org/amigo/term/GO:0110165" TargetMode="External"/><Relationship Id="rId12" Type="http://schemas.openxmlformats.org/officeDocument/2006/relationships/hyperlink" Target="http://amigo.geneontology.org/amigo/term/GO:0007165"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hyperlink" Target="http://amigo.geneontology.org/amigo/term/GO:0035325" TargetMode="External"/><Relationship Id="rId11" Type="http://schemas.openxmlformats.org/officeDocument/2006/relationships/hyperlink" Target="http://amigo.geneontology.org/amigo/term/GO:0006281" TargetMode="External"/><Relationship Id="rId5" Type="http://schemas.openxmlformats.org/officeDocument/2006/relationships/hyperlink" Target="http://amigo.geneontology.org/amigo/term/GO:0004016" TargetMode="External"/><Relationship Id="rId15" Type="http://schemas.openxmlformats.org/officeDocument/2006/relationships/hyperlink" Target="https://geneontology.org/docs/ontology-documentation" TargetMode="External"/><Relationship Id="rId10" Type="http://schemas.openxmlformats.org/officeDocument/2006/relationships/hyperlink" Target="http://amigo.geneontology.org/amigo/term/GO:0005739" TargetMode="External"/><Relationship Id="rId4" Type="http://schemas.openxmlformats.org/officeDocument/2006/relationships/hyperlink" Target="http://amigo.geneontology.org/amigo/term/GO:0005215" TargetMode="External"/><Relationship Id="rId9" Type="http://schemas.openxmlformats.org/officeDocument/2006/relationships/hyperlink" Target="http://amigo.geneontology.org/amigo/term/GO:0005856" TargetMode="External"/><Relationship Id="rId14" Type="http://schemas.openxmlformats.org/officeDocument/2006/relationships/hyperlink" Target="http://amigo.geneontology.org/amigo/term/GO:1904659"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16.png"/><Relationship Id="rId18" Type="http://schemas.openxmlformats.org/officeDocument/2006/relationships/image" Target="../media/image29.png"/><Relationship Id="rId3" Type="http://schemas.openxmlformats.org/officeDocument/2006/relationships/image" Target="../media/image7.png"/><Relationship Id="rId21" Type="http://schemas.openxmlformats.org/officeDocument/2006/relationships/image" Target="../media/image32.png"/><Relationship Id="rId7" Type="http://schemas.openxmlformats.org/officeDocument/2006/relationships/image" Target="../media/image12.png"/><Relationship Id="rId12" Type="http://schemas.openxmlformats.org/officeDocument/2006/relationships/image" Target="../media/image14.png"/><Relationship Id="rId17" Type="http://schemas.openxmlformats.org/officeDocument/2006/relationships/image" Target="../media/image28.png"/><Relationship Id="rId2" Type="http://schemas.openxmlformats.org/officeDocument/2006/relationships/notesSlide" Target="../notesSlides/notesSlide18.xml"/><Relationship Id="rId16" Type="http://schemas.openxmlformats.org/officeDocument/2006/relationships/image" Target="../media/image17.gif"/><Relationship Id="rId20" Type="http://schemas.openxmlformats.org/officeDocument/2006/relationships/image" Target="../media/image31.png"/><Relationship Id="rId1" Type="http://schemas.openxmlformats.org/officeDocument/2006/relationships/slideLayout" Target="../slideLayouts/slideLayout5.xml"/><Relationship Id="rId6" Type="http://schemas.openxmlformats.org/officeDocument/2006/relationships/image" Target="../media/image11.png"/><Relationship Id="rId11" Type="http://schemas.openxmlformats.org/officeDocument/2006/relationships/image" Target="../media/image13.jpg"/><Relationship Id="rId5" Type="http://schemas.openxmlformats.org/officeDocument/2006/relationships/image" Target="../media/image10.png"/><Relationship Id="rId15"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8.png"/><Relationship Id="rId1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metaboanalyst.ca/resources/vignettes/Functional_Analysis_global_metabolomics.htm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nature.com/articles/s41596-018-0103-9" TargetMode="External"/><Relationship Id="rId3" Type="http://schemas.openxmlformats.org/officeDocument/2006/relationships/hyperlink" Target="https://www.sciencedirect.com/science/article/abs/pii/S0168952523000185" TargetMode="External"/><Relationship Id="rId7" Type="http://schemas.openxmlformats.org/officeDocument/2006/relationships/hyperlink" Target="https://journals.plos.org/ploscompbiol/article?id=10.1371/journal.pcbi.1009935"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genomebiology.biomedcentral.com/articles/10.1186/s13059-015-0761-7" TargetMode="External"/><Relationship Id="rId5" Type="http://schemas.openxmlformats.org/officeDocument/2006/relationships/hyperlink" Target="https://pmc.ncbi.nlm.nih.gov/articles/PMC6883970/#:~:text=Pathway%2Dcentric%20approaches%20are%20widely,the%20context%20of%20precision%20medicine" TargetMode="External"/><Relationship Id="rId4" Type="http://schemas.openxmlformats.org/officeDocument/2006/relationships/hyperlink" Target="https://academic.oup.com/bib/article/23/5/bbac355/6695266" TargetMode="External"/><Relationship Id="rId9" Type="http://schemas.openxmlformats.org/officeDocument/2006/relationships/hyperlink" Target="https://academic.oup.com/bib/article/22/1/545/5722384?login=fal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g30bad334051_3_15"/>
          <p:cNvSpPr txBox="1">
            <a:spLocks noGrp="1"/>
          </p:cNvSpPr>
          <p:nvPr>
            <p:ph type="ctrTitle"/>
          </p:nvPr>
        </p:nvSpPr>
        <p:spPr>
          <a:xfrm>
            <a:off x="311700" y="961355"/>
            <a:ext cx="8520600" cy="1661963"/>
          </a:xfrm>
          <a:prstGeom prst="rect">
            <a:avLst/>
          </a:prstGeom>
          <a:noFill/>
          <a:ln>
            <a:noFill/>
          </a:ln>
        </p:spPr>
        <p:txBody>
          <a:bodyPr spcFirstLastPara="1" wrap="square" lIns="91425" tIns="91425" rIns="91425" bIns="91425" anchor="b" anchorCtr="0">
            <a:spAutoFit/>
          </a:bodyPr>
          <a:lstStyle/>
          <a:p>
            <a:pPr marL="0" lvl="0" indent="0" algn="ctr" rtl="0">
              <a:lnSpc>
                <a:spcPct val="100000"/>
              </a:lnSpc>
              <a:spcBef>
                <a:spcPts val="0"/>
              </a:spcBef>
              <a:spcAft>
                <a:spcPts val="0"/>
              </a:spcAft>
              <a:buSzPts val="5400"/>
              <a:buNone/>
            </a:pPr>
            <a:r>
              <a:rPr lang="en-AU" sz="4800" dirty="0"/>
              <a:t>Functional enrichment analysis (FEA</a:t>
            </a:r>
            <a:r>
              <a:rPr lang="en-AU" sz="4800"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t>
            </a:r>
            <a:endParaRPr sz="4800" dirty="0"/>
          </a:p>
        </p:txBody>
      </p:sp>
      <p:sp>
        <p:nvSpPr>
          <p:cNvPr id="38" name="Google Shape;38;g30bad334051_3_15"/>
          <p:cNvSpPr txBox="1">
            <a:spLocks noGrp="1"/>
          </p:cNvSpPr>
          <p:nvPr>
            <p:ph type="subTitle" idx="1"/>
          </p:nvPr>
        </p:nvSpPr>
        <p:spPr>
          <a:xfrm>
            <a:off x="311700" y="2951541"/>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AU" sz="2000" dirty="0"/>
              <a:t>Monash Genomics and Bioinformatics Platform</a:t>
            </a:r>
          </a:p>
          <a:p>
            <a:pPr marL="0" lvl="0" indent="0" algn="ctr" rtl="0">
              <a:lnSpc>
                <a:spcPct val="100000"/>
              </a:lnSpc>
              <a:spcBef>
                <a:spcPts val="0"/>
              </a:spcBef>
              <a:spcAft>
                <a:spcPts val="0"/>
              </a:spcAft>
              <a:buSzPts val="2800"/>
              <a:buNone/>
            </a:pPr>
            <a:r>
              <a:rPr lang="en-AU" sz="2000" dirty="0"/>
              <a:t>12-13 August 2026</a:t>
            </a:r>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2fc836300ec_4_4"/>
          <p:cNvSpPr txBox="1"/>
          <p:nvPr/>
        </p:nvSpPr>
        <p:spPr>
          <a:xfrm>
            <a:off x="703393" y="1392564"/>
            <a:ext cx="8174100" cy="181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600" b="0" i="0" u="none" strike="noStrike" cap="none" dirty="0">
                <a:solidFill>
                  <a:srgbClr val="000000"/>
                </a:solidFill>
                <a:latin typeface="Nunito"/>
                <a:ea typeface="Nunito"/>
                <a:cs typeface="Nunito"/>
                <a:sym typeface="Nunito"/>
              </a:rPr>
              <a:t>Functional enrichment analysis is a broad term that refers to various methods used to extract biological or functional insights from lists of biomolecules.</a:t>
            </a:r>
            <a:endParaRPr dirty="0"/>
          </a:p>
          <a:p>
            <a:pPr marL="0" marR="0" lvl="0" indent="0" algn="l" rtl="0">
              <a:lnSpc>
                <a:spcPct val="100000"/>
              </a:lnSpc>
              <a:spcBef>
                <a:spcPts val="0"/>
              </a:spcBef>
              <a:spcAft>
                <a:spcPts val="0"/>
              </a:spcAft>
              <a:buNone/>
            </a:pPr>
            <a:endParaRPr sz="1600" b="0" i="0" u="none" strike="noStrike" cap="none" dirty="0">
              <a:solidFill>
                <a:srgbClr val="000000"/>
              </a:solidFill>
              <a:latin typeface="Nunito"/>
              <a:ea typeface="Nunito"/>
              <a:cs typeface="Nunito"/>
              <a:sym typeface="Nunito"/>
            </a:endParaRPr>
          </a:p>
          <a:p>
            <a:pPr marL="0" marR="0" lvl="0" indent="0" algn="l" rtl="0">
              <a:lnSpc>
                <a:spcPct val="100000"/>
              </a:lnSpc>
              <a:spcBef>
                <a:spcPts val="0"/>
              </a:spcBef>
              <a:spcAft>
                <a:spcPts val="0"/>
              </a:spcAft>
              <a:buNone/>
            </a:pPr>
            <a:r>
              <a:rPr lang="en-AU" sz="1600" b="0" i="0" u="none" strike="noStrike" cap="none" dirty="0">
                <a:solidFill>
                  <a:srgbClr val="000000"/>
                </a:solidFill>
                <a:latin typeface="Nunito"/>
                <a:ea typeface="Nunito"/>
                <a:cs typeface="Nunito"/>
                <a:sym typeface="Nunito"/>
              </a:rPr>
              <a:t>Identify biological functions, pathways, or molecular mechanisms that are significantly associated with a subset of biological molecules, such as those that are differentially expressed or mutated in a particular condition.</a:t>
            </a:r>
            <a:endParaRPr dirty="0"/>
          </a:p>
          <a:p>
            <a:pPr marL="0" marR="0" lvl="0" indent="0" algn="l" rtl="0">
              <a:lnSpc>
                <a:spcPct val="100000"/>
              </a:lnSpc>
              <a:spcBef>
                <a:spcPts val="0"/>
              </a:spcBef>
              <a:spcAft>
                <a:spcPts val="0"/>
              </a:spcAft>
              <a:buNone/>
            </a:pPr>
            <a:endParaRPr sz="1600" b="0" i="0" u="none" strike="noStrike" cap="none" dirty="0">
              <a:solidFill>
                <a:srgbClr val="000000"/>
              </a:solidFill>
              <a:latin typeface="Nunito"/>
              <a:ea typeface="Nunito"/>
              <a:cs typeface="Nunito"/>
              <a:sym typeface="Nunito"/>
            </a:endParaRPr>
          </a:p>
        </p:txBody>
      </p:sp>
      <p:sp>
        <p:nvSpPr>
          <p:cNvPr id="55" name="Google Shape;55;g2fc836300ec_4_4"/>
          <p:cNvSpPr txBox="1">
            <a:spLocks noGrp="1"/>
          </p:cNvSpPr>
          <p:nvPr>
            <p:ph type="title"/>
          </p:nvPr>
        </p:nvSpPr>
        <p:spPr>
          <a:xfrm>
            <a:off x="311700" y="156575"/>
            <a:ext cx="8520600" cy="952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dirty="0"/>
              <a:t>Functional enrichment analysis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0bad334051_3_68"/>
          <p:cNvSpPr txBox="1"/>
          <p:nvPr/>
        </p:nvSpPr>
        <p:spPr>
          <a:xfrm>
            <a:off x="658202" y="1397159"/>
            <a:ext cx="8174098" cy="132343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Enrichment analysis</a:t>
            </a:r>
            <a:endParaRPr sz="1600" b="0" i="0" u="none" strike="noStrike" cap="none">
              <a:solidFill>
                <a:srgbClr val="000000"/>
              </a:solidFill>
              <a:latin typeface="Nunito"/>
              <a:ea typeface="Nunito"/>
              <a:cs typeface="Nunito"/>
              <a:sym typeface="Nunito"/>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Pathway analysis</a:t>
            </a:r>
            <a:endParaRPr sz="1600" b="0" i="0" u="none" strike="noStrike" cap="none">
              <a:solidFill>
                <a:srgbClr val="000000"/>
              </a:solidFill>
              <a:latin typeface="Nunito"/>
              <a:ea typeface="Nunito"/>
              <a:cs typeface="Nunito"/>
              <a:sym typeface="Nunito"/>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Pathway enrichment analysis</a:t>
            </a:r>
            <a:endParaRPr sz="1600" b="0" i="0" u="none" strike="noStrike" cap="none">
              <a:solidFill>
                <a:srgbClr val="000000"/>
              </a:solidFill>
              <a:latin typeface="Nunito"/>
              <a:ea typeface="Nunito"/>
              <a:cs typeface="Nunito"/>
              <a:sym typeface="Nunito"/>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Functional annotation analysis</a:t>
            </a:r>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Functional enrichment analysis</a:t>
            </a:r>
            <a:endParaRPr sz="1600" b="0" i="0" u="none" strike="noStrike" cap="none">
              <a:solidFill>
                <a:srgbClr val="000000"/>
              </a:solidFill>
              <a:latin typeface="Nunito"/>
              <a:ea typeface="Nunito"/>
              <a:cs typeface="Nunito"/>
              <a:sym typeface="Nunito"/>
            </a:endParaRPr>
          </a:p>
        </p:txBody>
      </p:sp>
      <p:sp>
        <p:nvSpPr>
          <p:cNvPr id="136" name="Google Shape;136;g30bad334051_3_68"/>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t>Synonyms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0bad334051_3_84"/>
          <p:cNvSpPr txBox="1"/>
          <p:nvPr/>
        </p:nvSpPr>
        <p:spPr>
          <a:xfrm>
            <a:off x="703393" y="1392564"/>
            <a:ext cx="8174098" cy="20312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600" b="0" i="0" u="none" strike="noStrike" cap="none" dirty="0">
                <a:solidFill>
                  <a:srgbClr val="000000"/>
                </a:solidFill>
                <a:latin typeface="Nunito"/>
                <a:ea typeface="Nunito"/>
                <a:cs typeface="Nunito"/>
                <a:sym typeface="Nunito"/>
              </a:rPr>
              <a:t>Post </a:t>
            </a:r>
            <a:r>
              <a:rPr lang="en-AU" sz="1600" b="0" i="0" u="none" strike="noStrike" cap="none" dirty="0">
                <a:solidFill>
                  <a:schemeClr val="tx1"/>
                </a:solidFill>
                <a:latin typeface="Nunito"/>
                <a:ea typeface="Nunito"/>
                <a:cs typeface="Nunito"/>
                <a:sym typeface="Nunito"/>
              </a:rPr>
              <a:t>differential</a:t>
            </a:r>
            <a:r>
              <a:rPr lang="en-AU" sz="1600" b="0" i="0" u="none" strike="noStrike" cap="none" dirty="0">
                <a:solidFill>
                  <a:srgbClr val="000000"/>
                </a:solidFill>
                <a:latin typeface="Nunito"/>
                <a:ea typeface="Nunito"/>
                <a:cs typeface="Nunito"/>
                <a:sym typeface="Nunito"/>
              </a:rPr>
              <a:t> </a:t>
            </a:r>
            <a:r>
              <a:rPr lang="en-AU" sz="1600" b="0" i="0" u="none" strike="noStrike" cap="none" dirty="0">
                <a:solidFill>
                  <a:schemeClr val="dk1"/>
                </a:solidFill>
                <a:latin typeface="Nunito"/>
                <a:ea typeface="Nunito"/>
                <a:cs typeface="Nunito"/>
                <a:sym typeface="Nunito"/>
              </a:rPr>
              <a:t>expression (</a:t>
            </a:r>
            <a:r>
              <a:rPr lang="en-AU" sz="1600" dirty="0">
                <a:solidFill>
                  <a:srgbClr val="FF0000"/>
                </a:solidFill>
                <a:latin typeface="Nunito"/>
                <a:sym typeface="Nunito"/>
              </a:rPr>
              <a:t>omics datasets</a:t>
            </a:r>
            <a:r>
              <a:rPr lang="en-AU" sz="1600" b="0" i="0" u="none" strike="noStrike" cap="none" dirty="0">
                <a:solidFill>
                  <a:schemeClr val="dk1"/>
                </a:solidFill>
                <a:latin typeface="Nunito"/>
                <a:ea typeface="Nunito"/>
                <a:cs typeface="Nunito"/>
                <a:sym typeface="Nunito"/>
              </a:rPr>
              <a:t>)</a:t>
            </a:r>
            <a:r>
              <a:rPr lang="en-AU" sz="1600" b="0" i="0" u="none" strike="noStrike" cap="none" dirty="0">
                <a:solidFill>
                  <a:srgbClr val="000000"/>
                </a:solidFill>
                <a:latin typeface="Nunito"/>
                <a:ea typeface="Nunito"/>
                <a:cs typeface="Nunito"/>
                <a:sym typeface="Nunito"/>
              </a:rPr>
              <a:t> </a:t>
            </a:r>
            <a:br>
              <a:rPr lang="en-AU" sz="1600" b="0" i="0" u="none" strike="noStrike" cap="none" dirty="0">
                <a:solidFill>
                  <a:srgbClr val="000000"/>
                </a:solidFill>
                <a:latin typeface="Nunito"/>
                <a:ea typeface="Nunito"/>
                <a:cs typeface="Nunito"/>
                <a:sym typeface="Nunito"/>
              </a:rPr>
            </a:br>
            <a:endParaRPr dirty="0"/>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000000"/>
                </a:solidFill>
                <a:latin typeface="Nunito"/>
                <a:ea typeface="Nunito"/>
                <a:cs typeface="Nunito"/>
                <a:sym typeface="Nunito"/>
              </a:rPr>
              <a:t>Transcriptomics (high-fat diet vs. low-fat diet)</a:t>
            </a:r>
            <a:endParaRPr dirty="0"/>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000000"/>
                </a:solidFill>
                <a:latin typeface="Nunito"/>
                <a:ea typeface="Nunito"/>
                <a:cs typeface="Nunito"/>
                <a:sym typeface="Nunito"/>
              </a:rPr>
              <a:t>Proteomics</a:t>
            </a:r>
            <a:endParaRPr dirty="0"/>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000000"/>
                </a:solidFill>
                <a:latin typeface="Nunito"/>
                <a:ea typeface="Nunito"/>
                <a:cs typeface="Nunito"/>
                <a:sym typeface="Nunito"/>
              </a:rPr>
              <a:t>Metabolomics/Lipidomics</a:t>
            </a:r>
            <a:endParaRPr sz="1600" b="0" i="0" u="none" strike="noStrike" cap="none" dirty="0">
              <a:solidFill>
                <a:srgbClr val="000000"/>
              </a:solidFill>
              <a:latin typeface="Nunito"/>
              <a:ea typeface="Nunito"/>
              <a:cs typeface="Nunito"/>
              <a:sym typeface="Nunito"/>
            </a:endParaRPr>
          </a:p>
          <a:p>
            <a:pPr marL="285750" lvl="0" indent="-285750">
              <a:buSzPts val="1600"/>
              <a:buFont typeface="Arial"/>
              <a:buChar char="•"/>
            </a:pPr>
            <a:r>
              <a:rPr lang="en-AU" sz="1600" dirty="0">
                <a:latin typeface="Nunito"/>
                <a:sym typeface="Nunito"/>
              </a:rPr>
              <a:t>Epigenomics (c</a:t>
            </a:r>
            <a:r>
              <a:rPr lang="en-AU" sz="1600" dirty="0">
                <a:latin typeface="Nunito"/>
              </a:rPr>
              <a:t>ancer vs. normal cells</a:t>
            </a:r>
            <a:r>
              <a:rPr lang="en-AU" sz="1600" dirty="0">
                <a:latin typeface="Nunito"/>
                <a:sym typeface="Nunito"/>
              </a:rPr>
              <a:t>)</a:t>
            </a:r>
          </a:p>
          <a:p>
            <a:pPr marL="285750" lvl="0" indent="-285750">
              <a:buSzPts val="1600"/>
              <a:buFont typeface="Arial"/>
              <a:buChar char="•"/>
            </a:pPr>
            <a:r>
              <a:rPr lang="en-AU" sz="1600" dirty="0">
                <a:latin typeface="Nunito"/>
                <a:sym typeface="Nunito"/>
              </a:rPr>
              <a:t>GWAS</a:t>
            </a:r>
            <a:endParaRPr sz="1600" dirty="0">
              <a:latin typeface="Nunito"/>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000000"/>
                </a:solidFill>
                <a:latin typeface="Nunito"/>
                <a:ea typeface="Nunito"/>
                <a:cs typeface="Nunito"/>
                <a:sym typeface="Nunito"/>
              </a:rPr>
              <a:t>…</a:t>
            </a:r>
            <a:endParaRPr dirty="0"/>
          </a:p>
        </p:txBody>
      </p:sp>
      <p:sp>
        <p:nvSpPr>
          <p:cNvPr id="148" name="Google Shape;148;g30bad334051_3_84"/>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t>Functional enrichment analysis:</a:t>
            </a:r>
            <a:br>
              <a:rPr lang="en-AU"/>
            </a:br>
            <a:r>
              <a:rPr lang="en-AU"/>
              <a:t>when?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30bad334051_3_76"/>
          <p:cNvSpPr txBox="1"/>
          <p:nvPr/>
        </p:nvSpPr>
        <p:spPr>
          <a:xfrm>
            <a:off x="703393" y="1392564"/>
            <a:ext cx="8174098" cy="10771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600" b="0" i="0" u="none" strike="noStrike" cap="none" dirty="0">
                <a:solidFill>
                  <a:srgbClr val="000000"/>
                </a:solidFill>
                <a:latin typeface="Nunito"/>
                <a:ea typeface="Nunito"/>
                <a:cs typeface="Nunito"/>
                <a:sym typeface="Nunito"/>
              </a:rPr>
              <a:t>Once a </a:t>
            </a:r>
            <a:r>
              <a:rPr lang="en-AU" sz="1600" b="0" i="0" u="none" strike="noStrike" cap="none" dirty="0">
                <a:solidFill>
                  <a:srgbClr val="FF0000"/>
                </a:solidFill>
                <a:latin typeface="Nunito"/>
                <a:ea typeface="Nunito"/>
                <a:cs typeface="Nunito"/>
                <a:sym typeface="Nunito"/>
              </a:rPr>
              <a:t>large-scale omics study </a:t>
            </a:r>
            <a:r>
              <a:rPr lang="en-AU" sz="1600" b="0" i="0" u="none" strike="noStrike" cap="none" dirty="0">
                <a:solidFill>
                  <a:srgbClr val="000000"/>
                </a:solidFill>
                <a:latin typeface="Nunito"/>
                <a:ea typeface="Nunito"/>
                <a:cs typeface="Nunito"/>
                <a:sym typeface="Nunito"/>
              </a:rPr>
              <a:t>undertaken:</a:t>
            </a:r>
            <a:endParaRPr dirty="0"/>
          </a:p>
          <a:p>
            <a:pPr marL="285750" lvl="0" indent="-285750">
              <a:buSzPts val="1600"/>
              <a:buFont typeface="Arial"/>
              <a:buChar char="•"/>
            </a:pPr>
            <a:r>
              <a:rPr lang="en-AU" sz="1600" b="0" i="0" u="none" strike="noStrike" cap="none" dirty="0">
                <a:solidFill>
                  <a:srgbClr val="000000"/>
                </a:solidFill>
                <a:latin typeface="Nunito"/>
                <a:ea typeface="Nunito"/>
                <a:cs typeface="Nunito"/>
                <a:sym typeface="Nunito"/>
              </a:rPr>
              <a:t>Summarise long list of many significant genes/</a:t>
            </a:r>
            <a:r>
              <a:rPr lang="en-AU" sz="1600" dirty="0">
                <a:latin typeface="Nunito"/>
                <a:ea typeface="Nunito"/>
                <a:cs typeface="Nunito"/>
                <a:sym typeface="Nunito"/>
              </a:rPr>
              <a:t>proteins into meaningful biological insights</a:t>
            </a: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000000"/>
                </a:solidFill>
                <a:latin typeface="Nunito"/>
                <a:ea typeface="Nunito"/>
                <a:cs typeface="Nunito"/>
                <a:sym typeface="Nunito"/>
              </a:rPr>
              <a:t>Hypothesis generation</a:t>
            </a:r>
            <a:endParaRPr dirty="0"/>
          </a:p>
        </p:txBody>
      </p:sp>
      <p:sp>
        <p:nvSpPr>
          <p:cNvPr id="142" name="Google Shape;142;g30bad334051_3_76"/>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t>Functional enrichment analysis:</a:t>
            </a:r>
            <a:br>
              <a:rPr lang="en-AU"/>
            </a:br>
            <a:r>
              <a:rPr lang="en-AU"/>
              <a:t>why?</a:t>
            </a:r>
            <a:endParaRPr/>
          </a:p>
        </p:txBody>
      </p:sp>
      <p:sp>
        <p:nvSpPr>
          <p:cNvPr id="4" name="Google Shape;260;p33">
            <a:extLst>
              <a:ext uri="{FF2B5EF4-FFF2-40B4-BE49-F238E27FC236}">
                <a16:creationId xmlns:a16="http://schemas.microsoft.com/office/drawing/2014/main" id="{9D5510E2-7CA4-20A5-F99B-7E6A41F24362}"/>
              </a:ext>
            </a:extLst>
          </p:cNvPr>
          <p:cNvSpPr/>
          <p:nvPr/>
        </p:nvSpPr>
        <p:spPr>
          <a:xfrm>
            <a:off x="186274" y="2987826"/>
            <a:ext cx="8771452" cy="1171479"/>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AU" sz="1600" dirty="0">
                <a:latin typeface="Nunito" pitchFamily="2" charset="77"/>
              </a:rPr>
              <a:t>FEA doesn’t </a:t>
            </a:r>
            <a:r>
              <a:rPr lang="en-AU" sz="1600" i="1" dirty="0">
                <a:latin typeface="Nunito" pitchFamily="2" charset="77"/>
              </a:rPr>
              <a:t>prove</a:t>
            </a:r>
            <a:r>
              <a:rPr lang="en-AU" sz="1600" dirty="0">
                <a:latin typeface="Nunito" pitchFamily="2" charset="77"/>
              </a:rPr>
              <a:t> mechanisms; it </a:t>
            </a:r>
            <a:r>
              <a:rPr lang="en-AU" sz="1600" i="1" dirty="0">
                <a:latin typeface="Nunito" pitchFamily="2" charset="77"/>
              </a:rPr>
              <a:t>points to them</a:t>
            </a:r>
            <a:r>
              <a:rPr lang="en-AU" sz="1600" dirty="0">
                <a:latin typeface="Nunito" pitchFamily="2" charset="77"/>
              </a:rPr>
              <a:t>.</a:t>
            </a:r>
            <a:br>
              <a:rPr lang="en-AU" sz="1600" dirty="0">
                <a:latin typeface="Nunito" pitchFamily="2" charset="77"/>
              </a:rPr>
            </a:br>
            <a:r>
              <a:rPr lang="en-AU" sz="1600" dirty="0">
                <a:latin typeface="Nunito" pitchFamily="2" charset="77"/>
              </a:rPr>
              <a:t>It helps you move from</a:t>
            </a:r>
          </a:p>
          <a:p>
            <a:r>
              <a:rPr lang="en-AU" sz="1600" dirty="0">
                <a:latin typeface="Nunito" pitchFamily="2" charset="77"/>
              </a:rPr>
              <a:t>“What genes changed?” → to “What might be happening biologically, and how can I test it?”</a:t>
            </a:r>
            <a:endParaRPr lang="en-US" sz="1600" dirty="0">
              <a:latin typeface="Nunito"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0bad334051_3_92"/>
          <p:cNvSpPr txBox="1"/>
          <p:nvPr/>
        </p:nvSpPr>
        <p:spPr>
          <a:xfrm>
            <a:off x="703393" y="1392564"/>
            <a:ext cx="3537769"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600" b="0" i="0" u="none" strike="noStrike" cap="none">
                <a:solidFill>
                  <a:srgbClr val="000000"/>
                </a:solidFill>
                <a:latin typeface="Nunito"/>
                <a:ea typeface="Nunito"/>
                <a:cs typeface="Nunito"/>
                <a:sym typeface="Nunito"/>
              </a:rPr>
              <a:t>Data captured from an </a:t>
            </a:r>
            <a:r>
              <a:rPr lang="en-AU" sz="1600" b="0" i="0" u="none" strike="noStrike" cap="none">
                <a:solidFill>
                  <a:srgbClr val="FF0000"/>
                </a:solidFill>
                <a:latin typeface="Nunito"/>
                <a:ea typeface="Nunito"/>
                <a:cs typeface="Nunito"/>
                <a:sym typeface="Nunito"/>
              </a:rPr>
              <a:t>-omics </a:t>
            </a:r>
            <a:r>
              <a:rPr lang="en-AU" sz="1600" b="0" i="0" u="none" strike="noStrike" cap="none">
                <a:solidFill>
                  <a:srgbClr val="000000"/>
                </a:solidFill>
                <a:latin typeface="Nunito"/>
                <a:ea typeface="Nunito"/>
                <a:cs typeface="Nunito"/>
                <a:sym typeface="Nunito"/>
              </a:rPr>
              <a:t>study</a:t>
            </a:r>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List of features</a:t>
            </a:r>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Background set</a:t>
            </a:r>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Ranked list</a:t>
            </a:r>
            <a:endParaRPr/>
          </a:p>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a:solidFill>
                  <a:srgbClr val="000000"/>
                </a:solidFill>
                <a:latin typeface="Nunito"/>
                <a:ea typeface="Nunito"/>
                <a:cs typeface="Nunito"/>
                <a:sym typeface="Nunito"/>
              </a:rPr>
              <a:t>Gene sets</a:t>
            </a:r>
            <a:endParaRPr/>
          </a:p>
        </p:txBody>
      </p:sp>
      <p:sp>
        <p:nvSpPr>
          <p:cNvPr id="154" name="Google Shape;154;g30bad334051_3_92"/>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t>Functional enrichment analysis:</a:t>
            </a:r>
            <a:br>
              <a:rPr lang="en-AU"/>
            </a:br>
            <a:r>
              <a:rPr lang="en-AU"/>
              <a:t>Input data?</a:t>
            </a:r>
            <a:endParaRPr/>
          </a:p>
        </p:txBody>
      </p:sp>
      <p:graphicFrame>
        <p:nvGraphicFramePr>
          <p:cNvPr id="155" name="Google Shape;155;g30bad334051_3_92"/>
          <p:cNvGraphicFramePr/>
          <p:nvPr/>
        </p:nvGraphicFramePr>
        <p:xfrm>
          <a:off x="5743645" y="1392563"/>
          <a:ext cx="1098675" cy="3262000"/>
        </p:xfrm>
        <a:graphic>
          <a:graphicData uri="http://schemas.openxmlformats.org/drawingml/2006/table">
            <a:tbl>
              <a:tblPr>
                <a:noFill/>
                <a:tableStyleId>{58E360BE-9E8C-47FA-9224-D54531E0FC42}</a:tableStyleId>
              </a:tblPr>
              <a:tblGrid>
                <a:gridCol w="366225">
                  <a:extLst>
                    <a:ext uri="{9D8B030D-6E8A-4147-A177-3AD203B41FA5}">
                      <a16:colId xmlns:a16="http://schemas.microsoft.com/office/drawing/2014/main" val="20000"/>
                    </a:ext>
                  </a:extLst>
                </a:gridCol>
                <a:gridCol w="366225">
                  <a:extLst>
                    <a:ext uri="{9D8B030D-6E8A-4147-A177-3AD203B41FA5}">
                      <a16:colId xmlns:a16="http://schemas.microsoft.com/office/drawing/2014/main" val="20001"/>
                    </a:ext>
                  </a:extLst>
                </a:gridCol>
                <a:gridCol w="366225">
                  <a:extLst>
                    <a:ext uri="{9D8B030D-6E8A-4147-A177-3AD203B41FA5}">
                      <a16:colId xmlns:a16="http://schemas.microsoft.com/office/drawing/2014/main" val="20002"/>
                    </a:ext>
                  </a:extLst>
                </a:gridCol>
              </a:tblGrid>
              <a:tr h="101425">
                <a:tc>
                  <a:txBody>
                    <a:bodyPr/>
                    <a:lstStyle/>
                    <a:p>
                      <a:pPr marL="0" marR="0" lvl="0" indent="0" algn="l" rtl="0">
                        <a:lnSpc>
                          <a:spcPct val="100000"/>
                        </a:lnSpc>
                        <a:spcBef>
                          <a:spcPts val="0"/>
                        </a:spcBef>
                        <a:spcAft>
                          <a:spcPts val="0"/>
                        </a:spcAft>
                        <a:buNone/>
                      </a:pPr>
                      <a:r>
                        <a:rPr lang="en-AU" sz="500" b="1" i="0" u="none" strike="noStrike" cap="none">
                          <a:solidFill>
                            <a:srgbClr val="000000"/>
                          </a:solidFill>
                          <a:latin typeface="Calibri"/>
                          <a:ea typeface="Calibri"/>
                          <a:cs typeface="Calibri"/>
                          <a:sym typeface="Calibri"/>
                        </a:rPr>
                        <a:t>Gene</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B05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1" i="0" u="none" strike="noStrike" cap="none">
                          <a:solidFill>
                            <a:srgbClr val="000000"/>
                          </a:solidFill>
                          <a:latin typeface="Calibri"/>
                          <a:ea typeface="Calibri"/>
                          <a:cs typeface="Calibri"/>
                          <a:sym typeface="Calibri"/>
                        </a:rPr>
                        <a:t>FC</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B05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1" i="0" u="none" strike="noStrike" cap="none">
                          <a:solidFill>
                            <a:srgbClr val="000000"/>
                          </a:solidFill>
                          <a:latin typeface="Calibri"/>
                          <a:ea typeface="Calibri"/>
                          <a:cs typeface="Calibri"/>
                          <a:sym typeface="Calibri"/>
                        </a:rPr>
                        <a:t>p-value</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B050"/>
                      </a:solidFill>
                      <a:prstDash val="solid"/>
                      <a:round/>
                      <a:headEnd type="none" w="sm" len="sm"/>
                      <a:tailEnd type="none" w="sm" len="sm"/>
                    </a:lnB>
                  </a:tcPr>
                </a:tc>
                <a:extLst>
                  <a:ext uri="{0D108BD9-81ED-4DB2-BD59-A6C34878D82A}">
                    <a16:rowId xmlns:a16="http://schemas.microsoft.com/office/drawing/2014/main" val="1000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ADAR</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12700" cap="flat" cmpd="sng">
                      <a:solidFill>
                        <a:srgbClr val="00B05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2.57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12700" cap="flat" cmpd="sng">
                      <a:solidFill>
                        <a:srgbClr val="00B05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2.34E-06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B05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ACADSB</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2.53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0.000634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ADH1B</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2.48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0.00574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ABCC4</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2.17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0.00249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ACLY</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2.02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1.98E-05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ACP2</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1.94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3.75E-05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ACAD9</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1.88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8.50E-06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ACTG2</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1.85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0.00507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ACE</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1.82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0.025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ADPRHL2</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1.79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0.00156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ACP1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1.55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0.00273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ADSL</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1.43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0.000453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A2M</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1.35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0.00283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3"/>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AEBP1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1.28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4"/>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AAK1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-1.09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0.0238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5"/>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ACAA2</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-1.11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0.0156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6"/>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ABCF1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-1.28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0.00147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7"/>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A1BG</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-1.34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5.15E-05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8"/>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ACOX3</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-1.41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0.0197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ACIN1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-1.64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2.57E-05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ACAD8</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-1.69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0.0116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ABHD10</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-1.77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0.00182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ACAA1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-1.84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0.00414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3"/>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ACSL3</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-1.91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0.00166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4"/>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ABHD14B</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-1.97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0.024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5"/>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ACBD3</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-2.12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0.000444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6"/>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ABAT</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-2.15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0.00403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7"/>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ACSM3</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-2.28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0.000703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8"/>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ACSL1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-2.68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0.000584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9"/>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ACY1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-2.72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2.61E-05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ACACA</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-2.92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0.000124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ACSS1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-3.04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2.16E-05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ABHD11</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-3.66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3.81E-06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3"/>
                  </a:ext>
                </a:extLst>
              </a:tr>
            </a:tbl>
          </a:graphicData>
        </a:graphic>
      </p:graphicFrame>
      <p:graphicFrame>
        <p:nvGraphicFramePr>
          <p:cNvPr id="156" name="Google Shape;156;g30bad334051_3_92"/>
          <p:cNvGraphicFramePr/>
          <p:nvPr/>
        </p:nvGraphicFramePr>
        <p:xfrm>
          <a:off x="7136088" y="1392849"/>
          <a:ext cx="997275" cy="3262000"/>
        </p:xfrm>
        <a:graphic>
          <a:graphicData uri="http://schemas.openxmlformats.org/drawingml/2006/table">
            <a:tbl>
              <a:tblPr>
                <a:noFill/>
                <a:tableStyleId>{58E360BE-9E8C-47FA-9224-D54531E0FC42}</a:tableStyleId>
              </a:tblPr>
              <a:tblGrid>
                <a:gridCol w="443500">
                  <a:extLst>
                    <a:ext uri="{9D8B030D-6E8A-4147-A177-3AD203B41FA5}">
                      <a16:colId xmlns:a16="http://schemas.microsoft.com/office/drawing/2014/main" val="20000"/>
                    </a:ext>
                  </a:extLst>
                </a:gridCol>
                <a:gridCol w="553775">
                  <a:extLst>
                    <a:ext uri="{9D8B030D-6E8A-4147-A177-3AD203B41FA5}">
                      <a16:colId xmlns:a16="http://schemas.microsoft.com/office/drawing/2014/main" val="20001"/>
                    </a:ext>
                  </a:extLst>
                </a:gridCol>
              </a:tblGrid>
              <a:tr h="101425">
                <a:tc>
                  <a:txBody>
                    <a:bodyPr/>
                    <a:lstStyle/>
                    <a:p>
                      <a:pPr marL="0" marR="0" lvl="0" indent="0" algn="l" rtl="0">
                        <a:lnSpc>
                          <a:spcPct val="100000"/>
                        </a:lnSpc>
                        <a:spcBef>
                          <a:spcPts val="0"/>
                        </a:spcBef>
                        <a:spcAft>
                          <a:spcPts val="0"/>
                        </a:spcAft>
                        <a:buNone/>
                      </a:pPr>
                      <a:r>
                        <a:rPr lang="en-AU" sz="500" b="1" i="0" u="none" strike="noStrike" cap="none">
                          <a:solidFill>
                            <a:srgbClr val="000000"/>
                          </a:solidFill>
                          <a:latin typeface="Calibri"/>
                          <a:ea typeface="Calibri"/>
                          <a:cs typeface="Calibri"/>
                          <a:sym typeface="Calibri"/>
                        </a:rPr>
                        <a:t>Gene</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B05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en-AU" sz="500" b="1" i="0" u="none" strike="noStrike" cap="none">
                          <a:solidFill>
                            <a:srgbClr val="000000"/>
                          </a:solidFill>
                          <a:latin typeface="Calibri"/>
                          <a:ea typeface="Calibri"/>
                          <a:cs typeface="Calibri"/>
                          <a:sym typeface="Calibri"/>
                        </a:rPr>
                        <a:t>Rank</a:t>
                      </a:r>
                      <a:endParaRPr/>
                    </a:p>
                  </a:txBody>
                  <a:tcPr marL="4225" marR="4225" marT="4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B05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ACLY</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12700" cap="flat" cmpd="sng">
                      <a:solidFill>
                        <a:srgbClr val="00B05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12.0898294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B050"/>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ACP1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9.85374061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ABCC4</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9.48401106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ACE</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7.11197165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ADH1B</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6.62515224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ADAR</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6.59826379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AEBP1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6.53661481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ACP2</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6.37936782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ACAD9</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6.28101832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ADPRHL2</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6.20646376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ACAA1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6.14771005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ABAT</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5.92969843</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ACTG2</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5.89740654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ABHD11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5.86732359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ADSL</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5.74621125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A2M</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5.63339695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ACADSB</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5.52810629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ABHD14B</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-6.2311846</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ACAD8</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-6.3208579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ACSM3</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-6.386081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ABHD10</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-6.4047445</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A1BG</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-6.441692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ACY1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-6.5349181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AAK1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-6.6426254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ACIN1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-6.9649449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5"/>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ABCF1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-7.1039408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6"/>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ACOX3</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-7.1751947</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7"/>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ACSL3</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-7.220302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8"/>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ACAA2</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-7.800639</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29"/>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ACSL1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-8.0151174</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30"/>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ACBD3</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-8.5603888</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31"/>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ACSS1</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-1.00E+01</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32"/>
                  </a:ext>
                </a:extLst>
              </a:tr>
              <a:tr h="95775">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ACACA</a:t>
                      </a:r>
                      <a:endParaRPr/>
                    </a:p>
                  </a:txBody>
                  <a:tcPr marL="4225" marR="4225" marT="4225" marB="0" anchor="b">
                    <a:lnL w="9525" cap="flat" cmpd="sng">
                      <a:solidFill>
                        <a:srgbClr val="000000">
                          <a:alpha val="0"/>
                        </a:srgbClr>
                      </a:solidFill>
                      <a:prstDash val="solid"/>
                      <a:round/>
                      <a:headEnd type="none" w="sm" len="sm"/>
                      <a:tailEnd type="none" w="sm" len="sm"/>
                    </a:lnL>
                    <a:lnR w="9525" cap="flat" cmpd="sng">
                      <a:solidFill>
                        <a:srgbClr val="00B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500" b="0" i="0" u="none" strike="noStrike" cap="none">
                          <a:solidFill>
                            <a:srgbClr val="000000"/>
                          </a:solidFill>
                          <a:latin typeface="Calibri"/>
                          <a:ea typeface="Calibri"/>
                          <a:cs typeface="Calibri"/>
                          <a:sym typeface="Calibri"/>
                        </a:rPr>
                        <a:t>-10.204292</a:t>
                      </a:r>
                      <a:endParaRPr/>
                    </a:p>
                  </a:txBody>
                  <a:tcPr marL="4225" marR="4225" marT="4225" marB="0" anchor="ctr">
                    <a:lnL w="9525" cap="flat" cmpd="sng">
                      <a:solidFill>
                        <a:srgbClr val="00B05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33"/>
                  </a:ext>
                </a:extLst>
              </a:tr>
            </a:tbl>
          </a:graphicData>
        </a:graphic>
      </p:graphicFrame>
      <p:graphicFrame>
        <p:nvGraphicFramePr>
          <p:cNvPr id="157" name="Google Shape;157;g30bad334051_3_92"/>
          <p:cNvGraphicFramePr/>
          <p:nvPr/>
        </p:nvGraphicFramePr>
        <p:xfrm>
          <a:off x="576768" y="3154563"/>
          <a:ext cx="4821250" cy="952650"/>
        </p:xfrm>
        <a:graphic>
          <a:graphicData uri="http://schemas.openxmlformats.org/drawingml/2006/table">
            <a:tbl>
              <a:tblPr>
                <a:noFill/>
                <a:tableStyleId>{58E360BE-9E8C-47FA-9224-D54531E0FC42}</a:tableStyleId>
              </a:tblPr>
              <a:tblGrid>
                <a:gridCol w="1915150">
                  <a:extLst>
                    <a:ext uri="{9D8B030D-6E8A-4147-A177-3AD203B41FA5}">
                      <a16:colId xmlns:a16="http://schemas.microsoft.com/office/drawing/2014/main" val="20000"/>
                    </a:ext>
                  </a:extLst>
                </a:gridCol>
                <a:gridCol w="484350">
                  <a:extLst>
                    <a:ext uri="{9D8B030D-6E8A-4147-A177-3AD203B41FA5}">
                      <a16:colId xmlns:a16="http://schemas.microsoft.com/office/drawing/2014/main" val="20001"/>
                    </a:ext>
                  </a:extLst>
                </a:gridCol>
                <a:gridCol w="484350">
                  <a:extLst>
                    <a:ext uri="{9D8B030D-6E8A-4147-A177-3AD203B41FA5}">
                      <a16:colId xmlns:a16="http://schemas.microsoft.com/office/drawing/2014/main" val="20002"/>
                    </a:ext>
                  </a:extLst>
                </a:gridCol>
                <a:gridCol w="484350">
                  <a:extLst>
                    <a:ext uri="{9D8B030D-6E8A-4147-A177-3AD203B41FA5}">
                      <a16:colId xmlns:a16="http://schemas.microsoft.com/office/drawing/2014/main" val="20003"/>
                    </a:ext>
                  </a:extLst>
                </a:gridCol>
                <a:gridCol w="484350">
                  <a:extLst>
                    <a:ext uri="{9D8B030D-6E8A-4147-A177-3AD203B41FA5}">
                      <a16:colId xmlns:a16="http://schemas.microsoft.com/office/drawing/2014/main" val="20004"/>
                    </a:ext>
                  </a:extLst>
                </a:gridCol>
                <a:gridCol w="484350">
                  <a:extLst>
                    <a:ext uri="{9D8B030D-6E8A-4147-A177-3AD203B41FA5}">
                      <a16:colId xmlns:a16="http://schemas.microsoft.com/office/drawing/2014/main" val="20005"/>
                    </a:ext>
                  </a:extLst>
                </a:gridCol>
                <a:gridCol w="484350">
                  <a:extLst>
                    <a:ext uri="{9D8B030D-6E8A-4147-A177-3AD203B41FA5}">
                      <a16:colId xmlns:a16="http://schemas.microsoft.com/office/drawing/2014/main" val="20006"/>
                    </a:ext>
                  </a:extLst>
                </a:gridCol>
              </a:tblGrid>
              <a:tr h="158775">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HALLMARK_ADIPOGENESIS</a:t>
                      </a:r>
                      <a:endParaRPr/>
                    </a:p>
                  </a:txBody>
                  <a:tcPr marL="9125" marR="9125" marT="9125"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https://</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ABCA1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ABCB8</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dirty="0">
                          <a:solidFill>
                            <a:srgbClr val="000000"/>
                          </a:solidFill>
                          <a:latin typeface="Calibri"/>
                          <a:ea typeface="Calibri"/>
                          <a:cs typeface="Calibri"/>
                          <a:sym typeface="Calibri"/>
                        </a:rPr>
                        <a:t>ACAA2</a:t>
                      </a:r>
                      <a:endParaRPr dirty="0"/>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 </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 </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58775">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HALLMARK_ALLOGRAFT_REJECTION</a:t>
                      </a:r>
                      <a:endParaRPr/>
                    </a:p>
                  </a:txBody>
                  <a:tcPr marL="9125" marR="9125" marT="9125"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https://</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AARS1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ABCE1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ABI1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ACHE</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 </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58775">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HALLMARK_ANDROGEN_RESPONSE</a:t>
                      </a:r>
                      <a:endParaRPr/>
                    </a:p>
                  </a:txBody>
                  <a:tcPr marL="9125" marR="9125" marT="9125"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https://</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ABCC4</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ABHD2</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ACSL3</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800" b="0" i="0" u="none" strike="noStrike" cap="none">
                        <a:solidFill>
                          <a:srgbClr val="000000"/>
                        </a:solidFill>
                        <a:latin typeface="Calibri"/>
                        <a:ea typeface="Calibri"/>
                        <a:cs typeface="Calibri"/>
                        <a:sym typeface="Calibri"/>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 </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58775">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HALLMARK_ANGIOGENESIS</a:t>
                      </a:r>
                      <a:endParaRPr/>
                    </a:p>
                  </a:txBody>
                  <a:tcPr marL="9125" marR="9125" marT="9125"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https://</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APOH</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APP</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CCND2</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COL3A1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COL5A2</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58775">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HALLMARK_APICAL_JUNCTION</a:t>
                      </a:r>
                      <a:endParaRPr/>
                    </a:p>
                  </a:txBody>
                  <a:tcPr marL="9125" marR="9125" marT="9125"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https://</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ACTA1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ACTB</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ACTC1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ACTG1</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 </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58775">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HALLMARK_APICAL_SURFACE</a:t>
                      </a:r>
                      <a:endParaRPr/>
                    </a:p>
                  </a:txBody>
                  <a:tcPr marL="9125" marR="9125" marT="9125" marB="0" anchor="b">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Nunito"/>
                          <a:ea typeface="Nunito"/>
                          <a:cs typeface="Nunito"/>
                          <a:sym typeface="Nunito"/>
                        </a:rPr>
                        <a:t>https://</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ADAM10</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ADIPOR2</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AFAP1L2</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a:solidFill>
                            <a:srgbClr val="000000"/>
                          </a:solidFill>
                          <a:latin typeface="Calibri"/>
                          <a:ea typeface="Calibri"/>
                          <a:cs typeface="Calibri"/>
                          <a:sym typeface="Calibri"/>
                        </a:rPr>
                        <a:t> </a:t>
                      </a:r>
                      <a:endParaRPr/>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800" b="0" i="0" u="none" strike="noStrike" cap="none" dirty="0">
                          <a:solidFill>
                            <a:srgbClr val="000000"/>
                          </a:solidFill>
                          <a:latin typeface="Calibri"/>
                          <a:ea typeface="Calibri"/>
                          <a:cs typeface="Calibri"/>
                          <a:sym typeface="Calibri"/>
                        </a:rPr>
                        <a:t> </a:t>
                      </a:r>
                      <a:endParaRPr dirty="0"/>
                    </a:p>
                  </a:txBody>
                  <a:tcPr marL="9125" marR="9125" marT="9125" marB="0" anchor="b">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30bad334051_3_103"/>
          <p:cNvSpPr txBox="1"/>
          <p:nvPr/>
        </p:nvSpPr>
        <p:spPr>
          <a:xfrm>
            <a:off x="703393" y="1392564"/>
            <a:ext cx="8174098" cy="20620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0" i="0" u="none" strike="noStrike" cap="none" dirty="0">
              <a:solidFill>
                <a:srgbClr val="1B243B"/>
              </a:solidFill>
              <a:latin typeface="Nunito"/>
              <a:ea typeface="Nunito"/>
              <a:cs typeface="Nunito"/>
              <a:sym typeface="Nunito"/>
            </a:endParaRPr>
          </a:p>
          <a:p>
            <a:pPr marL="342900" marR="0" lvl="0" indent="-342900" algn="l" rtl="0">
              <a:lnSpc>
                <a:spcPct val="100000"/>
              </a:lnSpc>
              <a:spcBef>
                <a:spcPts val="0"/>
              </a:spcBef>
              <a:spcAft>
                <a:spcPts val="0"/>
              </a:spcAft>
              <a:buClr>
                <a:srgbClr val="000000"/>
              </a:buClr>
              <a:buSzPts val="1600"/>
              <a:buFont typeface="Noto Sans Symbols"/>
              <a:buChar char="∙"/>
            </a:pPr>
            <a:r>
              <a:rPr lang="en-AU" sz="1600" b="0" i="0" u="none" strike="noStrike" cap="none" dirty="0">
                <a:solidFill>
                  <a:srgbClr val="1B243B"/>
                </a:solidFill>
                <a:latin typeface="Nunito"/>
                <a:ea typeface="Nunito"/>
                <a:cs typeface="Nunito"/>
                <a:sym typeface="Nunito"/>
              </a:rPr>
              <a:t>Gene list (input set)</a:t>
            </a:r>
          </a:p>
          <a:p>
            <a:pPr marL="342900" indent="-342900">
              <a:buSzPts val="1600"/>
              <a:buFont typeface="Noto Sans Symbols"/>
              <a:buChar char="∙"/>
            </a:pPr>
            <a:r>
              <a:rPr lang="en-AU" sz="1600" dirty="0">
                <a:solidFill>
                  <a:srgbClr val="1B243B"/>
                </a:solidFill>
                <a:latin typeface="Nunito"/>
                <a:ea typeface="Nunito"/>
                <a:cs typeface="Nunito"/>
                <a:sym typeface="Nunito"/>
              </a:rPr>
              <a:t>Background set</a:t>
            </a:r>
          </a:p>
          <a:p>
            <a:pPr marL="342900" indent="-342900">
              <a:buSzPts val="1600"/>
              <a:buFont typeface="Noto Sans Symbols"/>
              <a:buChar char="∙"/>
            </a:pPr>
            <a:r>
              <a:rPr lang="en-AU" sz="1600" dirty="0">
                <a:solidFill>
                  <a:srgbClr val="1B243B"/>
                </a:solidFill>
                <a:latin typeface="Nunito"/>
                <a:ea typeface="Nunito"/>
                <a:cs typeface="Nunito"/>
                <a:sym typeface="Nunito"/>
              </a:rPr>
              <a:t>Gene set</a:t>
            </a:r>
            <a:endParaRPr lang="en-AU" sz="1600" b="0" i="0" u="none" strike="noStrike" cap="none" dirty="0">
              <a:solidFill>
                <a:srgbClr val="1B243B"/>
              </a:solidFill>
              <a:latin typeface="Nunito"/>
              <a:ea typeface="Nunito"/>
              <a:cs typeface="Nunito"/>
              <a:sym typeface="Nunito"/>
            </a:endParaRPr>
          </a:p>
          <a:p>
            <a:pPr marL="342900" indent="-342900">
              <a:buSzPts val="1600"/>
              <a:buFont typeface="Noto Sans Symbols"/>
              <a:buChar char="∙"/>
            </a:pPr>
            <a:r>
              <a:rPr lang="en-AU" sz="1600" dirty="0">
                <a:solidFill>
                  <a:srgbClr val="1B243B"/>
                </a:solidFill>
                <a:latin typeface="Nunito"/>
                <a:ea typeface="Nunito"/>
                <a:cs typeface="Nunito"/>
                <a:sym typeface="Nunito"/>
              </a:rPr>
              <a:t>Annotation database</a:t>
            </a:r>
            <a:endParaRPr sz="1600" b="0" i="0" u="none" strike="noStrike" cap="none" dirty="0">
              <a:solidFill>
                <a:srgbClr val="1B243B"/>
              </a:solidFill>
              <a:latin typeface="Nunito"/>
              <a:ea typeface="Nunito"/>
              <a:cs typeface="Nunito"/>
              <a:sym typeface="Nunito"/>
            </a:endParaRPr>
          </a:p>
          <a:p>
            <a:pPr marL="342900" marR="0" lvl="0" indent="-342900" algn="l" rtl="0">
              <a:lnSpc>
                <a:spcPct val="100000"/>
              </a:lnSpc>
              <a:spcBef>
                <a:spcPts val="0"/>
              </a:spcBef>
              <a:spcAft>
                <a:spcPts val="0"/>
              </a:spcAft>
              <a:buClr>
                <a:srgbClr val="000000"/>
              </a:buClr>
              <a:buSzPts val="1600"/>
              <a:buFont typeface="Noto Sans Symbols"/>
              <a:buChar char="∙"/>
            </a:pPr>
            <a:r>
              <a:rPr lang="en-AU" sz="1600" b="0" i="0" u="none" strike="noStrike" cap="none" dirty="0">
                <a:solidFill>
                  <a:srgbClr val="1B243B"/>
                </a:solidFill>
                <a:latin typeface="Nunito"/>
                <a:ea typeface="Nunito"/>
                <a:cs typeface="Nunito"/>
                <a:sym typeface="Nunito"/>
              </a:rPr>
              <a:t>P-value and false discovery rate (FDR)</a:t>
            </a:r>
            <a:endParaRPr dirty="0"/>
          </a:p>
          <a:p>
            <a:pPr marL="342900" marR="0" lvl="0" indent="-342900" algn="l" rtl="0">
              <a:lnSpc>
                <a:spcPct val="100000"/>
              </a:lnSpc>
              <a:spcBef>
                <a:spcPts val="0"/>
              </a:spcBef>
              <a:spcAft>
                <a:spcPts val="0"/>
              </a:spcAft>
              <a:buClr>
                <a:srgbClr val="000000"/>
              </a:buClr>
              <a:buSzPts val="1600"/>
              <a:buFont typeface="Noto Sans Symbols"/>
              <a:buChar char="∙"/>
            </a:pPr>
            <a:r>
              <a:rPr lang="en-AU" sz="1600" b="0" i="0" u="none" strike="noStrike" cap="none" dirty="0">
                <a:solidFill>
                  <a:srgbClr val="1B243B"/>
                </a:solidFill>
                <a:latin typeface="Nunito"/>
                <a:ea typeface="Nunito"/>
                <a:cs typeface="Nunito"/>
                <a:sym typeface="Nunito"/>
              </a:rPr>
              <a:t>Regulation</a:t>
            </a:r>
            <a:endParaRPr sz="1600" b="0" i="0" u="none" strike="noStrike" cap="none" dirty="0">
              <a:solidFill>
                <a:srgbClr val="1B243B"/>
              </a:solidFill>
              <a:latin typeface="Nunito"/>
              <a:ea typeface="Nunito"/>
              <a:cs typeface="Nunito"/>
              <a:sym typeface="Nunito"/>
            </a:endParaRPr>
          </a:p>
          <a:p>
            <a:pPr marL="342900" marR="0" lvl="0" indent="-342900" algn="l" rtl="0">
              <a:lnSpc>
                <a:spcPct val="100000"/>
              </a:lnSpc>
              <a:spcBef>
                <a:spcPts val="0"/>
              </a:spcBef>
              <a:spcAft>
                <a:spcPts val="0"/>
              </a:spcAft>
              <a:buClr>
                <a:srgbClr val="000000"/>
              </a:buClr>
              <a:buSzPts val="1600"/>
              <a:buFont typeface="Noto Sans Symbols"/>
              <a:buChar char="∙"/>
            </a:pPr>
            <a:r>
              <a:rPr lang="en-AU" sz="1600" b="0" i="0" u="none" strike="noStrike" cap="none" dirty="0">
                <a:solidFill>
                  <a:srgbClr val="1B243B"/>
                </a:solidFill>
                <a:latin typeface="Nunito"/>
                <a:ea typeface="Nunito"/>
                <a:cs typeface="Nunito"/>
                <a:sym typeface="Nunito"/>
              </a:rPr>
              <a:t>ID mapping</a:t>
            </a:r>
            <a:endParaRPr dirty="0"/>
          </a:p>
        </p:txBody>
      </p:sp>
      <p:sp>
        <p:nvSpPr>
          <p:cNvPr id="163" name="Google Shape;163;g30bad334051_3_103"/>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solidFill>
                  <a:srgbClr val="1B243B"/>
                </a:solidFill>
              </a:rPr>
              <a:t>Concepts</a:t>
            </a:r>
            <a:endParaRPr>
              <a:solidFill>
                <a:srgbClr val="1B243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0bad334051_3_32"/>
          <p:cNvSpPr txBox="1">
            <a:spLocks noGrp="1"/>
          </p:cNvSpPr>
          <p:nvPr>
            <p:ph type="body" idx="1"/>
          </p:nvPr>
        </p:nvSpPr>
        <p:spPr>
          <a:xfrm>
            <a:off x="426693" y="1153363"/>
            <a:ext cx="1054262" cy="464199"/>
          </a:xfrm>
          <a:prstGeom prst="rect">
            <a:avLst/>
          </a:prstGeom>
          <a:noFill/>
          <a:ln>
            <a:noFill/>
          </a:ln>
        </p:spPr>
        <p:txBody>
          <a:bodyPr spcFirstLastPara="1" wrap="square" lIns="91425" tIns="91425" rIns="91425" bIns="91425" anchor="ctr" anchorCtr="0">
            <a:spAutoFit/>
          </a:bodyPr>
          <a:lstStyle/>
          <a:p>
            <a:pPr marL="0" lvl="0" indent="0" algn="l" rtl="0">
              <a:lnSpc>
                <a:spcPct val="115000"/>
              </a:lnSpc>
              <a:spcBef>
                <a:spcPts val="0"/>
              </a:spcBef>
              <a:spcAft>
                <a:spcPts val="800"/>
              </a:spcAft>
              <a:buSzPts val="1600"/>
              <a:buNone/>
            </a:pPr>
            <a:r>
              <a:rPr lang="en-AU" sz="1000" b="1">
                <a:solidFill>
                  <a:srgbClr val="FF0000"/>
                </a:solidFill>
              </a:rPr>
              <a:t>High</a:t>
            </a:r>
            <a:r>
              <a:rPr lang="en-AU" sz="1000" b="1"/>
              <a:t> Fat Diet</a:t>
            </a:r>
            <a:endParaRPr sz="1000" b="1"/>
          </a:p>
        </p:txBody>
      </p:sp>
      <p:sp>
        <p:nvSpPr>
          <p:cNvPr id="61" name="Google Shape;61;g30bad334051_3_32"/>
          <p:cNvSpPr txBox="1">
            <a:spLocks noGrp="1"/>
          </p:cNvSpPr>
          <p:nvPr>
            <p:ph type="title"/>
          </p:nvPr>
        </p:nvSpPr>
        <p:spPr>
          <a:xfrm>
            <a:off x="311700" y="66270"/>
            <a:ext cx="8520600" cy="572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solidFill>
                  <a:srgbClr val="1B243B"/>
                </a:solidFill>
              </a:rPr>
              <a:t>FEA at a glance: Mouse diet experiment</a:t>
            </a:r>
            <a:endParaRPr>
              <a:solidFill>
                <a:srgbClr val="1B243B"/>
              </a:solidFill>
            </a:endParaRPr>
          </a:p>
        </p:txBody>
      </p:sp>
      <p:sp>
        <p:nvSpPr>
          <p:cNvPr id="62" name="Google Shape;62;g30bad334051_3_32"/>
          <p:cNvSpPr txBox="1"/>
          <p:nvPr/>
        </p:nvSpPr>
        <p:spPr>
          <a:xfrm>
            <a:off x="1381394" y="1143768"/>
            <a:ext cx="1054262" cy="464199"/>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spcAft>
                <a:spcPts val="800"/>
              </a:spcAft>
              <a:buClr>
                <a:srgbClr val="000000"/>
              </a:buClr>
              <a:buSzPts val="1600"/>
              <a:buFont typeface="Nunito"/>
              <a:buNone/>
            </a:pPr>
            <a:r>
              <a:rPr lang="en-AU" sz="1000" b="1" i="0" u="none" strike="noStrike" cap="none">
                <a:solidFill>
                  <a:srgbClr val="0432FF"/>
                </a:solidFill>
                <a:latin typeface="Nunito"/>
                <a:ea typeface="Nunito"/>
                <a:cs typeface="Nunito"/>
                <a:sym typeface="Nunito"/>
              </a:rPr>
              <a:t>Low</a:t>
            </a:r>
            <a:r>
              <a:rPr lang="en-AU" sz="1000" b="1" i="0" u="none" strike="noStrike" cap="none">
                <a:solidFill>
                  <a:srgbClr val="000000"/>
                </a:solidFill>
                <a:latin typeface="Nunito"/>
                <a:ea typeface="Nunito"/>
                <a:cs typeface="Nunito"/>
                <a:sym typeface="Nunito"/>
              </a:rPr>
              <a:t> Fat Diet</a:t>
            </a:r>
            <a:endParaRPr/>
          </a:p>
        </p:txBody>
      </p:sp>
      <p:pic>
        <p:nvPicPr>
          <p:cNvPr id="63" name="Google Shape;63;g30bad334051_3_32" descr="A graph of a graph with red and blue dots&#10;&#10;Description automatically generated"/>
          <p:cNvPicPr preferRelativeResize="0"/>
          <p:nvPr/>
        </p:nvPicPr>
        <p:blipFill rotWithShape="1">
          <a:blip r:embed="rId3">
            <a:alphaModFix/>
          </a:blip>
          <a:srcRect/>
          <a:stretch/>
        </p:blipFill>
        <p:spPr>
          <a:xfrm>
            <a:off x="176104" y="2840397"/>
            <a:ext cx="2416129" cy="1786352"/>
          </a:xfrm>
          <a:prstGeom prst="rect">
            <a:avLst/>
          </a:prstGeom>
          <a:noFill/>
          <a:ln>
            <a:noFill/>
          </a:ln>
        </p:spPr>
      </p:pic>
      <p:grpSp>
        <p:nvGrpSpPr>
          <p:cNvPr id="64" name="Google Shape;64;g30bad334051_3_32"/>
          <p:cNvGrpSpPr/>
          <p:nvPr/>
        </p:nvGrpSpPr>
        <p:grpSpPr>
          <a:xfrm>
            <a:off x="4335885" y="3390096"/>
            <a:ext cx="2520000" cy="1583024"/>
            <a:chOff x="4335885" y="3466296"/>
            <a:chExt cx="2520000" cy="1583024"/>
          </a:xfrm>
        </p:grpSpPr>
        <p:pic>
          <p:nvPicPr>
            <p:cNvPr id="65" name="Google Shape;65;g30bad334051_3_32" descr="A graph with red dots and white text&#10;&#10;Description automatically generated"/>
            <p:cNvPicPr preferRelativeResize="0"/>
            <p:nvPr/>
          </p:nvPicPr>
          <p:blipFill rotWithShape="1">
            <a:blip r:embed="rId4">
              <a:alphaModFix/>
            </a:blip>
            <a:srcRect l="90649" t="32668" b="32312"/>
            <a:stretch/>
          </p:blipFill>
          <p:spPr>
            <a:xfrm rot="-5400000">
              <a:off x="5952955" y="4371860"/>
              <a:ext cx="285551" cy="1069368"/>
            </a:xfrm>
            <a:prstGeom prst="rect">
              <a:avLst/>
            </a:prstGeom>
            <a:noFill/>
            <a:ln>
              <a:noFill/>
            </a:ln>
          </p:spPr>
        </p:pic>
        <p:grpSp>
          <p:nvGrpSpPr>
            <p:cNvPr id="66" name="Google Shape;66;g30bad334051_3_32"/>
            <p:cNvGrpSpPr/>
            <p:nvPr/>
          </p:nvGrpSpPr>
          <p:grpSpPr>
            <a:xfrm>
              <a:off x="4335885" y="3466296"/>
              <a:ext cx="2520000" cy="1338144"/>
              <a:chOff x="3485232" y="2560719"/>
              <a:chExt cx="3392087" cy="1801231"/>
            </a:xfrm>
          </p:grpSpPr>
          <p:pic>
            <p:nvPicPr>
              <p:cNvPr id="67" name="Google Shape;67;g30bad334051_3_32" descr="A graph with red dots and white text&#10;&#10;Description automatically generated"/>
              <p:cNvPicPr preferRelativeResize="0"/>
              <p:nvPr/>
            </p:nvPicPr>
            <p:blipFill rotWithShape="1">
              <a:blip r:embed="rId4">
                <a:alphaModFix/>
              </a:blip>
              <a:srcRect l="52155" t="32668" r="9202" b="32312"/>
              <a:stretch/>
            </p:blipFill>
            <p:spPr>
              <a:xfrm>
                <a:off x="4891194" y="2560719"/>
                <a:ext cx="1986125" cy="1800000"/>
              </a:xfrm>
              <a:prstGeom prst="rect">
                <a:avLst/>
              </a:prstGeom>
              <a:noFill/>
              <a:ln>
                <a:noFill/>
              </a:ln>
            </p:spPr>
          </p:pic>
          <p:pic>
            <p:nvPicPr>
              <p:cNvPr id="68" name="Google Shape;68;g30bad334051_3_32" descr="A graph with red dots and white text&#10;&#10;Description automatically generated"/>
              <p:cNvPicPr preferRelativeResize="0"/>
              <p:nvPr/>
            </p:nvPicPr>
            <p:blipFill rotWithShape="1">
              <a:blip r:embed="rId4">
                <a:alphaModFix/>
              </a:blip>
              <a:srcRect t="32668" r="72665" b="32312"/>
              <a:stretch/>
            </p:blipFill>
            <p:spPr>
              <a:xfrm>
                <a:off x="3485232" y="2560719"/>
                <a:ext cx="1405962" cy="1801231"/>
              </a:xfrm>
              <a:prstGeom prst="rect">
                <a:avLst/>
              </a:prstGeom>
              <a:noFill/>
              <a:ln>
                <a:noFill/>
              </a:ln>
            </p:spPr>
          </p:pic>
        </p:grpSp>
      </p:grpSp>
      <p:pic>
        <p:nvPicPr>
          <p:cNvPr id="69" name="Google Shape;69;g30bad334051_3_32" descr="A diagram of a machine&#10;&#10;Description automatically generated"/>
          <p:cNvPicPr preferRelativeResize="0"/>
          <p:nvPr/>
        </p:nvPicPr>
        <p:blipFill rotWithShape="1">
          <a:blip r:embed="rId5">
            <a:alphaModFix/>
          </a:blip>
          <a:srcRect/>
          <a:stretch/>
        </p:blipFill>
        <p:spPr>
          <a:xfrm>
            <a:off x="6415363" y="909521"/>
            <a:ext cx="2620161" cy="2377073"/>
          </a:xfrm>
          <a:prstGeom prst="rect">
            <a:avLst/>
          </a:prstGeom>
          <a:noFill/>
          <a:ln>
            <a:noFill/>
          </a:ln>
        </p:spPr>
      </p:pic>
      <p:pic>
        <p:nvPicPr>
          <p:cNvPr id="70" name="Google Shape;70;g30bad334051_3_32" descr="A white mouse with long tail&#10;&#10;Description automatically generated"/>
          <p:cNvPicPr preferRelativeResize="0"/>
          <p:nvPr/>
        </p:nvPicPr>
        <p:blipFill rotWithShape="1">
          <a:blip r:embed="rId6">
            <a:alphaModFix/>
          </a:blip>
          <a:srcRect l="15061" t="21544" r="16192" b="43192"/>
          <a:stretch/>
        </p:blipFill>
        <p:spPr>
          <a:xfrm>
            <a:off x="1460520" y="1866892"/>
            <a:ext cx="791843" cy="284370"/>
          </a:xfrm>
          <a:prstGeom prst="rect">
            <a:avLst/>
          </a:prstGeom>
          <a:noFill/>
          <a:ln>
            <a:noFill/>
          </a:ln>
        </p:spPr>
      </p:pic>
      <p:pic>
        <p:nvPicPr>
          <p:cNvPr id="71" name="Google Shape;71;g30bad334051_3_32" descr="A white mouse with long tail&#10;&#10;Description automatically generated"/>
          <p:cNvPicPr preferRelativeResize="0"/>
          <p:nvPr/>
        </p:nvPicPr>
        <p:blipFill rotWithShape="1">
          <a:blip r:embed="rId6">
            <a:alphaModFix/>
          </a:blip>
          <a:srcRect l="15061" t="21544" r="16192" b="43192"/>
          <a:stretch/>
        </p:blipFill>
        <p:spPr>
          <a:xfrm>
            <a:off x="1460520" y="1532563"/>
            <a:ext cx="791843" cy="284370"/>
          </a:xfrm>
          <a:prstGeom prst="rect">
            <a:avLst/>
          </a:prstGeom>
          <a:noFill/>
          <a:ln>
            <a:noFill/>
          </a:ln>
        </p:spPr>
      </p:pic>
      <p:pic>
        <p:nvPicPr>
          <p:cNvPr id="72" name="Google Shape;72;g30bad334051_3_32" descr="A white mouse with long tail&#10;&#10;Description automatically generated"/>
          <p:cNvPicPr preferRelativeResize="0"/>
          <p:nvPr/>
        </p:nvPicPr>
        <p:blipFill rotWithShape="1">
          <a:blip r:embed="rId6">
            <a:alphaModFix/>
          </a:blip>
          <a:srcRect l="15061" t="21544" r="16192" b="43192"/>
          <a:stretch/>
        </p:blipFill>
        <p:spPr>
          <a:xfrm>
            <a:off x="1460520" y="2201281"/>
            <a:ext cx="791843" cy="284370"/>
          </a:xfrm>
          <a:prstGeom prst="rect">
            <a:avLst/>
          </a:prstGeom>
          <a:noFill/>
          <a:ln>
            <a:noFill/>
          </a:ln>
        </p:spPr>
      </p:pic>
      <p:pic>
        <p:nvPicPr>
          <p:cNvPr id="73" name="Google Shape;73;g30bad334051_3_32" descr="A cartoon of a mouse&#10;&#10;Description automatically generated"/>
          <p:cNvPicPr preferRelativeResize="0"/>
          <p:nvPr/>
        </p:nvPicPr>
        <p:blipFill rotWithShape="1">
          <a:blip r:embed="rId7">
            <a:alphaModFix/>
          </a:blip>
          <a:srcRect l="15198" t="20017" r="15865" b="43500"/>
          <a:stretch/>
        </p:blipFill>
        <p:spPr>
          <a:xfrm>
            <a:off x="440944" y="1530586"/>
            <a:ext cx="767581" cy="284400"/>
          </a:xfrm>
          <a:prstGeom prst="rect">
            <a:avLst/>
          </a:prstGeom>
          <a:noFill/>
          <a:ln>
            <a:noFill/>
          </a:ln>
        </p:spPr>
      </p:pic>
      <p:pic>
        <p:nvPicPr>
          <p:cNvPr id="74" name="Google Shape;74;g30bad334051_3_32" descr="A cartoon of a mouse&#10;&#10;Description automatically generated"/>
          <p:cNvPicPr preferRelativeResize="0"/>
          <p:nvPr/>
        </p:nvPicPr>
        <p:blipFill rotWithShape="1">
          <a:blip r:embed="rId7">
            <a:alphaModFix/>
          </a:blip>
          <a:srcRect l="15198" t="20017" r="15865" b="43500"/>
          <a:stretch/>
        </p:blipFill>
        <p:spPr>
          <a:xfrm>
            <a:off x="440944" y="1866892"/>
            <a:ext cx="767581" cy="284400"/>
          </a:xfrm>
          <a:prstGeom prst="rect">
            <a:avLst/>
          </a:prstGeom>
          <a:noFill/>
          <a:ln>
            <a:noFill/>
          </a:ln>
        </p:spPr>
      </p:pic>
      <p:pic>
        <p:nvPicPr>
          <p:cNvPr id="75" name="Google Shape;75;g30bad334051_3_32" descr="A cartoon of a mouse&#10;&#10;Description automatically generated"/>
          <p:cNvPicPr preferRelativeResize="0"/>
          <p:nvPr/>
        </p:nvPicPr>
        <p:blipFill rotWithShape="1">
          <a:blip r:embed="rId7">
            <a:alphaModFix/>
          </a:blip>
          <a:srcRect l="15198" t="20017" r="15865" b="43500"/>
          <a:stretch/>
        </p:blipFill>
        <p:spPr>
          <a:xfrm>
            <a:off x="440944" y="2201251"/>
            <a:ext cx="767581" cy="284400"/>
          </a:xfrm>
          <a:prstGeom prst="rect">
            <a:avLst/>
          </a:prstGeom>
          <a:noFill/>
          <a:ln>
            <a:noFill/>
          </a:ln>
        </p:spPr>
      </p:pic>
      <p:sp>
        <p:nvSpPr>
          <p:cNvPr id="76" name="Google Shape;76;g30bad334051_3_32"/>
          <p:cNvSpPr/>
          <p:nvPr/>
        </p:nvSpPr>
        <p:spPr>
          <a:xfrm>
            <a:off x="4416783" y="774535"/>
            <a:ext cx="720457" cy="676336"/>
          </a:xfrm>
          <a:prstGeom prst="flowChartMagneticDisk">
            <a:avLst/>
          </a:prstGeom>
          <a:solidFill>
            <a:srgbClr val="F4CCCC"/>
          </a:solidFill>
          <a:ln w="2857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AU" sz="800" b="0" i="0" u="none" strike="noStrike" cap="none">
                <a:solidFill>
                  <a:srgbClr val="434343"/>
                </a:solidFill>
                <a:latin typeface="Nunito"/>
                <a:ea typeface="Nunito"/>
                <a:cs typeface="Nunito"/>
                <a:sym typeface="Nunito"/>
              </a:rPr>
              <a:t>Annotation</a:t>
            </a:r>
            <a:endParaRPr sz="800" b="0" i="0" u="none" strike="noStrike" cap="none">
              <a:solidFill>
                <a:srgbClr val="434343"/>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800"/>
              <a:buFont typeface="Arial"/>
              <a:buNone/>
            </a:pPr>
            <a:r>
              <a:rPr lang="en-AU" sz="800" b="0" i="0" u="none" strike="noStrike" cap="none">
                <a:solidFill>
                  <a:srgbClr val="434343"/>
                </a:solidFill>
                <a:latin typeface="Nunito"/>
                <a:ea typeface="Nunito"/>
                <a:cs typeface="Nunito"/>
                <a:sym typeface="Nunito"/>
              </a:rPr>
              <a:t>Database</a:t>
            </a:r>
            <a:endParaRPr sz="800" b="0" i="0" u="none" strike="noStrike" cap="none">
              <a:solidFill>
                <a:srgbClr val="434343"/>
              </a:solidFill>
              <a:latin typeface="Nunito"/>
              <a:ea typeface="Nunito"/>
              <a:cs typeface="Nunito"/>
              <a:sym typeface="Nunito"/>
            </a:endParaRPr>
          </a:p>
        </p:txBody>
      </p:sp>
      <p:sp>
        <p:nvSpPr>
          <p:cNvPr id="77" name="Google Shape;77;g30bad334051_3_32"/>
          <p:cNvSpPr/>
          <p:nvPr/>
        </p:nvSpPr>
        <p:spPr>
          <a:xfrm>
            <a:off x="4117446" y="1806278"/>
            <a:ext cx="1315500" cy="310800"/>
          </a:xfrm>
          <a:prstGeom prst="roundRect">
            <a:avLst>
              <a:gd name="adj" fmla="val 16667"/>
            </a:avLst>
          </a:prstGeom>
          <a:solidFill>
            <a:srgbClr val="A4C2F4"/>
          </a:solidFill>
          <a:ln w="2857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AU" sz="700" b="1" i="0" u="none" strike="noStrike" cap="none">
                <a:solidFill>
                  <a:srgbClr val="000000"/>
                </a:solidFill>
                <a:latin typeface="Nunito"/>
                <a:ea typeface="Nunito"/>
                <a:cs typeface="Nunito"/>
                <a:sym typeface="Nunito"/>
              </a:rPr>
              <a:t>Algorithms</a:t>
            </a:r>
            <a:endParaRPr sz="700" b="1"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700"/>
              <a:buFont typeface="Arial"/>
              <a:buNone/>
            </a:pPr>
            <a:r>
              <a:rPr lang="en-AU" sz="700" b="0" i="0" u="none" strike="noStrike" cap="none">
                <a:solidFill>
                  <a:srgbClr val="000000"/>
                </a:solidFill>
                <a:latin typeface="Nunito"/>
                <a:ea typeface="Nunito"/>
                <a:cs typeface="Nunito"/>
                <a:sym typeface="Nunito"/>
              </a:rPr>
              <a:t>Sort and organise annotation terms</a:t>
            </a:r>
            <a:endParaRPr sz="700" b="0" i="0" u="none" strike="noStrike" cap="none">
              <a:solidFill>
                <a:srgbClr val="000000"/>
              </a:solidFill>
              <a:latin typeface="Nunito"/>
              <a:ea typeface="Nunito"/>
              <a:cs typeface="Nunito"/>
              <a:sym typeface="Nunito"/>
            </a:endParaRPr>
          </a:p>
        </p:txBody>
      </p:sp>
      <p:sp>
        <p:nvSpPr>
          <p:cNvPr id="78" name="Google Shape;78;g30bad334051_3_32"/>
          <p:cNvSpPr/>
          <p:nvPr/>
        </p:nvSpPr>
        <p:spPr>
          <a:xfrm>
            <a:off x="4120116" y="2359822"/>
            <a:ext cx="1315500" cy="310800"/>
          </a:xfrm>
          <a:prstGeom prst="roundRect">
            <a:avLst>
              <a:gd name="adj" fmla="val 16667"/>
            </a:avLst>
          </a:prstGeom>
          <a:solidFill>
            <a:srgbClr val="A4C2F4"/>
          </a:solidFill>
          <a:ln w="2857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AU" sz="700" b="1" i="0" u="none" strike="noStrike" cap="none">
                <a:solidFill>
                  <a:srgbClr val="000000"/>
                </a:solidFill>
                <a:latin typeface="Nunito"/>
                <a:ea typeface="Nunito"/>
                <a:cs typeface="Nunito"/>
                <a:sym typeface="Nunito"/>
              </a:rPr>
              <a:t>Statistics</a:t>
            </a:r>
            <a:endParaRPr sz="700" b="1" i="0" u="none" strike="noStrike" cap="none">
              <a:solidFill>
                <a:srgbClr val="000000"/>
              </a:solidFill>
              <a:latin typeface="Nunito"/>
              <a:ea typeface="Nunito"/>
              <a:cs typeface="Nunito"/>
              <a:sym typeface="Nunito"/>
            </a:endParaRPr>
          </a:p>
          <a:p>
            <a:pPr marL="0" marR="0" lvl="0" indent="0" algn="ctr" rtl="0">
              <a:lnSpc>
                <a:spcPct val="100000"/>
              </a:lnSpc>
              <a:spcBef>
                <a:spcPts val="0"/>
              </a:spcBef>
              <a:spcAft>
                <a:spcPts val="0"/>
              </a:spcAft>
              <a:buClr>
                <a:srgbClr val="000000"/>
              </a:buClr>
              <a:buSzPts val="700"/>
              <a:buFont typeface="Arial"/>
              <a:buNone/>
            </a:pPr>
            <a:r>
              <a:rPr lang="en-AU" sz="700" b="0" i="0" u="none" strike="noStrike" cap="none">
                <a:solidFill>
                  <a:srgbClr val="000000"/>
                </a:solidFill>
                <a:latin typeface="Nunito"/>
                <a:ea typeface="Nunito"/>
                <a:cs typeface="Nunito"/>
                <a:sym typeface="Nunito"/>
              </a:rPr>
              <a:t>Calculate enrichment </a:t>
            </a:r>
            <a:br>
              <a:rPr lang="en-AU" sz="700" b="0" i="0" u="none" strike="noStrike" cap="none">
                <a:solidFill>
                  <a:srgbClr val="000000"/>
                </a:solidFill>
                <a:latin typeface="Nunito"/>
                <a:ea typeface="Nunito"/>
                <a:cs typeface="Nunito"/>
                <a:sym typeface="Nunito"/>
              </a:rPr>
            </a:br>
            <a:r>
              <a:rPr lang="en-AU" sz="700" b="0" i="0" u="none" strike="noStrike" cap="none">
                <a:solidFill>
                  <a:srgbClr val="000000"/>
                </a:solidFill>
                <a:latin typeface="Nunito"/>
                <a:ea typeface="Nunito"/>
                <a:cs typeface="Nunito"/>
                <a:sym typeface="Nunito"/>
              </a:rPr>
              <a:t>p-values</a:t>
            </a:r>
            <a:endParaRPr sz="700" b="0" i="0" u="none" strike="noStrike" cap="none">
              <a:solidFill>
                <a:srgbClr val="000000"/>
              </a:solidFill>
              <a:latin typeface="Nunito"/>
              <a:ea typeface="Nunito"/>
              <a:cs typeface="Nunito"/>
              <a:sym typeface="Nunito"/>
            </a:endParaRPr>
          </a:p>
        </p:txBody>
      </p:sp>
      <p:sp>
        <p:nvSpPr>
          <p:cNvPr id="79" name="Google Shape;79;g30bad334051_3_32"/>
          <p:cNvSpPr/>
          <p:nvPr/>
        </p:nvSpPr>
        <p:spPr>
          <a:xfrm>
            <a:off x="4470139" y="2891656"/>
            <a:ext cx="611528" cy="310719"/>
          </a:xfrm>
          <a:prstGeom prst="flowChartInternalStorage">
            <a:avLst/>
          </a:prstGeom>
          <a:solidFill>
            <a:schemeClr val="accent5"/>
          </a:solidFill>
          <a:ln w="2857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AU" sz="800" b="0" i="0" u="none" strike="noStrike" cap="none">
                <a:solidFill>
                  <a:srgbClr val="000000"/>
                </a:solidFill>
                <a:latin typeface="Nunito"/>
                <a:ea typeface="Nunito"/>
                <a:cs typeface="Nunito"/>
                <a:sym typeface="Nunito"/>
              </a:rPr>
              <a:t>Results</a:t>
            </a:r>
            <a:endParaRPr sz="800" b="0" i="0" u="none" strike="noStrike" cap="none">
              <a:solidFill>
                <a:srgbClr val="000000"/>
              </a:solidFill>
              <a:latin typeface="Nunito"/>
              <a:ea typeface="Nunito"/>
              <a:cs typeface="Nunito"/>
              <a:sym typeface="Nunito"/>
            </a:endParaRPr>
          </a:p>
        </p:txBody>
      </p:sp>
      <p:sp>
        <p:nvSpPr>
          <p:cNvPr id="80" name="Google Shape;80;g30bad334051_3_32"/>
          <p:cNvSpPr/>
          <p:nvPr/>
        </p:nvSpPr>
        <p:spPr>
          <a:xfrm>
            <a:off x="4723479" y="1480320"/>
            <a:ext cx="117900" cy="288000"/>
          </a:xfrm>
          <a:prstGeom prst="downArrow">
            <a:avLst>
              <a:gd name="adj1" fmla="val 50000"/>
              <a:gd name="adj2" fmla="val 50000"/>
            </a:avLst>
          </a:prstGeom>
          <a:solidFill>
            <a:srgbClr val="A5A5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7F7F7F"/>
              </a:solidFill>
              <a:latin typeface="Nunito"/>
              <a:ea typeface="Nunito"/>
              <a:cs typeface="Nunito"/>
              <a:sym typeface="Nunito"/>
            </a:endParaRPr>
          </a:p>
        </p:txBody>
      </p:sp>
      <p:sp>
        <p:nvSpPr>
          <p:cNvPr id="81" name="Google Shape;81;g30bad334051_3_32"/>
          <p:cNvSpPr/>
          <p:nvPr/>
        </p:nvSpPr>
        <p:spPr>
          <a:xfrm>
            <a:off x="4716994" y="2142697"/>
            <a:ext cx="117900" cy="198000"/>
          </a:xfrm>
          <a:prstGeom prst="downArrow">
            <a:avLst>
              <a:gd name="adj1" fmla="val 50000"/>
              <a:gd name="adj2" fmla="val 50000"/>
            </a:avLst>
          </a:prstGeom>
          <a:solidFill>
            <a:srgbClr val="A5A5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7F7F7F"/>
              </a:solidFill>
              <a:latin typeface="Nunito"/>
              <a:ea typeface="Nunito"/>
              <a:cs typeface="Nunito"/>
              <a:sym typeface="Nunito"/>
            </a:endParaRPr>
          </a:p>
        </p:txBody>
      </p:sp>
      <p:sp>
        <p:nvSpPr>
          <p:cNvPr id="82" name="Google Shape;82;g30bad334051_3_32"/>
          <p:cNvSpPr/>
          <p:nvPr/>
        </p:nvSpPr>
        <p:spPr>
          <a:xfrm>
            <a:off x="4716257" y="2710664"/>
            <a:ext cx="117900" cy="162000"/>
          </a:xfrm>
          <a:prstGeom prst="downArrow">
            <a:avLst>
              <a:gd name="adj1" fmla="val 50000"/>
              <a:gd name="adj2" fmla="val 50000"/>
            </a:avLst>
          </a:prstGeom>
          <a:solidFill>
            <a:srgbClr val="A5A5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7F7F7F"/>
              </a:solidFill>
              <a:latin typeface="Nunito"/>
              <a:ea typeface="Nunito"/>
              <a:cs typeface="Nunito"/>
              <a:sym typeface="Nunito"/>
            </a:endParaRPr>
          </a:p>
        </p:txBody>
      </p:sp>
      <p:sp>
        <p:nvSpPr>
          <p:cNvPr id="83" name="Google Shape;83;g30bad334051_3_32"/>
          <p:cNvSpPr/>
          <p:nvPr/>
        </p:nvSpPr>
        <p:spPr>
          <a:xfrm rot="-5400000">
            <a:off x="3646652" y="1673900"/>
            <a:ext cx="117900" cy="575400"/>
          </a:xfrm>
          <a:prstGeom prst="downArrow">
            <a:avLst>
              <a:gd name="adj1" fmla="val 50000"/>
              <a:gd name="adj2" fmla="val 50000"/>
            </a:avLst>
          </a:prstGeom>
          <a:solidFill>
            <a:srgbClr val="A5A5A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7F7F7F"/>
              </a:solidFill>
              <a:latin typeface="Nunito"/>
              <a:ea typeface="Nunito"/>
              <a:cs typeface="Nunito"/>
              <a:sym typeface="Nunito"/>
            </a:endParaRPr>
          </a:p>
        </p:txBody>
      </p:sp>
      <p:graphicFrame>
        <p:nvGraphicFramePr>
          <p:cNvPr id="84" name="Google Shape;84;g30bad334051_3_32"/>
          <p:cNvGraphicFramePr/>
          <p:nvPr/>
        </p:nvGraphicFramePr>
        <p:xfrm>
          <a:off x="2952258" y="781601"/>
          <a:ext cx="390200" cy="3871015"/>
        </p:xfrm>
        <a:graphic>
          <a:graphicData uri="http://schemas.openxmlformats.org/drawingml/2006/table">
            <a:tbl>
              <a:tblPr>
                <a:noFill/>
                <a:tableStyleId>{58E360BE-9E8C-47FA-9224-D54531E0FC42}</a:tableStyleId>
              </a:tblPr>
              <a:tblGrid>
                <a:gridCol w="390200">
                  <a:extLst>
                    <a:ext uri="{9D8B030D-6E8A-4147-A177-3AD203B41FA5}">
                      <a16:colId xmlns:a16="http://schemas.microsoft.com/office/drawing/2014/main" val="20000"/>
                    </a:ext>
                  </a:extLst>
                </a:gridCol>
              </a:tblGrid>
              <a:tr h="83350">
                <a:tc>
                  <a:txBody>
                    <a:bodyPr/>
                    <a:lstStyle/>
                    <a:p>
                      <a:pPr marL="0" marR="0" lvl="0" indent="0" algn="ctr" rtl="0">
                        <a:lnSpc>
                          <a:spcPct val="100000"/>
                        </a:lnSpc>
                        <a:spcBef>
                          <a:spcPts val="0"/>
                        </a:spcBef>
                        <a:spcAft>
                          <a:spcPts val="0"/>
                        </a:spcAft>
                        <a:buNone/>
                      </a:pPr>
                      <a:r>
                        <a:rPr lang="en-AU" sz="600" b="1" i="0" u="none" strike="noStrike" cap="none">
                          <a:solidFill>
                            <a:srgbClr val="000000"/>
                          </a:solidFill>
                          <a:latin typeface="Calibri"/>
                          <a:ea typeface="Calibri"/>
                          <a:cs typeface="Calibri"/>
                          <a:sym typeface="Calibri"/>
                        </a:rPr>
                        <a:t>DEGs</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12700" cap="flat" cmpd="sng">
                      <a:solidFill>
                        <a:srgbClr val="92D050"/>
                      </a:solidFill>
                      <a:prstDash val="solid"/>
                      <a:round/>
                      <a:headEnd type="none" w="sm" len="sm"/>
                      <a:tailEnd type="none" w="sm" len="sm"/>
                    </a:lnT>
                    <a:lnB w="12700" cap="flat" cmpd="sng">
                      <a:solidFill>
                        <a:srgbClr val="92D050"/>
                      </a:solidFill>
                      <a:prstDash val="solid"/>
                      <a:round/>
                      <a:headEnd type="none" w="sm" len="sm"/>
                      <a:tailEnd type="none" w="sm" len="sm"/>
                    </a:lnB>
                  </a:tcPr>
                </a:tc>
                <a:extLst>
                  <a:ext uri="{0D108BD9-81ED-4DB2-BD59-A6C34878D82A}">
                    <a16:rowId xmlns:a16="http://schemas.microsoft.com/office/drawing/2014/main" val="10000"/>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Lep</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12700" cap="flat" cmpd="sng">
                      <a:solidFill>
                        <a:srgbClr val="92D05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Cd36</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Fasn</a:t>
                      </a:r>
                      <a:endParaRPr sz="600" b="0" i="0" u="none" strike="noStrike" cap="none">
                        <a:solidFill>
                          <a:srgbClr val="FF0000"/>
                        </a:solidFill>
                        <a:latin typeface="Calibri"/>
                        <a:ea typeface="Calibri"/>
                        <a:cs typeface="Calibri"/>
                        <a:sym typeface="Calibri"/>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Srebf1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Ccl2</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Tnf</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Il6</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Il1b</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Atf4</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9"/>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Dgat1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0"/>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Dgat2</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1"/>
                  </a:ext>
                </a:extLst>
              </a:tr>
              <a:tr h="76200">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Cidea</a:t>
                      </a:r>
                      <a:endParaRPr sz="600" b="0" i="0" u="none" strike="noStrike" cap="none">
                        <a:solidFill>
                          <a:srgbClr val="FF0000"/>
                        </a:solidFill>
                        <a:latin typeface="Calibri"/>
                        <a:ea typeface="Calibri"/>
                        <a:cs typeface="Calibri"/>
                        <a:sym typeface="Calibri"/>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2"/>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Fabp4</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3"/>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Scd1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4"/>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Irf7</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5"/>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Cxcl10</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6"/>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Resistin</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7"/>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Gdf15</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8"/>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FF0000"/>
                          </a:solidFill>
                          <a:latin typeface="Calibri"/>
                          <a:ea typeface="Calibri"/>
                          <a:cs typeface="Calibri"/>
                          <a:sym typeface="Calibri"/>
                        </a:rPr>
                        <a:t>Pparg</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Adipoq</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Cpt1a</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Lpl</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2"/>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Ucp1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3"/>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Slc2a4</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4"/>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Sod2</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5"/>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Irs1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6"/>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Ppara</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7"/>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Pgc1a</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8"/>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Nrf1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9"/>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Mc4r</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0"/>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Acadm</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1"/>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Gpr109a</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2"/>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Sod1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3"/>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Nrf2</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4"/>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Hmgcr</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5"/>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Igf1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6"/>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Foxo1</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7"/>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Il10</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8"/>
                  </a:ext>
                </a:extLst>
              </a:tr>
              <a:tr h="79375">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Il4</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39"/>
                  </a:ext>
                </a:extLst>
              </a:tr>
              <a:tr h="83350">
                <a:tc>
                  <a:txBody>
                    <a:bodyPr/>
                    <a:lstStyle/>
                    <a:p>
                      <a:pPr marL="0" marR="0" lvl="0" indent="0" algn="ctr" rtl="0">
                        <a:lnSpc>
                          <a:spcPct val="100000"/>
                        </a:lnSpc>
                        <a:spcBef>
                          <a:spcPts val="0"/>
                        </a:spcBef>
                        <a:spcAft>
                          <a:spcPts val="0"/>
                        </a:spcAft>
                        <a:buNone/>
                      </a:pPr>
                      <a:r>
                        <a:rPr lang="en-AU" sz="600" b="0" i="0" u="none" strike="noStrike" cap="none">
                          <a:solidFill>
                            <a:srgbClr val="0432FF"/>
                          </a:solidFill>
                          <a:latin typeface="Calibri"/>
                          <a:ea typeface="Calibri"/>
                          <a:cs typeface="Calibri"/>
                          <a:sym typeface="Calibri"/>
                        </a:rPr>
                        <a:t>Eif2ak3</a:t>
                      </a:r>
                      <a:endParaRPr/>
                    </a:p>
                  </a:txBody>
                  <a:tcPr marL="2975" marR="2975" marT="2975" marB="0" anchor="b">
                    <a:lnL w="12700" cap="flat" cmpd="sng">
                      <a:solidFill>
                        <a:srgbClr val="92D050"/>
                      </a:solidFill>
                      <a:prstDash val="solid"/>
                      <a:round/>
                      <a:headEnd type="none" w="sm" len="sm"/>
                      <a:tailEnd type="none" w="sm" len="sm"/>
                    </a:lnL>
                    <a:lnR w="12700" cap="flat" cmpd="sng">
                      <a:solidFill>
                        <a:srgbClr val="92D05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92D050"/>
                      </a:solidFill>
                      <a:prstDash val="solid"/>
                      <a:round/>
                      <a:headEnd type="none" w="sm" len="sm"/>
                      <a:tailEnd type="none" w="sm" len="sm"/>
                    </a:lnB>
                  </a:tcPr>
                </a:tc>
                <a:extLst>
                  <a:ext uri="{0D108BD9-81ED-4DB2-BD59-A6C34878D82A}">
                    <a16:rowId xmlns:a16="http://schemas.microsoft.com/office/drawing/2014/main" val="10040"/>
                  </a:ext>
                </a:extLst>
              </a:tr>
            </a:tbl>
          </a:graphicData>
        </a:graphic>
      </p:graphicFrame>
      <p:sp>
        <p:nvSpPr>
          <p:cNvPr id="85" name="Google Shape;85;g30bad334051_3_32"/>
          <p:cNvSpPr/>
          <p:nvPr/>
        </p:nvSpPr>
        <p:spPr>
          <a:xfrm>
            <a:off x="1303047" y="2526541"/>
            <a:ext cx="117811" cy="288000"/>
          </a:xfrm>
          <a:prstGeom prst="down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00B0F0"/>
              </a:solidFill>
              <a:latin typeface="Nunito"/>
              <a:ea typeface="Nunito"/>
              <a:cs typeface="Nunito"/>
              <a:sym typeface="Nunito"/>
            </a:endParaRPr>
          </a:p>
        </p:txBody>
      </p:sp>
      <p:sp>
        <p:nvSpPr>
          <p:cNvPr id="86" name="Google Shape;86;g30bad334051_3_32"/>
          <p:cNvSpPr/>
          <p:nvPr/>
        </p:nvSpPr>
        <p:spPr>
          <a:xfrm rot="-5400000">
            <a:off x="2676904" y="3618575"/>
            <a:ext cx="117900" cy="300300"/>
          </a:xfrm>
          <a:prstGeom prst="down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7F7F7F"/>
              </a:solidFill>
              <a:latin typeface="Nunito"/>
              <a:ea typeface="Nunito"/>
              <a:cs typeface="Nunito"/>
              <a:sym typeface="Nunito"/>
            </a:endParaRPr>
          </a:p>
        </p:txBody>
      </p:sp>
      <p:sp>
        <p:nvSpPr>
          <p:cNvPr id="87" name="Google Shape;87;g30bad334051_3_32"/>
          <p:cNvSpPr/>
          <p:nvPr/>
        </p:nvSpPr>
        <p:spPr>
          <a:xfrm rot="-8817466">
            <a:off x="6944283" y="3333530"/>
            <a:ext cx="117743" cy="360057"/>
          </a:xfrm>
          <a:prstGeom prst="down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7F7F7F"/>
              </a:solidFill>
              <a:latin typeface="Nunito"/>
              <a:ea typeface="Nunito"/>
              <a:cs typeface="Nunito"/>
              <a:sym typeface="Nunito"/>
            </a:endParaRPr>
          </a:p>
        </p:txBody>
      </p:sp>
      <p:sp>
        <p:nvSpPr>
          <p:cNvPr id="88" name="Google Shape;88;g30bad334051_3_32"/>
          <p:cNvSpPr/>
          <p:nvPr/>
        </p:nvSpPr>
        <p:spPr>
          <a:xfrm rot="-2390572">
            <a:off x="4896051" y="3253091"/>
            <a:ext cx="117999" cy="236228"/>
          </a:xfrm>
          <a:prstGeom prst="downArrow">
            <a:avLst>
              <a:gd name="adj1" fmla="val 50000"/>
              <a:gd name="adj2"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7F7F7F"/>
              </a:solidFill>
              <a:latin typeface="Nunito"/>
              <a:ea typeface="Nunito"/>
              <a:cs typeface="Nunito"/>
              <a:sym typeface="Nunito"/>
            </a:endParaRPr>
          </a:p>
        </p:txBody>
      </p:sp>
      <p:sp>
        <p:nvSpPr>
          <p:cNvPr id="90" name="Google Shape;90;g30bad334051_3_32"/>
          <p:cNvSpPr/>
          <p:nvPr/>
        </p:nvSpPr>
        <p:spPr>
          <a:xfrm>
            <a:off x="4669500" y="3582071"/>
            <a:ext cx="704700" cy="117900"/>
          </a:xfrm>
          <a:prstGeom prst="rect">
            <a:avLst/>
          </a:prstGeom>
          <a:noFill/>
          <a:ln w="9525"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0bad334051_3_111"/>
          <p:cNvSpPr txBox="1"/>
          <p:nvPr/>
        </p:nvSpPr>
        <p:spPr>
          <a:xfrm>
            <a:off x="136323" y="983924"/>
            <a:ext cx="4405347" cy="10771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1B243B"/>
                </a:solidFill>
                <a:latin typeface="Nunito"/>
                <a:ea typeface="Nunito"/>
                <a:cs typeface="Nunito"/>
                <a:sym typeface="Nunito"/>
              </a:rPr>
              <a:t>Over Representation Analysis (ORA)</a:t>
            </a:r>
            <a:endParaRPr dirty="0"/>
          </a:p>
          <a:p>
            <a:pPr lvl="4"/>
            <a:r>
              <a:rPr lang="en-AU" sz="1200" dirty="0">
                <a:latin typeface="Nunito"/>
                <a:sym typeface="Nunito"/>
              </a:rPr>
              <a:t>	- </a:t>
            </a:r>
            <a:r>
              <a:rPr lang="en-GB" sz="1200" dirty="0">
                <a:latin typeface="Nunito"/>
                <a:sym typeface="PT Sans Narrow"/>
              </a:rPr>
              <a:t>Up-regulated features</a:t>
            </a:r>
          </a:p>
          <a:p>
            <a:pPr lvl="4"/>
            <a:r>
              <a:rPr lang="en-AU" sz="1200" dirty="0">
                <a:latin typeface="Nunito"/>
                <a:sym typeface="Nunito"/>
              </a:rPr>
              <a:t>	- </a:t>
            </a:r>
            <a:r>
              <a:rPr lang="en-GB" sz="1200" dirty="0">
                <a:latin typeface="Nunito"/>
                <a:sym typeface="PT Sans Narrow"/>
              </a:rPr>
              <a:t>Down-regulated features</a:t>
            </a:r>
          </a:p>
          <a:p>
            <a:pPr lvl="4"/>
            <a:r>
              <a:rPr lang="en-AU" sz="1200" dirty="0">
                <a:latin typeface="Nunito"/>
                <a:ea typeface="Nunito"/>
                <a:cs typeface="Nunito"/>
                <a:sym typeface="Nunito"/>
              </a:rPr>
              <a:t>	- Modular Enrichment (clusters)</a:t>
            </a:r>
            <a:endParaRPr lang="en-GB" sz="1200" dirty="0">
              <a:latin typeface="Nunito"/>
              <a:sym typeface="PT Sans Narrow"/>
            </a:endParaRPr>
          </a:p>
          <a:p>
            <a:pPr lvl="4"/>
            <a:r>
              <a:rPr lang="en-AU" sz="1200" dirty="0">
                <a:latin typeface="Nunito"/>
                <a:ea typeface="Nunito"/>
                <a:cs typeface="Nunito"/>
                <a:sym typeface="Nunito"/>
              </a:rPr>
              <a:t>	- Cell-Specific ORA</a:t>
            </a:r>
          </a:p>
        </p:txBody>
      </p:sp>
      <p:sp>
        <p:nvSpPr>
          <p:cNvPr id="169" name="Google Shape;169;g30bad334051_3_111"/>
          <p:cNvSpPr txBox="1">
            <a:spLocks noGrp="1"/>
          </p:cNvSpPr>
          <p:nvPr>
            <p:ph type="title"/>
          </p:nvPr>
        </p:nvSpPr>
        <p:spPr>
          <a:xfrm>
            <a:off x="311700" y="156783"/>
            <a:ext cx="8520600" cy="61899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dirty="0"/>
              <a:t>Types of Enrichment Analysis</a:t>
            </a:r>
            <a:endParaRPr dirty="0"/>
          </a:p>
        </p:txBody>
      </p:sp>
      <p:pic>
        <p:nvPicPr>
          <p:cNvPr id="6" name="Picture 5">
            <a:extLst>
              <a:ext uri="{FF2B5EF4-FFF2-40B4-BE49-F238E27FC236}">
                <a16:creationId xmlns:a16="http://schemas.microsoft.com/office/drawing/2014/main" id="{777E2622-1995-6A85-0997-84C8473510B2}"/>
              </a:ext>
            </a:extLst>
          </p:cNvPr>
          <p:cNvPicPr>
            <a:picLocks/>
          </p:cNvPicPr>
          <p:nvPr/>
        </p:nvPicPr>
        <p:blipFill>
          <a:blip r:embed="rId3"/>
          <a:srcRect t="559" r="68648"/>
          <a:stretch>
            <a:fillRect/>
          </a:stretch>
        </p:blipFill>
        <p:spPr>
          <a:xfrm>
            <a:off x="5449872" y="783828"/>
            <a:ext cx="1692000" cy="1422407"/>
          </a:xfrm>
          <a:prstGeom prst="rect">
            <a:avLst/>
          </a:prstGeom>
        </p:spPr>
      </p:pic>
      <p:pic>
        <p:nvPicPr>
          <p:cNvPr id="7" name="Picture 6">
            <a:extLst>
              <a:ext uri="{FF2B5EF4-FFF2-40B4-BE49-F238E27FC236}">
                <a16:creationId xmlns:a16="http://schemas.microsoft.com/office/drawing/2014/main" id="{B6E71D55-3074-02F8-FCA6-E785AD23FF48}"/>
              </a:ext>
            </a:extLst>
          </p:cNvPr>
          <p:cNvPicPr>
            <a:picLocks noChangeAspect="1"/>
          </p:cNvPicPr>
          <p:nvPr/>
        </p:nvPicPr>
        <p:blipFill>
          <a:blip r:embed="rId3"/>
          <a:srcRect l="32111" r="32652"/>
          <a:stretch>
            <a:fillRect/>
          </a:stretch>
        </p:blipFill>
        <p:spPr>
          <a:xfrm>
            <a:off x="5449872" y="2223827"/>
            <a:ext cx="1690996" cy="1440000"/>
          </a:xfrm>
          <a:prstGeom prst="rect">
            <a:avLst/>
          </a:prstGeom>
        </p:spPr>
      </p:pic>
      <p:pic>
        <p:nvPicPr>
          <p:cNvPr id="8" name="Picture 7">
            <a:extLst>
              <a:ext uri="{FF2B5EF4-FFF2-40B4-BE49-F238E27FC236}">
                <a16:creationId xmlns:a16="http://schemas.microsoft.com/office/drawing/2014/main" id="{0BA979BB-3009-E5F3-C1FB-5316146710D9}"/>
              </a:ext>
            </a:extLst>
          </p:cNvPr>
          <p:cNvPicPr>
            <a:picLocks noChangeAspect="1"/>
          </p:cNvPicPr>
          <p:nvPr/>
        </p:nvPicPr>
        <p:blipFill>
          <a:blip r:embed="rId3"/>
          <a:srcRect l="68379" r="189"/>
          <a:stretch>
            <a:fillRect/>
          </a:stretch>
        </p:blipFill>
        <p:spPr>
          <a:xfrm>
            <a:off x="5449872" y="3681419"/>
            <a:ext cx="1692000" cy="1408332"/>
          </a:xfrm>
          <a:prstGeom prst="rect">
            <a:avLst/>
          </a:prstGeom>
        </p:spPr>
      </p:pic>
      <p:sp>
        <p:nvSpPr>
          <p:cNvPr id="10" name="TextBox 9">
            <a:extLst>
              <a:ext uri="{FF2B5EF4-FFF2-40B4-BE49-F238E27FC236}">
                <a16:creationId xmlns:a16="http://schemas.microsoft.com/office/drawing/2014/main" id="{C3A458E7-279B-8779-2518-7D3346E416C9}"/>
              </a:ext>
            </a:extLst>
          </p:cNvPr>
          <p:cNvSpPr txBox="1"/>
          <p:nvPr/>
        </p:nvSpPr>
        <p:spPr>
          <a:xfrm>
            <a:off x="136323" y="2397167"/>
            <a:ext cx="4572000" cy="1077218"/>
          </a:xfrm>
          <a:prstGeom prst="rect">
            <a:avLst/>
          </a:prstGeom>
          <a:noFill/>
        </p:spPr>
        <p:txBody>
          <a:bodyPr wrap="square">
            <a:spAutoFit/>
          </a:bodyPr>
          <a:lstStyle/>
          <a:p>
            <a:pPr marL="285750" marR="0" lvl="0"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1B243B"/>
                </a:solidFill>
                <a:latin typeface="Nunito"/>
                <a:ea typeface="Nunito"/>
                <a:cs typeface="Nunito"/>
                <a:sym typeface="Nunito"/>
              </a:rPr>
              <a:t>Functional Class </a:t>
            </a:r>
            <a:r>
              <a:rPr lang="en-AU" sz="1600" dirty="0">
                <a:solidFill>
                  <a:srgbClr val="1B243B"/>
                </a:solidFill>
                <a:latin typeface="Nunito"/>
                <a:ea typeface="Nunito"/>
                <a:cs typeface="Nunito"/>
                <a:sym typeface="Nunito"/>
              </a:rPr>
              <a:t>S</a:t>
            </a:r>
            <a:r>
              <a:rPr lang="en-AU" sz="1600" b="0" i="0" u="none" strike="noStrike" cap="none" dirty="0">
                <a:solidFill>
                  <a:srgbClr val="1B243B"/>
                </a:solidFill>
                <a:latin typeface="Nunito"/>
                <a:ea typeface="Nunito"/>
                <a:cs typeface="Nunito"/>
                <a:sym typeface="Nunito"/>
              </a:rPr>
              <a:t>coring (Rank-based)</a:t>
            </a:r>
            <a:endParaRPr lang="en-AU" dirty="0"/>
          </a:p>
          <a:p>
            <a:pPr marL="0" marR="0" lvl="1" indent="0" algn="l" rtl="0">
              <a:lnSpc>
                <a:spcPct val="100000"/>
              </a:lnSpc>
              <a:spcBef>
                <a:spcPts val="0"/>
              </a:spcBef>
              <a:spcAft>
                <a:spcPts val="0"/>
              </a:spcAft>
              <a:buNone/>
            </a:pPr>
            <a:r>
              <a:rPr lang="en-AU" sz="1200" b="0" i="0" u="none" strike="noStrike" cap="none" dirty="0">
                <a:solidFill>
                  <a:srgbClr val="1B243B"/>
                </a:solidFill>
                <a:latin typeface="Nunito"/>
                <a:ea typeface="Nunito"/>
                <a:cs typeface="Nunito"/>
                <a:sym typeface="Nunito"/>
              </a:rPr>
              <a:t>	- </a:t>
            </a:r>
            <a:r>
              <a:rPr lang="en-AU" sz="1200" b="0" i="0" u="none" strike="noStrike" cap="none" dirty="0">
                <a:solidFill>
                  <a:srgbClr val="000000"/>
                </a:solidFill>
                <a:latin typeface="Nunito"/>
                <a:ea typeface="Nunito"/>
                <a:cs typeface="Nunito"/>
                <a:sym typeface="Nunito"/>
              </a:rPr>
              <a:t>Pre-ranked GSEA</a:t>
            </a:r>
            <a:endParaRPr lang="en-AU" dirty="0"/>
          </a:p>
          <a:p>
            <a:pPr marL="0" marR="0" lvl="1" indent="0" algn="l" rtl="0">
              <a:lnSpc>
                <a:spcPct val="100000"/>
              </a:lnSpc>
              <a:spcBef>
                <a:spcPts val="0"/>
              </a:spcBef>
              <a:spcAft>
                <a:spcPts val="0"/>
              </a:spcAft>
              <a:buNone/>
            </a:pPr>
            <a:r>
              <a:rPr lang="en-AU" sz="1200" b="0" i="0" u="none" strike="noStrike" cap="none" dirty="0">
                <a:solidFill>
                  <a:srgbClr val="000000"/>
                </a:solidFill>
                <a:latin typeface="Nunito"/>
                <a:ea typeface="Nunito"/>
                <a:cs typeface="Nunito"/>
                <a:sym typeface="Nunito"/>
              </a:rPr>
              <a:t>	- </a:t>
            </a:r>
            <a:r>
              <a:rPr lang="en-AU" sz="1200" b="0" i="0" u="none" strike="noStrike" cap="none" dirty="0" err="1">
                <a:solidFill>
                  <a:srgbClr val="000000"/>
                </a:solidFill>
                <a:latin typeface="Nunito"/>
                <a:ea typeface="Nunito"/>
                <a:cs typeface="Nunito"/>
                <a:sym typeface="Nunito"/>
              </a:rPr>
              <a:t>ssGSEA</a:t>
            </a:r>
            <a:endParaRPr lang="en-AU" sz="1200" b="0" i="0" u="none" strike="noStrike" cap="none" dirty="0">
              <a:solidFill>
                <a:srgbClr val="000000"/>
              </a:solidFill>
              <a:latin typeface="Nunito"/>
              <a:ea typeface="Nunito"/>
              <a:cs typeface="Nunito"/>
              <a:sym typeface="Nunito"/>
            </a:endParaRPr>
          </a:p>
          <a:p>
            <a:pPr marL="0" marR="0" lvl="1" indent="0" algn="l" rtl="0">
              <a:lnSpc>
                <a:spcPct val="100000"/>
              </a:lnSpc>
              <a:spcBef>
                <a:spcPts val="0"/>
              </a:spcBef>
              <a:spcAft>
                <a:spcPts val="0"/>
              </a:spcAft>
              <a:buNone/>
            </a:pPr>
            <a:r>
              <a:rPr lang="en-AU" sz="1200" b="0" i="0" u="none" strike="noStrike" cap="none" dirty="0">
                <a:solidFill>
                  <a:srgbClr val="000000"/>
                </a:solidFill>
                <a:latin typeface="Nunito"/>
                <a:ea typeface="Nunito"/>
                <a:cs typeface="Nunito"/>
                <a:sym typeface="Nunito"/>
              </a:rPr>
              <a:t>	- Camera</a:t>
            </a:r>
            <a:endParaRPr lang="en-AU" dirty="0"/>
          </a:p>
          <a:p>
            <a:pPr marL="0" marR="0" lvl="1" indent="0" algn="l" rtl="0">
              <a:lnSpc>
                <a:spcPct val="100000"/>
              </a:lnSpc>
              <a:spcBef>
                <a:spcPts val="0"/>
              </a:spcBef>
              <a:spcAft>
                <a:spcPts val="0"/>
              </a:spcAft>
              <a:buNone/>
            </a:pPr>
            <a:r>
              <a:rPr lang="en-AU" sz="1200" b="0" i="0" u="none" strike="noStrike" cap="none" dirty="0">
                <a:solidFill>
                  <a:srgbClr val="000000"/>
                </a:solidFill>
                <a:latin typeface="Nunito"/>
                <a:ea typeface="Nunito"/>
                <a:cs typeface="Nunito"/>
                <a:sym typeface="Nunito"/>
              </a:rPr>
              <a:t>	- ROAST</a:t>
            </a:r>
          </a:p>
        </p:txBody>
      </p:sp>
      <p:sp>
        <p:nvSpPr>
          <p:cNvPr id="12" name="TextBox 11">
            <a:extLst>
              <a:ext uri="{FF2B5EF4-FFF2-40B4-BE49-F238E27FC236}">
                <a16:creationId xmlns:a16="http://schemas.microsoft.com/office/drawing/2014/main" id="{94EF56BE-99E1-9375-DB32-9A11FD9BEA09}"/>
              </a:ext>
            </a:extLst>
          </p:cNvPr>
          <p:cNvSpPr txBox="1"/>
          <p:nvPr/>
        </p:nvSpPr>
        <p:spPr>
          <a:xfrm>
            <a:off x="136323" y="3474385"/>
            <a:ext cx="4572000" cy="1077218"/>
          </a:xfrm>
          <a:prstGeom prst="rect">
            <a:avLst/>
          </a:prstGeom>
          <a:noFill/>
        </p:spPr>
        <p:txBody>
          <a:bodyPr wrap="square">
            <a:spAutoFit/>
          </a:bodyPr>
          <a:lstStyle/>
          <a:p>
            <a:pPr marL="0" marR="0" lvl="1" indent="0" algn="l" rtl="0">
              <a:lnSpc>
                <a:spcPct val="100000"/>
              </a:lnSpc>
              <a:spcBef>
                <a:spcPts val="0"/>
              </a:spcBef>
              <a:spcAft>
                <a:spcPts val="0"/>
              </a:spcAft>
              <a:buNone/>
            </a:pPr>
            <a:endParaRPr lang="en-AU" sz="1200" b="0" i="0" u="none" strike="noStrike" cap="none" dirty="0">
              <a:solidFill>
                <a:srgbClr val="1B243B"/>
              </a:solidFill>
              <a:latin typeface="Nunito"/>
              <a:ea typeface="Nunito"/>
              <a:cs typeface="Nunito"/>
              <a:sym typeface="Nunito"/>
            </a:endParaRPr>
          </a:p>
          <a:p>
            <a:pPr marL="0" marR="0" lvl="1" indent="0" algn="l" rtl="0">
              <a:lnSpc>
                <a:spcPct val="100000"/>
              </a:lnSpc>
              <a:spcBef>
                <a:spcPts val="0"/>
              </a:spcBef>
              <a:spcAft>
                <a:spcPts val="0"/>
              </a:spcAft>
              <a:buNone/>
            </a:pPr>
            <a:endParaRPr lang="en-AU" sz="1200" b="0" i="0" u="none" strike="noStrike" cap="none" dirty="0">
              <a:solidFill>
                <a:srgbClr val="1B243B"/>
              </a:solidFill>
              <a:latin typeface="Nunito"/>
              <a:ea typeface="Nunito"/>
              <a:cs typeface="Nunito"/>
              <a:sym typeface="Nunito"/>
            </a:endParaRPr>
          </a:p>
          <a:p>
            <a:pPr marL="285750" marR="0" lvl="1" indent="-285750" algn="l" rtl="0">
              <a:lnSpc>
                <a:spcPct val="100000"/>
              </a:lnSpc>
              <a:spcBef>
                <a:spcPts val="0"/>
              </a:spcBef>
              <a:spcAft>
                <a:spcPts val="0"/>
              </a:spcAft>
              <a:buClr>
                <a:srgbClr val="000000"/>
              </a:buClr>
              <a:buSzPts val="1600"/>
              <a:buFont typeface="Arial"/>
              <a:buChar char="•"/>
            </a:pPr>
            <a:r>
              <a:rPr lang="en-AU" sz="1600" b="0" i="0" u="none" strike="noStrike" cap="none" dirty="0">
                <a:solidFill>
                  <a:srgbClr val="1B243B"/>
                </a:solidFill>
                <a:latin typeface="Nunito"/>
                <a:ea typeface="Nunito"/>
                <a:cs typeface="Nunito"/>
                <a:sym typeface="Nunito"/>
              </a:rPr>
              <a:t>Topology-based </a:t>
            </a:r>
            <a:r>
              <a:rPr lang="en-AU" sz="1600" dirty="0">
                <a:solidFill>
                  <a:schemeClr val="dk1"/>
                </a:solidFill>
                <a:latin typeface="Nunito"/>
                <a:ea typeface="Nunito"/>
                <a:cs typeface="Nunito"/>
                <a:sym typeface="Nunito"/>
              </a:rPr>
              <a:t>Pathway Analysis (</a:t>
            </a:r>
            <a:r>
              <a:rPr lang="en-AU" sz="1600" dirty="0">
                <a:solidFill>
                  <a:srgbClr val="FF0000"/>
                </a:solidFill>
                <a:latin typeface="Nunito"/>
                <a:ea typeface="Nunito"/>
                <a:cs typeface="Nunito"/>
                <a:sym typeface="Nunito"/>
              </a:rPr>
              <a:t>TPA</a:t>
            </a:r>
            <a:r>
              <a:rPr lang="en-AU" sz="1600" dirty="0">
                <a:solidFill>
                  <a:schemeClr val="dk1"/>
                </a:solidFill>
                <a:latin typeface="Nunito"/>
                <a:ea typeface="Nunito"/>
                <a:cs typeface="Nunito"/>
                <a:sym typeface="Nunito"/>
              </a:rPr>
              <a:t>)</a:t>
            </a:r>
            <a:endParaRPr lang="en-AU" dirty="0"/>
          </a:p>
          <a:p>
            <a:pPr marL="0" marR="0" lvl="0" indent="0" algn="l" rtl="0">
              <a:lnSpc>
                <a:spcPct val="100000"/>
              </a:lnSpc>
              <a:spcBef>
                <a:spcPts val="0"/>
              </a:spcBef>
              <a:spcAft>
                <a:spcPts val="0"/>
              </a:spcAft>
              <a:buNone/>
            </a:pPr>
            <a:r>
              <a:rPr lang="en-AU" sz="1200" b="0" i="0" u="none" strike="noStrike" cap="none" dirty="0">
                <a:solidFill>
                  <a:srgbClr val="1B243B"/>
                </a:solidFill>
                <a:latin typeface="Nunito"/>
                <a:ea typeface="Nunito"/>
                <a:cs typeface="Nunito"/>
                <a:sym typeface="Nunito"/>
              </a:rPr>
              <a:t>	- </a:t>
            </a:r>
            <a:r>
              <a:rPr lang="en-AU" sz="1200" b="0" i="0" u="none" strike="noStrike" cap="none" dirty="0">
                <a:solidFill>
                  <a:srgbClr val="000000"/>
                </a:solidFill>
                <a:latin typeface="Nunito"/>
                <a:ea typeface="Nunito"/>
                <a:cs typeface="Nunito"/>
                <a:sym typeface="Nunito"/>
              </a:rPr>
              <a:t>SPIA</a:t>
            </a:r>
            <a:br>
              <a:rPr lang="en-AU" sz="1200" b="0" i="0" u="none" strike="noStrike" cap="none" dirty="0">
                <a:solidFill>
                  <a:srgbClr val="000000"/>
                </a:solidFill>
                <a:latin typeface="Nunito"/>
                <a:ea typeface="Nunito"/>
                <a:cs typeface="Nunito"/>
                <a:sym typeface="Nunito"/>
              </a:rPr>
            </a:br>
            <a:r>
              <a:rPr lang="en-AU" sz="1200" b="0" i="0" u="none" strike="noStrike" cap="none" dirty="0">
                <a:solidFill>
                  <a:srgbClr val="000000"/>
                </a:solidFill>
                <a:latin typeface="Nunito"/>
                <a:ea typeface="Nunito"/>
                <a:cs typeface="Nunito"/>
                <a:sym typeface="Nunito"/>
              </a:rPr>
              <a:t>	- </a:t>
            </a:r>
            <a:r>
              <a:rPr lang="en-AU" sz="1200" b="0" i="0" u="none" strike="noStrike" cap="none" dirty="0" err="1">
                <a:solidFill>
                  <a:schemeClr val="bg2"/>
                </a:solidFill>
                <a:latin typeface="Nunito"/>
                <a:ea typeface="Nunito"/>
                <a:cs typeface="Nunito"/>
                <a:sym typeface="Nunito"/>
              </a:rPr>
              <a:t>TopologyGSEA</a:t>
            </a:r>
            <a:endParaRPr lang="en-AU" sz="1200" b="0" i="0" u="none" strike="noStrike" cap="none" dirty="0">
              <a:solidFill>
                <a:schemeClr val="bg2"/>
              </a:solidFill>
              <a:latin typeface="Nunito"/>
              <a:ea typeface="Nunito"/>
              <a:cs typeface="Nunito"/>
              <a:sym typeface="Nunito"/>
            </a:endParaRPr>
          </a:p>
        </p:txBody>
      </p:sp>
      <p:sp>
        <p:nvSpPr>
          <p:cNvPr id="14" name="TextBox 13">
            <a:extLst>
              <a:ext uri="{FF2B5EF4-FFF2-40B4-BE49-F238E27FC236}">
                <a16:creationId xmlns:a16="http://schemas.microsoft.com/office/drawing/2014/main" id="{0CDA4CED-4D0D-D707-9909-D21C12CD3E2C}"/>
              </a:ext>
            </a:extLst>
          </p:cNvPr>
          <p:cNvSpPr txBox="1"/>
          <p:nvPr/>
        </p:nvSpPr>
        <p:spPr>
          <a:xfrm>
            <a:off x="132878" y="4954673"/>
            <a:ext cx="9091004" cy="215444"/>
          </a:xfrm>
          <a:prstGeom prst="rect">
            <a:avLst/>
          </a:prstGeom>
          <a:noFill/>
        </p:spPr>
        <p:txBody>
          <a:bodyPr wrap="square">
            <a:spAutoFit/>
          </a:bodyPr>
          <a:lstStyle/>
          <a:p>
            <a:r>
              <a:rPr lang="en-AU" sz="800" b="0" i="0" dirty="0">
                <a:solidFill>
                  <a:srgbClr val="212121"/>
                </a:solidFill>
                <a:effectLst/>
                <a:latin typeface="Nunito" pitchFamily="2" charset="77"/>
              </a:rPr>
              <a:t>Zhao K, Rhee SY. Interpreting omics data with pathway enrichment analysis. Trends Genet. </a:t>
            </a:r>
            <a:r>
              <a:rPr lang="en-AU" sz="800" dirty="0">
                <a:solidFill>
                  <a:srgbClr val="212121"/>
                </a:solidFill>
                <a:latin typeface="Nunito" pitchFamily="2" charset="77"/>
              </a:rPr>
              <a:t> </a:t>
            </a:r>
            <a:r>
              <a:rPr lang="en-AU" sz="800" b="0" i="0" dirty="0">
                <a:solidFill>
                  <a:srgbClr val="212121"/>
                </a:solidFill>
                <a:effectLst/>
                <a:latin typeface="Nunito" pitchFamily="2" charset="77"/>
              </a:rPr>
              <a:t>2023</a:t>
            </a:r>
            <a:endParaRPr lang="en-US" sz="800" dirty="0">
              <a:latin typeface="Nunito" pitchFamily="2" charset="77"/>
            </a:endParaRPr>
          </a:p>
        </p:txBody>
      </p:sp>
      <p:sp>
        <p:nvSpPr>
          <p:cNvPr id="15" name="Google Shape;171;g30bad334051_3_111">
            <a:extLst>
              <a:ext uri="{FF2B5EF4-FFF2-40B4-BE49-F238E27FC236}">
                <a16:creationId xmlns:a16="http://schemas.microsoft.com/office/drawing/2014/main" id="{F24594EA-C6A5-B12E-B0A1-74266AABE9CC}"/>
              </a:ext>
            </a:extLst>
          </p:cNvPr>
          <p:cNvSpPr/>
          <p:nvPr/>
        </p:nvSpPr>
        <p:spPr>
          <a:xfrm>
            <a:off x="202312" y="3859929"/>
            <a:ext cx="4140000" cy="709200"/>
          </a:xfrm>
          <a:prstGeom prst="rect">
            <a:avLst/>
          </a:prstGeom>
          <a:noFill/>
          <a:ln w="25400" cap="flat" cmpd="sng">
            <a:solidFill>
              <a:srgbClr val="082B40"/>
            </a:solidFill>
            <a:prstDash val="solid"/>
            <a:round/>
            <a:headEnd type="none" w="sm" len="sm"/>
            <a:tailEnd type="none" w="sm" len="sm"/>
          </a:ln>
        </p:spPr>
        <p:txBody>
          <a:bodyPr spcFirstLastPara="1" wrap="square" lIns="91425" tIns="45700" rIns="91425" bIns="45700" anchor="ctr" anchorCtr="0">
            <a:noAutofit/>
          </a:bodyPr>
          <a:lstStyle/>
          <a:p>
            <a:pPr marL="0" lvl="0" indent="0" algn="l" rtl="0">
              <a:spcBef>
                <a:spcPts val="0"/>
              </a:spcBef>
              <a:spcAft>
                <a:spcPts val="0"/>
              </a:spcAft>
              <a:buNone/>
            </a:pPr>
            <a:endParaRPr>
              <a:solidFill>
                <a:schemeClr val="l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p:bldP spid="10" grpId="0"/>
      <p:bldP spid="12" grpId="0"/>
      <p:bldP spid="14" grpId="0"/>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8277CD57-2B89-001B-3A4B-F6931A70F530}"/>
            </a:ext>
          </a:extLst>
        </p:cNvPr>
        <p:cNvGrpSpPr/>
        <p:nvPr/>
      </p:nvGrpSpPr>
      <p:grpSpPr>
        <a:xfrm>
          <a:off x="0" y="0"/>
          <a:ext cx="0" cy="0"/>
          <a:chOff x="0" y="0"/>
          <a:chExt cx="0" cy="0"/>
        </a:xfrm>
      </p:grpSpPr>
      <p:sp>
        <p:nvSpPr>
          <p:cNvPr id="169" name="Google Shape;169;g30bad334051_3_111">
            <a:extLst>
              <a:ext uri="{FF2B5EF4-FFF2-40B4-BE49-F238E27FC236}">
                <a16:creationId xmlns:a16="http://schemas.microsoft.com/office/drawing/2014/main" id="{B53FA20B-9965-2CDE-174A-58B345C81346}"/>
              </a:ext>
            </a:extLst>
          </p:cNvPr>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lvl="0">
              <a:buNone/>
            </a:pPr>
            <a:r>
              <a:rPr lang="en-AU" dirty="0"/>
              <a:t>Comparison of Enrichment Methods</a:t>
            </a:r>
            <a:endParaRPr dirty="0"/>
          </a:p>
        </p:txBody>
      </p:sp>
      <p:graphicFrame>
        <p:nvGraphicFramePr>
          <p:cNvPr id="2" name="Table 1">
            <a:extLst>
              <a:ext uri="{FF2B5EF4-FFF2-40B4-BE49-F238E27FC236}">
                <a16:creationId xmlns:a16="http://schemas.microsoft.com/office/drawing/2014/main" id="{70AC570F-8220-AC9C-8E34-29D977FC00F7}"/>
              </a:ext>
            </a:extLst>
          </p:cNvPr>
          <p:cNvGraphicFramePr>
            <a:graphicFrameLocks noGrp="1"/>
          </p:cNvGraphicFramePr>
          <p:nvPr>
            <p:extLst>
              <p:ext uri="{D42A27DB-BD31-4B8C-83A1-F6EECF244321}">
                <p14:modId xmlns:p14="http://schemas.microsoft.com/office/powerpoint/2010/main" val="1362168443"/>
              </p:ext>
            </p:extLst>
          </p:nvPr>
        </p:nvGraphicFramePr>
        <p:xfrm>
          <a:off x="986171" y="1355718"/>
          <a:ext cx="8095129" cy="3048000"/>
        </p:xfrm>
        <a:graphic>
          <a:graphicData uri="http://schemas.openxmlformats.org/drawingml/2006/table">
            <a:tbl>
              <a:tblPr firstRow="1" firstCol="1" bandRow="1"/>
              <a:tblGrid>
                <a:gridCol w="1478715">
                  <a:extLst>
                    <a:ext uri="{9D8B030D-6E8A-4147-A177-3AD203B41FA5}">
                      <a16:colId xmlns:a16="http://schemas.microsoft.com/office/drawing/2014/main" val="1197997497"/>
                    </a:ext>
                  </a:extLst>
                </a:gridCol>
                <a:gridCol w="2958815">
                  <a:extLst>
                    <a:ext uri="{9D8B030D-6E8A-4147-A177-3AD203B41FA5}">
                      <a16:colId xmlns:a16="http://schemas.microsoft.com/office/drawing/2014/main" val="1309478807"/>
                    </a:ext>
                  </a:extLst>
                </a:gridCol>
                <a:gridCol w="3657599">
                  <a:extLst>
                    <a:ext uri="{9D8B030D-6E8A-4147-A177-3AD203B41FA5}">
                      <a16:colId xmlns:a16="http://schemas.microsoft.com/office/drawing/2014/main" val="1711911634"/>
                    </a:ext>
                  </a:extLst>
                </a:gridCol>
              </a:tblGrid>
              <a:tr h="84297">
                <a:tc>
                  <a:txBody>
                    <a:bodyPr/>
                    <a:lstStyle/>
                    <a:p>
                      <a:pPr>
                        <a:buNone/>
                      </a:pPr>
                      <a:r>
                        <a:rPr lang="en-AU" sz="1000" b="1">
                          <a:solidFill>
                            <a:srgbClr val="000000"/>
                          </a:solidFill>
                          <a:effectLst/>
                          <a:latin typeface="Nunito" pitchFamily="2" charset="77"/>
                          <a:ea typeface="Times New Roman" panose="02020603050405020304" pitchFamily="18" charset="0"/>
                          <a:cs typeface="Times New Roman" panose="02020603050405020304" pitchFamily="18" charset="0"/>
                        </a:rPr>
                        <a:t>Method Type</a:t>
                      </a:r>
                      <a:endParaRPr lang="en-AU" sz="1000" b="1">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9050" cap="flat" cmpd="sng" algn="ctr">
                      <a:solidFill>
                        <a:srgbClr val="F4B083"/>
                      </a:solidFill>
                      <a:prstDash val="solid"/>
                      <a:round/>
                      <a:headEnd type="none" w="med" len="med"/>
                      <a:tailEnd type="none" w="med" len="med"/>
                    </a:lnB>
                    <a:noFill/>
                  </a:tcPr>
                </a:tc>
                <a:tc>
                  <a:txBody>
                    <a:bodyPr/>
                    <a:lstStyle/>
                    <a:p>
                      <a:pPr>
                        <a:buNone/>
                      </a:pPr>
                      <a:r>
                        <a:rPr lang="en-AU" sz="1000" b="1" dirty="0">
                          <a:solidFill>
                            <a:srgbClr val="000000"/>
                          </a:solidFill>
                          <a:effectLst/>
                          <a:latin typeface="Nunito" pitchFamily="2" charset="77"/>
                          <a:ea typeface="Times New Roman" panose="02020603050405020304" pitchFamily="18" charset="0"/>
                          <a:cs typeface="Times New Roman" panose="02020603050405020304" pitchFamily="18" charset="0"/>
                        </a:rPr>
                        <a:t>Advantages</a:t>
                      </a:r>
                      <a:endParaRPr lang="en-AU" sz="1000" b="1"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9050" cap="flat" cmpd="sng" algn="ctr">
                      <a:solidFill>
                        <a:srgbClr val="F4B083"/>
                      </a:solidFill>
                      <a:prstDash val="solid"/>
                      <a:round/>
                      <a:headEnd type="none" w="med" len="med"/>
                      <a:tailEnd type="none" w="med" len="med"/>
                    </a:lnB>
                    <a:noFill/>
                  </a:tcPr>
                </a:tc>
                <a:tc>
                  <a:txBody>
                    <a:bodyPr/>
                    <a:lstStyle/>
                    <a:p>
                      <a:pPr>
                        <a:buNone/>
                      </a:pPr>
                      <a:r>
                        <a:rPr lang="en-AU" sz="1000" b="1" dirty="0">
                          <a:solidFill>
                            <a:srgbClr val="000000"/>
                          </a:solidFill>
                          <a:effectLst/>
                          <a:latin typeface="Nunito" pitchFamily="2" charset="77"/>
                          <a:ea typeface="Times New Roman" panose="02020603050405020304" pitchFamily="18" charset="0"/>
                          <a:cs typeface="Times New Roman" panose="02020603050405020304" pitchFamily="18" charset="0"/>
                        </a:rPr>
                        <a:t>Disadvantages</a:t>
                      </a:r>
                      <a:endParaRPr lang="en-AU" sz="1000" b="1"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9050" cap="flat" cmpd="sng" algn="ctr">
                      <a:solidFill>
                        <a:srgbClr val="F4B083"/>
                      </a:solidFill>
                      <a:prstDash val="solid"/>
                      <a:round/>
                      <a:headEnd type="none" w="med" len="med"/>
                      <a:tailEnd type="none" w="med" len="med"/>
                    </a:lnB>
                    <a:noFill/>
                  </a:tcPr>
                </a:tc>
                <a:extLst>
                  <a:ext uri="{0D108BD9-81ED-4DB2-BD59-A6C34878D82A}">
                    <a16:rowId xmlns:a16="http://schemas.microsoft.com/office/drawing/2014/main" val="3790428466"/>
                  </a:ext>
                </a:extLst>
              </a:tr>
              <a:tr h="6069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Over-Representation Analysis </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a:t>
                      </a:r>
                      <a:r>
                        <a:rPr lang="en-AU" sz="1000" b="1" dirty="0">
                          <a:solidFill>
                            <a:srgbClr val="000000"/>
                          </a:solidFill>
                          <a:effectLst/>
                          <a:latin typeface="Nunito" pitchFamily="2" charset="77"/>
                          <a:ea typeface="Times New Roman" panose="02020603050405020304" pitchFamily="18" charset="0"/>
                          <a:cs typeface="Times New Roman" panose="02020603050405020304" pitchFamily="18" charset="0"/>
                        </a:rPr>
                        <a:t>1st Generation</a:t>
                      </a: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a:t>
                      </a: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9050" cap="flat" cmpd="sng" algn="ctr">
                      <a:solidFill>
                        <a:srgbClr val="F4B083"/>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Straightforward</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Widely implemented</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9050" cap="flat" cmpd="sng" algn="ctr">
                      <a:solidFill>
                        <a:srgbClr val="F4B083"/>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Ignores expression magnitude (treats all genes equally).</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Requires arbitrary cutoff thresholds (information loss).</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Assumes independence of each gene and pathway.</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Ignores gene–gene correlation and pathway overlap.</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May produce biased significance when pathways share genes.</a:t>
                      </a: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9050" cap="flat" cmpd="sng" algn="ctr">
                      <a:solidFill>
                        <a:srgbClr val="F4B083"/>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3177239360"/>
                  </a:ext>
                </a:extLst>
              </a:tr>
              <a:tr h="68280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Functional Class Scoring </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a:t>
                      </a:r>
                      <a:r>
                        <a:rPr lang="en-AU" sz="1000" b="1" dirty="0">
                          <a:solidFill>
                            <a:srgbClr val="000000"/>
                          </a:solidFill>
                          <a:effectLst/>
                          <a:latin typeface="Nunito" pitchFamily="2" charset="77"/>
                          <a:ea typeface="Times New Roman" panose="02020603050405020304" pitchFamily="18" charset="0"/>
                          <a:cs typeface="Times New Roman" panose="02020603050405020304" pitchFamily="18" charset="0"/>
                        </a:rPr>
                        <a:t>2nd Generation</a:t>
                      </a: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a:t>
                      </a: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Uses all genes (no arbitrary cutoff).</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Detects subtle, coordinated expression changes.</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Incorporates gene-level statistics (fold-change, t-score, etc.).</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Considers dependence among genes in a pathway.</a:t>
                      </a: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Still analyses each pathway independently.</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Overlaps among gene sets can inflate significance.</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Many methods use rank-based scores, ignoring magnitude differences.</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Does not include interaction directionality or pathway structure.</a:t>
                      </a: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111629255"/>
                  </a:ext>
                </a:extLst>
              </a:tr>
              <a:tr h="43380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Pathway Topology–based Analysis </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a:t>
                      </a:r>
                      <a:r>
                        <a:rPr lang="en-AU" sz="1000" b="1" dirty="0">
                          <a:solidFill>
                            <a:srgbClr val="000000"/>
                          </a:solidFill>
                          <a:effectLst/>
                          <a:latin typeface="Nunito" pitchFamily="2" charset="77"/>
                          <a:ea typeface="Times New Roman" panose="02020603050405020304" pitchFamily="18" charset="0"/>
                          <a:cs typeface="Times New Roman" panose="02020603050405020304" pitchFamily="18" charset="0"/>
                        </a:rPr>
                        <a:t>3rd Generation</a:t>
                      </a: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a:t>
                      </a: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Incorporates pathway topology (interactions, direction, activation/inhibition).</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Models propagation of perturbations through the network.</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Identifies upstream/downstream effects and key nodes.</a:t>
                      </a:r>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t>• More mechanistic and biologically realistic.</a:t>
                      </a: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br>
                        <a:rPr lang="en-AU" sz="1000" dirty="0">
                          <a:solidFill>
                            <a:srgbClr val="000000"/>
                          </a:solidFill>
                          <a:effectLst/>
                          <a:latin typeface="Nunito" pitchFamily="2" charset="77"/>
                          <a:ea typeface="Times New Roman" panose="02020603050405020304" pitchFamily="18" charset="0"/>
                          <a:cs typeface="Times New Roman" panose="02020603050405020304" pitchFamily="18" charset="0"/>
                        </a:rPr>
                      </a:br>
                      <a:r>
                        <a:rPr lang="en-AU" sz="1000" b="0" i="0" u="none" strike="noStrike" cap="none" dirty="0">
                          <a:solidFill>
                            <a:srgbClr val="000000"/>
                          </a:solidFill>
                          <a:effectLst/>
                          <a:latin typeface="Nunito" pitchFamily="2" charset="77"/>
                          <a:ea typeface="Times New Roman" panose="02020603050405020304" pitchFamily="18" charset="0"/>
                          <a:cs typeface="Times New Roman" panose="02020603050405020304" pitchFamily="18" charset="0"/>
                          <a:sym typeface="Arial"/>
                        </a:rPr>
                        <a:t>•Requires </a:t>
                      </a:r>
                      <a:r>
                        <a:rPr lang="en-AU" sz="1000" b="0" i="0" u="none" strike="noStrike" cap="none" dirty="0">
                          <a:solidFill>
                            <a:srgbClr val="000000"/>
                          </a:solidFill>
                          <a:effectLst/>
                          <a:latin typeface="Nunito" pitchFamily="2" charset="77"/>
                          <a:ea typeface="+mn-ea"/>
                          <a:cs typeface="Times New Roman" panose="02020603050405020304" pitchFamily="18" charset="0"/>
                          <a:sym typeface="Arial"/>
                        </a:rPr>
                        <a:t>experimental evidence for pathway structures</a:t>
                      </a:r>
                    </a:p>
                    <a:p>
                      <a:r>
                        <a:rPr lang="en-AU" sz="1000" b="0" i="0" u="none" strike="noStrike" cap="none" dirty="0">
                          <a:solidFill>
                            <a:srgbClr val="000000"/>
                          </a:solidFill>
                          <a:effectLst/>
                          <a:latin typeface="Nunito" pitchFamily="2" charset="77"/>
                          <a:ea typeface="+mn-ea"/>
                          <a:cs typeface="Times New Roman" panose="02020603050405020304" pitchFamily="18" charset="0"/>
                          <a:sym typeface="Arial"/>
                        </a:rPr>
                        <a:t>and gene–gene interactions, which is largely unavailable for many organisms.</a:t>
                      </a:r>
                    </a:p>
                    <a:p>
                      <a:pPr>
                        <a:buNone/>
                      </a:pPr>
                      <a:endParaRPr lang="en-AU" sz="1000" dirty="0">
                        <a:effectLst/>
                        <a:latin typeface="Nunito" pitchFamily="2" charset="77"/>
                        <a:ea typeface="Times New Roman" panose="02020603050405020304" pitchFamily="18" charset="0"/>
                        <a:cs typeface="Times New Roman" panose="02020603050405020304" pitchFamily="18" charset="0"/>
                      </a:endParaRPr>
                    </a:p>
                  </a:txBody>
                  <a:tcPr marL="33545" marR="33545" marT="0" marB="0">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1937222294"/>
                  </a:ext>
                </a:extLst>
              </a:tr>
            </a:tbl>
          </a:graphicData>
        </a:graphic>
      </p:graphicFrame>
      <p:pic>
        <p:nvPicPr>
          <p:cNvPr id="3" name="Picture 2">
            <a:extLst>
              <a:ext uri="{FF2B5EF4-FFF2-40B4-BE49-F238E27FC236}">
                <a16:creationId xmlns:a16="http://schemas.microsoft.com/office/drawing/2014/main" id="{0809F2A0-6DE6-704B-810C-C7EE90487BA5}"/>
              </a:ext>
            </a:extLst>
          </p:cNvPr>
          <p:cNvPicPr>
            <a:picLocks noChangeAspect="1"/>
          </p:cNvPicPr>
          <p:nvPr/>
        </p:nvPicPr>
        <p:blipFill>
          <a:blip r:embed="rId3"/>
          <a:srcRect r="67930"/>
          <a:stretch>
            <a:fillRect/>
          </a:stretch>
        </p:blipFill>
        <p:spPr>
          <a:xfrm>
            <a:off x="88836" y="1563423"/>
            <a:ext cx="871200" cy="720000"/>
          </a:xfrm>
          <a:prstGeom prst="rect">
            <a:avLst/>
          </a:prstGeom>
        </p:spPr>
      </p:pic>
      <p:pic>
        <p:nvPicPr>
          <p:cNvPr id="4" name="Picture 3">
            <a:extLst>
              <a:ext uri="{FF2B5EF4-FFF2-40B4-BE49-F238E27FC236}">
                <a16:creationId xmlns:a16="http://schemas.microsoft.com/office/drawing/2014/main" id="{7364CDD1-88C0-EAEB-2730-61689A0402A6}"/>
              </a:ext>
            </a:extLst>
          </p:cNvPr>
          <p:cNvPicPr>
            <a:picLocks noChangeAspect="1"/>
          </p:cNvPicPr>
          <p:nvPr/>
        </p:nvPicPr>
        <p:blipFill>
          <a:blip r:embed="rId3"/>
          <a:srcRect l="32070" r="31621"/>
          <a:stretch>
            <a:fillRect/>
          </a:stretch>
        </p:blipFill>
        <p:spPr>
          <a:xfrm>
            <a:off x="88836" y="2519718"/>
            <a:ext cx="871200" cy="720000"/>
          </a:xfrm>
          <a:prstGeom prst="rect">
            <a:avLst/>
          </a:prstGeom>
        </p:spPr>
      </p:pic>
      <p:pic>
        <p:nvPicPr>
          <p:cNvPr id="5" name="Picture 4">
            <a:extLst>
              <a:ext uri="{FF2B5EF4-FFF2-40B4-BE49-F238E27FC236}">
                <a16:creationId xmlns:a16="http://schemas.microsoft.com/office/drawing/2014/main" id="{EF3E32DE-B47A-5027-D281-291735AD979B}"/>
              </a:ext>
            </a:extLst>
          </p:cNvPr>
          <p:cNvPicPr>
            <a:picLocks noChangeAspect="1"/>
          </p:cNvPicPr>
          <p:nvPr/>
        </p:nvPicPr>
        <p:blipFill>
          <a:blip r:embed="rId3"/>
          <a:srcRect l="68379"/>
          <a:stretch>
            <a:fillRect/>
          </a:stretch>
        </p:blipFill>
        <p:spPr>
          <a:xfrm>
            <a:off x="89805" y="3476013"/>
            <a:ext cx="870231" cy="720000"/>
          </a:xfrm>
          <a:prstGeom prst="rect">
            <a:avLst/>
          </a:prstGeom>
        </p:spPr>
      </p:pic>
    </p:spTree>
    <p:extLst>
      <p:ext uri="{BB962C8B-B14F-4D97-AF65-F5344CB8AC3E}">
        <p14:creationId xmlns:p14="http://schemas.microsoft.com/office/powerpoint/2010/main" val="1450769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2fc52d580c8_0_46"/>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a:t>Why/when ora/gsea? Or both?</a:t>
            </a:r>
            <a:endParaRPr/>
          </a:p>
        </p:txBody>
      </p:sp>
      <p:graphicFrame>
        <p:nvGraphicFramePr>
          <p:cNvPr id="177" name="Google Shape;177;g2fc52d580c8_0_46"/>
          <p:cNvGraphicFramePr/>
          <p:nvPr>
            <p:extLst>
              <p:ext uri="{D42A27DB-BD31-4B8C-83A1-F6EECF244321}">
                <p14:modId xmlns:p14="http://schemas.microsoft.com/office/powerpoint/2010/main" val="2115094152"/>
              </p:ext>
            </p:extLst>
          </p:nvPr>
        </p:nvGraphicFramePr>
        <p:xfrm>
          <a:off x="952500" y="1121750"/>
          <a:ext cx="7239000" cy="3261150"/>
        </p:xfrm>
        <a:graphic>
          <a:graphicData uri="http://schemas.openxmlformats.org/drawingml/2006/table">
            <a:tbl>
              <a:tblPr>
                <a:noFill/>
                <a:tableStyleId>{72E0EC5B-1B34-438A-A319-86F458C8C859}</a:tableStyleId>
              </a:tblPr>
              <a:tblGrid>
                <a:gridCol w="1435350">
                  <a:extLst>
                    <a:ext uri="{9D8B030D-6E8A-4147-A177-3AD203B41FA5}">
                      <a16:colId xmlns:a16="http://schemas.microsoft.com/office/drawing/2014/main" val="20000"/>
                    </a:ext>
                  </a:extLst>
                </a:gridCol>
                <a:gridCol w="2796700">
                  <a:extLst>
                    <a:ext uri="{9D8B030D-6E8A-4147-A177-3AD203B41FA5}">
                      <a16:colId xmlns:a16="http://schemas.microsoft.com/office/drawing/2014/main" val="20001"/>
                    </a:ext>
                  </a:extLst>
                </a:gridCol>
                <a:gridCol w="3006950">
                  <a:extLst>
                    <a:ext uri="{9D8B030D-6E8A-4147-A177-3AD203B41FA5}">
                      <a16:colId xmlns:a16="http://schemas.microsoft.com/office/drawing/2014/main" val="20002"/>
                    </a:ext>
                  </a:extLst>
                </a:gridCol>
              </a:tblGrid>
              <a:tr h="235375">
                <a:tc>
                  <a:txBody>
                    <a:bodyPr/>
                    <a:lstStyle/>
                    <a:p>
                      <a:pPr marL="0" lvl="0" indent="0" algn="l" rtl="0">
                        <a:spcBef>
                          <a:spcPts val="0"/>
                        </a:spcBef>
                        <a:spcAft>
                          <a:spcPts val="0"/>
                        </a:spcAft>
                        <a:buNone/>
                      </a:pP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ORA</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GSEA</a:t>
                      </a:r>
                      <a:endParaRPr sz="1000"/>
                    </a:p>
                  </a:txBody>
                  <a:tcPr marL="91425" marR="91425" marT="91425" marB="91425">
                    <a:solidFill>
                      <a:schemeClr val="lt1"/>
                    </a:solidFill>
                  </a:tcPr>
                </a:tc>
                <a:extLst>
                  <a:ext uri="{0D108BD9-81ED-4DB2-BD59-A6C34878D82A}">
                    <a16:rowId xmlns:a16="http://schemas.microsoft.com/office/drawing/2014/main" val="10000"/>
                  </a:ext>
                </a:extLst>
              </a:tr>
              <a:tr h="235375">
                <a:tc>
                  <a:txBody>
                    <a:bodyPr/>
                    <a:lstStyle/>
                    <a:p>
                      <a:pPr marL="0" lvl="0" indent="0" algn="l" rtl="0">
                        <a:spcBef>
                          <a:spcPts val="0"/>
                        </a:spcBef>
                        <a:spcAft>
                          <a:spcPts val="0"/>
                        </a:spcAft>
                        <a:buNone/>
                      </a:pPr>
                      <a:r>
                        <a:rPr lang="en-AU" sz="1000"/>
                        <a:t>Purpose</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dirty="0"/>
                        <a:t>Is a set of genes overrepresented in a list of significantly expressed genes?</a:t>
                      </a:r>
                      <a:endParaRPr sz="1000" dirty="0"/>
                    </a:p>
                  </a:txBody>
                  <a:tcPr marL="91425" marR="91425" marT="91425" marB="91425">
                    <a:solidFill>
                      <a:schemeClr val="lt1"/>
                    </a:solidFill>
                  </a:tcPr>
                </a:tc>
                <a:tc>
                  <a:txBody>
                    <a:bodyPr/>
                    <a:lstStyle/>
                    <a:p>
                      <a:pPr marL="0" lvl="0" indent="0" algn="l" rtl="0">
                        <a:spcBef>
                          <a:spcPts val="0"/>
                        </a:spcBef>
                        <a:spcAft>
                          <a:spcPts val="0"/>
                        </a:spcAft>
                        <a:buNone/>
                      </a:pPr>
                      <a:r>
                        <a:rPr lang="en-AU" sz="1000"/>
                        <a:t>Does a set of genes appear more often at the top of bottom of a ranked list </a:t>
                      </a:r>
                      <a:endParaRPr sz="1000"/>
                    </a:p>
                  </a:txBody>
                  <a:tcPr marL="91425" marR="91425" marT="91425" marB="91425">
                    <a:solidFill>
                      <a:schemeClr val="lt1"/>
                    </a:solidFill>
                  </a:tcPr>
                </a:tc>
                <a:extLst>
                  <a:ext uri="{0D108BD9-81ED-4DB2-BD59-A6C34878D82A}">
                    <a16:rowId xmlns:a16="http://schemas.microsoft.com/office/drawing/2014/main" val="10001"/>
                  </a:ext>
                </a:extLst>
              </a:tr>
              <a:tr h="235375">
                <a:tc>
                  <a:txBody>
                    <a:bodyPr/>
                    <a:lstStyle/>
                    <a:p>
                      <a:pPr marL="0" lvl="0" indent="0" algn="l" rtl="0">
                        <a:spcBef>
                          <a:spcPts val="0"/>
                        </a:spcBef>
                        <a:spcAft>
                          <a:spcPts val="0"/>
                        </a:spcAft>
                        <a:buNone/>
                      </a:pPr>
                      <a:r>
                        <a:rPr lang="en-AU" sz="1000" dirty="0"/>
                        <a:t>Inputs</a:t>
                      </a:r>
                      <a:endParaRPr sz="1000" dirty="0"/>
                    </a:p>
                  </a:txBody>
                  <a:tcPr marL="91425" marR="91425" marT="91425" marB="91425">
                    <a:solidFill>
                      <a:schemeClr val="lt1"/>
                    </a:solidFill>
                  </a:tcPr>
                </a:tc>
                <a:tc>
                  <a:txBody>
                    <a:bodyPr/>
                    <a:lstStyle/>
                    <a:p>
                      <a:pPr marL="0" lvl="0" indent="0" algn="l" rtl="0">
                        <a:spcBef>
                          <a:spcPts val="0"/>
                        </a:spcBef>
                        <a:spcAft>
                          <a:spcPts val="0"/>
                        </a:spcAft>
                        <a:buNone/>
                      </a:pPr>
                      <a:r>
                        <a:rPr lang="en-AU" sz="1000"/>
                        <a:t>List of significant genes (e.g. based on Pvalue or some cutoff)</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Ranked gene list ordered by continuous metric (e.g. p value)</a:t>
                      </a:r>
                      <a:endParaRPr sz="1000"/>
                    </a:p>
                  </a:txBody>
                  <a:tcPr marL="91425" marR="91425" marT="91425" marB="91425">
                    <a:solidFill>
                      <a:schemeClr val="lt1"/>
                    </a:solidFill>
                  </a:tcPr>
                </a:tc>
                <a:extLst>
                  <a:ext uri="{0D108BD9-81ED-4DB2-BD59-A6C34878D82A}">
                    <a16:rowId xmlns:a16="http://schemas.microsoft.com/office/drawing/2014/main" val="10002"/>
                  </a:ext>
                </a:extLst>
              </a:tr>
              <a:tr h="235375">
                <a:tc>
                  <a:txBody>
                    <a:bodyPr/>
                    <a:lstStyle/>
                    <a:p>
                      <a:pPr marL="0" lvl="0" indent="0" algn="l" rtl="0">
                        <a:spcBef>
                          <a:spcPts val="0"/>
                        </a:spcBef>
                        <a:spcAft>
                          <a:spcPts val="0"/>
                        </a:spcAft>
                        <a:buNone/>
                      </a:pPr>
                      <a:r>
                        <a:rPr lang="en-AU" sz="1000"/>
                        <a:t>Gene set definition</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Predefined genes grouped by function, pathway, phenotype</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Same as ORA but applied across whole ranked list</a:t>
                      </a:r>
                      <a:endParaRPr sz="1000"/>
                    </a:p>
                  </a:txBody>
                  <a:tcPr marL="91425" marR="91425" marT="91425" marB="91425">
                    <a:solidFill>
                      <a:schemeClr val="lt1"/>
                    </a:solidFill>
                  </a:tcPr>
                </a:tc>
                <a:extLst>
                  <a:ext uri="{0D108BD9-81ED-4DB2-BD59-A6C34878D82A}">
                    <a16:rowId xmlns:a16="http://schemas.microsoft.com/office/drawing/2014/main" val="10003"/>
                  </a:ext>
                </a:extLst>
              </a:tr>
              <a:tr h="235375">
                <a:tc>
                  <a:txBody>
                    <a:bodyPr/>
                    <a:lstStyle/>
                    <a:p>
                      <a:pPr marL="0" lvl="0" indent="0" algn="l" rtl="0">
                        <a:spcBef>
                          <a:spcPts val="0"/>
                        </a:spcBef>
                        <a:spcAft>
                          <a:spcPts val="0"/>
                        </a:spcAft>
                        <a:buNone/>
                      </a:pPr>
                      <a:r>
                        <a:rPr lang="en-AU" sz="1000"/>
                        <a:t>Outputs</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Enriched gene sets, p values for enriched sets</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Enrichment scores per gene set, normalised enrichment scores, p values/FDR adjusted</a:t>
                      </a:r>
                      <a:endParaRPr sz="1000"/>
                    </a:p>
                  </a:txBody>
                  <a:tcPr marL="91425" marR="91425" marT="91425" marB="91425">
                    <a:solidFill>
                      <a:schemeClr val="lt1"/>
                    </a:solidFill>
                  </a:tcPr>
                </a:tc>
                <a:extLst>
                  <a:ext uri="{0D108BD9-81ED-4DB2-BD59-A6C34878D82A}">
                    <a16:rowId xmlns:a16="http://schemas.microsoft.com/office/drawing/2014/main" val="10004"/>
                  </a:ext>
                </a:extLst>
              </a:tr>
              <a:tr h="235375">
                <a:tc>
                  <a:txBody>
                    <a:bodyPr/>
                    <a:lstStyle/>
                    <a:p>
                      <a:pPr marL="0" lvl="0" indent="0" algn="l" rtl="0">
                        <a:spcBef>
                          <a:spcPts val="0"/>
                        </a:spcBef>
                        <a:spcAft>
                          <a:spcPts val="0"/>
                        </a:spcAft>
                        <a:buNone/>
                      </a:pPr>
                      <a:r>
                        <a:rPr lang="en-AU" sz="1000"/>
                        <a:t>Stats used</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Fishers exact for over-representation?</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a:t>Permutation-based for significance testing?</a:t>
                      </a:r>
                      <a:endParaRPr sz="1000"/>
                    </a:p>
                  </a:txBody>
                  <a:tcPr marL="91425" marR="91425" marT="91425" marB="91425">
                    <a:solidFill>
                      <a:schemeClr val="lt1"/>
                    </a:solidFill>
                  </a:tcPr>
                </a:tc>
                <a:extLst>
                  <a:ext uri="{0D108BD9-81ED-4DB2-BD59-A6C34878D82A}">
                    <a16:rowId xmlns:a16="http://schemas.microsoft.com/office/drawing/2014/main" val="10005"/>
                  </a:ext>
                </a:extLst>
              </a:tr>
              <a:tr h="235375">
                <a:tc>
                  <a:txBody>
                    <a:bodyPr/>
                    <a:lstStyle/>
                    <a:p>
                      <a:pPr marL="0" lvl="0" indent="0" algn="l" rtl="0">
                        <a:spcBef>
                          <a:spcPts val="0"/>
                        </a:spcBef>
                        <a:spcAft>
                          <a:spcPts val="0"/>
                        </a:spcAft>
                        <a:buNone/>
                      </a:pPr>
                      <a:r>
                        <a:rPr lang="en-AU" sz="1000" dirty="0"/>
                        <a:t>Example research q</a:t>
                      </a:r>
                      <a:endParaRPr sz="1000" dirty="0"/>
                    </a:p>
                  </a:txBody>
                  <a:tcPr marL="91425" marR="91425" marT="91425" marB="91425">
                    <a:solidFill>
                      <a:schemeClr val="lt1"/>
                    </a:solidFill>
                  </a:tcPr>
                </a:tc>
                <a:tc>
                  <a:txBody>
                    <a:bodyPr/>
                    <a:lstStyle/>
                    <a:p>
                      <a:pPr marL="0" lvl="0" indent="0" algn="l" rtl="0">
                        <a:spcBef>
                          <a:spcPts val="0"/>
                        </a:spcBef>
                        <a:spcAft>
                          <a:spcPts val="0"/>
                        </a:spcAft>
                        <a:buNone/>
                      </a:pPr>
                      <a:r>
                        <a:rPr lang="en-AU" sz="1000"/>
                        <a:t>What biological pathways are overrepresented among significantly downregulated genes in condition X?</a:t>
                      </a:r>
                      <a:endParaRPr sz="1000"/>
                    </a:p>
                  </a:txBody>
                  <a:tcPr marL="91425" marR="91425" marT="91425" marB="91425">
                    <a:solidFill>
                      <a:schemeClr val="lt1"/>
                    </a:solidFill>
                  </a:tcPr>
                </a:tc>
                <a:tc>
                  <a:txBody>
                    <a:bodyPr/>
                    <a:lstStyle/>
                    <a:p>
                      <a:pPr marL="0" lvl="0" indent="0" algn="l" rtl="0">
                        <a:spcBef>
                          <a:spcPts val="0"/>
                        </a:spcBef>
                        <a:spcAft>
                          <a:spcPts val="0"/>
                        </a:spcAft>
                        <a:buNone/>
                      </a:pPr>
                      <a:r>
                        <a:rPr lang="en-AU" sz="1000" dirty="0"/>
                        <a:t>Are immune-related pathways enriched across patients with condition x compared with healthy controls?</a:t>
                      </a:r>
                      <a:endParaRPr sz="1000" dirty="0"/>
                    </a:p>
                  </a:txBody>
                  <a:tcPr marL="91425" marR="91425" marT="91425" marB="91425">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2fc52d580c8_0_36"/>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a:t>Statistics - overview (ora, gsea)</a:t>
            </a:r>
            <a:endParaRPr/>
          </a:p>
        </p:txBody>
      </p:sp>
      <p:sp>
        <p:nvSpPr>
          <p:cNvPr id="183" name="Google Shape;183;g2fc52d580c8_0_36"/>
          <p:cNvSpPr txBox="1">
            <a:spLocks noGrp="1"/>
          </p:cNvSpPr>
          <p:nvPr>
            <p:ph type="body" idx="1"/>
          </p:nvPr>
        </p:nvSpPr>
        <p:spPr>
          <a:xfrm>
            <a:off x="1080000" y="1152475"/>
            <a:ext cx="6984000" cy="4311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0bad334051_3_121"/>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t>Annotation Databases</a:t>
            </a:r>
            <a:endParaRPr/>
          </a:p>
        </p:txBody>
      </p:sp>
      <p:pic>
        <p:nvPicPr>
          <p:cNvPr id="195" name="Google Shape;195;g30bad334051_3_121"/>
          <p:cNvPicPr preferRelativeResize="0"/>
          <p:nvPr/>
        </p:nvPicPr>
        <p:blipFill rotWithShape="1">
          <a:blip r:embed="rId3">
            <a:alphaModFix/>
          </a:blip>
          <a:srcRect/>
          <a:stretch/>
        </p:blipFill>
        <p:spPr>
          <a:xfrm>
            <a:off x="871883" y="1809914"/>
            <a:ext cx="1617703" cy="416786"/>
          </a:xfrm>
          <a:prstGeom prst="rect">
            <a:avLst/>
          </a:prstGeom>
          <a:noFill/>
          <a:ln>
            <a:noFill/>
          </a:ln>
        </p:spPr>
      </p:pic>
      <p:pic>
        <p:nvPicPr>
          <p:cNvPr id="196" name="Google Shape;196;g30bad334051_3_121"/>
          <p:cNvPicPr preferRelativeResize="0"/>
          <p:nvPr/>
        </p:nvPicPr>
        <p:blipFill rotWithShape="1">
          <a:blip r:embed="rId4">
            <a:alphaModFix/>
          </a:blip>
          <a:srcRect/>
          <a:stretch/>
        </p:blipFill>
        <p:spPr>
          <a:xfrm>
            <a:off x="3258656" y="1809582"/>
            <a:ext cx="581300" cy="416786"/>
          </a:xfrm>
          <a:prstGeom prst="rect">
            <a:avLst/>
          </a:prstGeom>
          <a:noFill/>
          <a:ln>
            <a:noFill/>
          </a:ln>
        </p:spPr>
      </p:pic>
      <p:pic>
        <p:nvPicPr>
          <p:cNvPr id="197" name="Google Shape;197;g30bad334051_3_121"/>
          <p:cNvPicPr preferRelativeResize="0"/>
          <p:nvPr/>
        </p:nvPicPr>
        <p:blipFill rotWithShape="1">
          <a:blip r:embed="rId5">
            <a:alphaModFix/>
          </a:blip>
          <a:srcRect/>
          <a:stretch/>
        </p:blipFill>
        <p:spPr>
          <a:xfrm>
            <a:off x="4680105" y="1809582"/>
            <a:ext cx="1794527" cy="416786"/>
          </a:xfrm>
          <a:prstGeom prst="rect">
            <a:avLst/>
          </a:prstGeom>
          <a:noFill/>
          <a:ln>
            <a:noFill/>
          </a:ln>
        </p:spPr>
      </p:pic>
      <p:pic>
        <p:nvPicPr>
          <p:cNvPr id="198" name="Google Shape;198;g30bad334051_3_121"/>
          <p:cNvPicPr preferRelativeResize="0"/>
          <p:nvPr/>
        </p:nvPicPr>
        <p:blipFill rotWithShape="1">
          <a:blip r:embed="rId6">
            <a:alphaModFix/>
          </a:blip>
          <a:srcRect t="10546"/>
          <a:stretch/>
        </p:blipFill>
        <p:spPr>
          <a:xfrm>
            <a:off x="6662507" y="3499350"/>
            <a:ext cx="1304589" cy="416786"/>
          </a:xfrm>
          <a:prstGeom prst="rect">
            <a:avLst/>
          </a:prstGeom>
          <a:noFill/>
          <a:ln>
            <a:noFill/>
          </a:ln>
        </p:spPr>
      </p:pic>
      <p:pic>
        <p:nvPicPr>
          <p:cNvPr id="199" name="Google Shape;199;g30bad334051_3_121"/>
          <p:cNvPicPr preferRelativeResize="0"/>
          <p:nvPr/>
        </p:nvPicPr>
        <p:blipFill rotWithShape="1">
          <a:blip r:embed="rId7">
            <a:alphaModFix/>
          </a:blip>
          <a:srcRect/>
          <a:stretch/>
        </p:blipFill>
        <p:spPr>
          <a:xfrm>
            <a:off x="4681810" y="3499350"/>
            <a:ext cx="1250344" cy="416786"/>
          </a:xfrm>
          <a:prstGeom prst="rect">
            <a:avLst/>
          </a:prstGeom>
          <a:noFill/>
          <a:ln>
            <a:noFill/>
          </a:ln>
        </p:spPr>
      </p:pic>
      <p:pic>
        <p:nvPicPr>
          <p:cNvPr id="200" name="Google Shape;200;g30bad334051_3_121"/>
          <p:cNvPicPr preferRelativeResize="0"/>
          <p:nvPr/>
        </p:nvPicPr>
        <p:blipFill rotWithShape="1">
          <a:blip r:embed="rId8">
            <a:alphaModFix/>
          </a:blip>
          <a:srcRect/>
          <a:stretch/>
        </p:blipFill>
        <p:spPr>
          <a:xfrm>
            <a:off x="3153031" y="3499350"/>
            <a:ext cx="913504" cy="416786"/>
          </a:xfrm>
          <a:prstGeom prst="rect">
            <a:avLst/>
          </a:prstGeom>
          <a:noFill/>
          <a:ln>
            <a:noFill/>
          </a:ln>
        </p:spPr>
      </p:pic>
      <p:pic>
        <p:nvPicPr>
          <p:cNvPr id="201" name="Google Shape;201;g30bad334051_3_121"/>
          <p:cNvPicPr preferRelativeResize="0"/>
          <p:nvPr/>
        </p:nvPicPr>
        <p:blipFill rotWithShape="1">
          <a:blip r:embed="rId9">
            <a:alphaModFix/>
          </a:blip>
          <a:srcRect/>
          <a:stretch/>
        </p:blipFill>
        <p:spPr>
          <a:xfrm>
            <a:off x="871883" y="2627776"/>
            <a:ext cx="2083930" cy="416786"/>
          </a:xfrm>
          <a:prstGeom prst="rect">
            <a:avLst/>
          </a:prstGeom>
          <a:noFill/>
          <a:ln>
            <a:noFill/>
          </a:ln>
        </p:spPr>
      </p:pic>
      <p:pic>
        <p:nvPicPr>
          <p:cNvPr id="202" name="Google Shape;202;g30bad334051_3_121"/>
          <p:cNvPicPr preferRelativeResize="0"/>
          <p:nvPr/>
        </p:nvPicPr>
        <p:blipFill rotWithShape="1">
          <a:blip r:embed="rId10">
            <a:alphaModFix/>
          </a:blip>
          <a:srcRect/>
          <a:stretch/>
        </p:blipFill>
        <p:spPr>
          <a:xfrm>
            <a:off x="3153031" y="2627776"/>
            <a:ext cx="1373850" cy="416786"/>
          </a:xfrm>
          <a:prstGeom prst="rect">
            <a:avLst/>
          </a:prstGeom>
          <a:noFill/>
          <a:ln>
            <a:noFill/>
          </a:ln>
        </p:spPr>
      </p:pic>
      <p:pic>
        <p:nvPicPr>
          <p:cNvPr id="203" name="Google Shape;203;g30bad334051_3_121" descr="UniProt"/>
          <p:cNvPicPr preferRelativeResize="0"/>
          <p:nvPr/>
        </p:nvPicPr>
        <p:blipFill rotWithShape="1">
          <a:blip r:embed="rId11">
            <a:alphaModFix/>
          </a:blip>
          <a:srcRect/>
          <a:stretch/>
        </p:blipFill>
        <p:spPr>
          <a:xfrm>
            <a:off x="6662507" y="2674727"/>
            <a:ext cx="910348" cy="416786"/>
          </a:xfrm>
          <a:prstGeom prst="rect">
            <a:avLst/>
          </a:prstGeom>
          <a:noFill/>
          <a:ln>
            <a:noFill/>
          </a:ln>
        </p:spPr>
      </p:pic>
      <p:pic>
        <p:nvPicPr>
          <p:cNvPr id="204" name="Google Shape;204;g30bad334051_3_121"/>
          <p:cNvPicPr preferRelativeResize="0"/>
          <p:nvPr/>
        </p:nvPicPr>
        <p:blipFill rotWithShape="1">
          <a:blip r:embed="rId12">
            <a:alphaModFix/>
          </a:blip>
          <a:srcRect/>
          <a:stretch/>
        </p:blipFill>
        <p:spPr>
          <a:xfrm>
            <a:off x="871883" y="3499350"/>
            <a:ext cx="1539266" cy="416786"/>
          </a:xfrm>
          <a:prstGeom prst="rect">
            <a:avLst/>
          </a:prstGeom>
          <a:noFill/>
          <a:ln>
            <a:noFill/>
          </a:ln>
        </p:spPr>
      </p:pic>
      <p:pic>
        <p:nvPicPr>
          <p:cNvPr id="205" name="Google Shape;205;g30bad334051_3_121"/>
          <p:cNvPicPr preferRelativeResize="0"/>
          <p:nvPr/>
        </p:nvPicPr>
        <p:blipFill rotWithShape="1">
          <a:blip r:embed="rId13">
            <a:alphaModFix/>
          </a:blip>
          <a:srcRect/>
          <a:stretch/>
        </p:blipFill>
        <p:spPr>
          <a:xfrm>
            <a:off x="6662507" y="1812218"/>
            <a:ext cx="1344471" cy="416146"/>
          </a:xfrm>
          <a:prstGeom prst="rect">
            <a:avLst/>
          </a:prstGeom>
          <a:noFill/>
          <a:ln>
            <a:noFill/>
          </a:ln>
        </p:spPr>
      </p:pic>
      <p:pic>
        <p:nvPicPr>
          <p:cNvPr id="206" name="Google Shape;206;g30bad334051_3_121" descr="STRING: functional protein association networks"/>
          <p:cNvPicPr preferRelativeResize="0"/>
          <p:nvPr/>
        </p:nvPicPr>
        <p:blipFill rotWithShape="1">
          <a:blip r:embed="rId14">
            <a:alphaModFix/>
          </a:blip>
          <a:srcRect/>
          <a:stretch/>
        </p:blipFill>
        <p:spPr>
          <a:xfrm>
            <a:off x="4680105" y="2674727"/>
            <a:ext cx="1503360" cy="417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0bad334051_3_148"/>
          <p:cNvSpPr txBox="1"/>
          <p:nvPr/>
        </p:nvSpPr>
        <p:spPr>
          <a:xfrm>
            <a:off x="703393" y="1392564"/>
            <a:ext cx="3262200" cy="1754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FF0000"/>
              </a:buClr>
              <a:buSzPts val="1800"/>
              <a:buFont typeface="Noto Sans Symbols"/>
              <a:buChar char="∙"/>
            </a:pPr>
            <a:r>
              <a:rPr lang="en-AU" sz="1800" b="0" i="0" u="none" strike="noStrike" cap="none" dirty="0">
                <a:solidFill>
                  <a:srgbClr val="FF0000"/>
                </a:solidFill>
                <a:latin typeface="Nunito"/>
                <a:ea typeface="Nunito"/>
                <a:cs typeface="Nunito"/>
                <a:sym typeface="Nunito"/>
              </a:rPr>
              <a:t>Definition</a:t>
            </a:r>
            <a:endParaRPr dirty="0">
              <a:solidFill>
                <a:srgbClr val="FF0000"/>
              </a:solidFill>
            </a:endParaRPr>
          </a:p>
          <a:p>
            <a:pPr marL="342900" marR="0" lvl="0" indent="-342900" algn="l" rtl="0">
              <a:lnSpc>
                <a:spcPct val="100000"/>
              </a:lnSpc>
              <a:spcBef>
                <a:spcPts val="0"/>
              </a:spcBef>
              <a:spcAft>
                <a:spcPts val="0"/>
              </a:spcAft>
              <a:buClr>
                <a:srgbClr val="000000"/>
              </a:buClr>
              <a:buSzPts val="1800"/>
              <a:buFont typeface="Noto Sans Symbols"/>
              <a:buChar char="∙"/>
            </a:pPr>
            <a:r>
              <a:rPr lang="en-AU" sz="1800" b="0" i="0" u="none" strike="noStrike" cap="none" dirty="0">
                <a:solidFill>
                  <a:srgbClr val="1B243B"/>
                </a:solidFill>
                <a:latin typeface="Nunito"/>
                <a:ea typeface="Nunito"/>
                <a:cs typeface="Nunito"/>
                <a:sym typeface="Nunito"/>
              </a:rPr>
              <a:t>Categories</a:t>
            </a:r>
            <a:endParaRPr dirty="0"/>
          </a:p>
          <a:p>
            <a:pPr marL="914400" marR="0" lvl="1" indent="-342900" algn="l" rtl="0">
              <a:lnSpc>
                <a:spcPct val="100000"/>
              </a:lnSpc>
              <a:spcBef>
                <a:spcPts val="0"/>
              </a:spcBef>
              <a:spcAft>
                <a:spcPts val="0"/>
              </a:spcAft>
              <a:buClr>
                <a:srgbClr val="000000"/>
              </a:buClr>
              <a:buSzPts val="1800"/>
              <a:buFont typeface="PT Sans Narrow"/>
              <a:buChar char="○"/>
            </a:pPr>
            <a:r>
              <a:rPr lang="en-AU" sz="1600" b="0" i="0" u="none" strike="noStrike" cap="none" dirty="0">
                <a:solidFill>
                  <a:srgbClr val="000000"/>
                </a:solidFill>
                <a:latin typeface="Nunito"/>
                <a:ea typeface="Nunito"/>
                <a:cs typeface="Nunito"/>
                <a:sym typeface="Nunito"/>
              </a:rPr>
              <a:t>Biological Processes</a:t>
            </a:r>
            <a:endParaRPr dirty="0"/>
          </a:p>
          <a:p>
            <a:pPr marL="914400" marR="0" lvl="1" indent="-342900" algn="l" rtl="0">
              <a:lnSpc>
                <a:spcPct val="100000"/>
              </a:lnSpc>
              <a:spcBef>
                <a:spcPts val="0"/>
              </a:spcBef>
              <a:spcAft>
                <a:spcPts val="0"/>
              </a:spcAft>
              <a:buClr>
                <a:srgbClr val="000000"/>
              </a:buClr>
              <a:buSzPts val="1800"/>
              <a:buFont typeface="PT Sans Narrow"/>
              <a:buChar char="○"/>
            </a:pPr>
            <a:r>
              <a:rPr lang="en-AU" sz="1600" b="0" i="0" u="none" strike="noStrike" cap="none" dirty="0">
                <a:solidFill>
                  <a:srgbClr val="000000"/>
                </a:solidFill>
                <a:latin typeface="Nunito"/>
                <a:ea typeface="Nunito"/>
                <a:cs typeface="Nunito"/>
                <a:sym typeface="Nunito"/>
              </a:rPr>
              <a:t>Molecular Functions</a:t>
            </a:r>
            <a:endParaRPr dirty="0"/>
          </a:p>
          <a:p>
            <a:pPr marL="914400" marR="0" lvl="1" indent="-342900" algn="l" rtl="0">
              <a:lnSpc>
                <a:spcPct val="100000"/>
              </a:lnSpc>
              <a:spcBef>
                <a:spcPts val="0"/>
              </a:spcBef>
              <a:spcAft>
                <a:spcPts val="0"/>
              </a:spcAft>
              <a:buClr>
                <a:srgbClr val="000000"/>
              </a:buClr>
              <a:buSzPts val="1800"/>
              <a:buFont typeface="PT Sans Narrow"/>
              <a:buChar char="○"/>
            </a:pPr>
            <a:r>
              <a:rPr lang="en-AU" sz="1600" b="0" i="0" u="none" strike="noStrike" cap="none" dirty="0">
                <a:solidFill>
                  <a:srgbClr val="000000"/>
                </a:solidFill>
                <a:latin typeface="Nunito"/>
                <a:ea typeface="Nunito"/>
                <a:cs typeface="Nunito"/>
                <a:sym typeface="Nunito"/>
              </a:rPr>
              <a:t>Cellular Components</a:t>
            </a:r>
            <a:endParaRPr dirty="0"/>
          </a:p>
          <a:p>
            <a:pPr marL="342900" marR="0" lvl="0" indent="-228600" algn="l" rtl="0">
              <a:lnSpc>
                <a:spcPct val="100000"/>
              </a:lnSpc>
              <a:spcBef>
                <a:spcPts val="0"/>
              </a:spcBef>
              <a:spcAft>
                <a:spcPts val="0"/>
              </a:spcAft>
              <a:buClr>
                <a:srgbClr val="000000"/>
              </a:buClr>
              <a:buSzPts val="1800"/>
              <a:buFont typeface="Noto Sans Symbols"/>
              <a:buNone/>
            </a:pPr>
            <a:endParaRPr sz="1800" b="0" i="0" u="none" strike="noStrike" cap="none" dirty="0">
              <a:solidFill>
                <a:srgbClr val="1B243B"/>
              </a:solidFill>
              <a:latin typeface="Nunito"/>
              <a:ea typeface="Nunito"/>
              <a:cs typeface="Nunito"/>
              <a:sym typeface="Nunito"/>
            </a:endParaRPr>
          </a:p>
        </p:txBody>
      </p:sp>
      <p:sp>
        <p:nvSpPr>
          <p:cNvPr id="218" name="Google Shape;218;g30bad334051_3_148"/>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solidFill>
                  <a:srgbClr val="1B243B"/>
                </a:solidFill>
              </a:rPr>
              <a:t>Gene Ontology (GO)</a:t>
            </a:r>
            <a:endParaRPr/>
          </a:p>
        </p:txBody>
      </p:sp>
      <p:pic>
        <p:nvPicPr>
          <p:cNvPr id="219" name="Google Shape;219;g30bad334051_3_148"/>
          <p:cNvPicPr preferRelativeResize="0"/>
          <p:nvPr/>
        </p:nvPicPr>
        <p:blipFill rotWithShape="1">
          <a:blip r:embed="rId3">
            <a:alphaModFix/>
          </a:blip>
          <a:srcRect/>
          <a:stretch/>
        </p:blipFill>
        <p:spPr>
          <a:xfrm>
            <a:off x="4957976" y="1392564"/>
            <a:ext cx="3874324" cy="20555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0bad334051_3_157"/>
          <p:cNvSpPr txBox="1"/>
          <p:nvPr/>
        </p:nvSpPr>
        <p:spPr>
          <a:xfrm>
            <a:off x="72760" y="1390156"/>
            <a:ext cx="3262064" cy="1661993"/>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800"/>
              <a:buFont typeface="Noto Sans Symbols"/>
              <a:buChar char="∙"/>
            </a:pPr>
            <a:r>
              <a:rPr lang="en-AU" sz="1800" b="0" i="0" u="none" strike="noStrike" cap="none">
                <a:solidFill>
                  <a:srgbClr val="1B243B"/>
                </a:solidFill>
                <a:latin typeface="Nunito"/>
                <a:ea typeface="Nunito"/>
                <a:cs typeface="Nunito"/>
                <a:sym typeface="Nunito"/>
              </a:rPr>
              <a:t>Definition</a:t>
            </a:r>
            <a:endParaRPr/>
          </a:p>
          <a:p>
            <a:pPr marL="342900" marR="0" lvl="0" indent="-342900" algn="l" rtl="0">
              <a:lnSpc>
                <a:spcPct val="100000"/>
              </a:lnSpc>
              <a:spcBef>
                <a:spcPts val="0"/>
              </a:spcBef>
              <a:spcAft>
                <a:spcPts val="0"/>
              </a:spcAft>
              <a:buClr>
                <a:srgbClr val="000000"/>
              </a:buClr>
              <a:buSzPts val="1800"/>
              <a:buFont typeface="Noto Sans Symbols"/>
              <a:buChar char="∙"/>
            </a:pPr>
            <a:r>
              <a:rPr lang="en-AU" sz="1800" b="0" i="0" u="none" strike="noStrike" cap="none">
                <a:solidFill>
                  <a:srgbClr val="1B243B"/>
                </a:solidFill>
                <a:latin typeface="Nunito"/>
                <a:ea typeface="Nunito"/>
                <a:cs typeface="Nunito"/>
                <a:sym typeface="Nunito"/>
              </a:rPr>
              <a:t>Domains</a:t>
            </a:r>
            <a:endParaRPr/>
          </a:p>
          <a:p>
            <a:pPr marL="914400" marR="0" lvl="1" indent="-342900" algn="l" rtl="0">
              <a:lnSpc>
                <a:spcPct val="100000"/>
              </a:lnSpc>
              <a:spcBef>
                <a:spcPts val="0"/>
              </a:spcBef>
              <a:spcAft>
                <a:spcPts val="0"/>
              </a:spcAft>
              <a:buClr>
                <a:srgbClr val="000000"/>
              </a:buClr>
              <a:buSzPts val="1800"/>
              <a:buFont typeface="PT Sans Narrow"/>
              <a:buChar char="○"/>
            </a:pPr>
            <a:r>
              <a:rPr lang="en-AU" sz="1600" b="0" i="0" u="none" strike="noStrike" cap="none">
                <a:solidFill>
                  <a:srgbClr val="1B243B"/>
                </a:solidFill>
                <a:latin typeface="Nunito"/>
                <a:ea typeface="Nunito"/>
                <a:cs typeface="Nunito"/>
                <a:sym typeface="Nunito"/>
              </a:rPr>
              <a:t>Biological Processes</a:t>
            </a:r>
            <a:endParaRPr/>
          </a:p>
          <a:p>
            <a:pPr marL="914400" marR="0" lvl="1" indent="-342900" algn="l" rtl="0">
              <a:lnSpc>
                <a:spcPct val="100000"/>
              </a:lnSpc>
              <a:spcBef>
                <a:spcPts val="0"/>
              </a:spcBef>
              <a:spcAft>
                <a:spcPts val="0"/>
              </a:spcAft>
              <a:buClr>
                <a:srgbClr val="000000"/>
              </a:buClr>
              <a:buSzPts val="1800"/>
              <a:buFont typeface="PT Sans Narrow"/>
              <a:buChar char="○"/>
            </a:pPr>
            <a:r>
              <a:rPr lang="en-AU" sz="1600" b="0" i="0" u="none" strike="noStrike" cap="none">
                <a:solidFill>
                  <a:srgbClr val="1B243B"/>
                </a:solidFill>
                <a:latin typeface="Nunito"/>
                <a:ea typeface="Nunito"/>
                <a:cs typeface="Nunito"/>
                <a:sym typeface="Nunito"/>
              </a:rPr>
              <a:t>Molecular Functions</a:t>
            </a:r>
            <a:endParaRPr/>
          </a:p>
          <a:p>
            <a:pPr marL="914400" marR="0" lvl="1" indent="-342900" algn="l" rtl="0">
              <a:lnSpc>
                <a:spcPct val="100000"/>
              </a:lnSpc>
              <a:spcBef>
                <a:spcPts val="0"/>
              </a:spcBef>
              <a:spcAft>
                <a:spcPts val="0"/>
              </a:spcAft>
              <a:buClr>
                <a:srgbClr val="000000"/>
              </a:buClr>
              <a:buSzPts val="1800"/>
              <a:buFont typeface="PT Sans Narrow"/>
              <a:buChar char="○"/>
            </a:pPr>
            <a:r>
              <a:rPr lang="en-AU" sz="1600" b="0" i="0" u="none" strike="noStrike" cap="none">
                <a:solidFill>
                  <a:srgbClr val="1B243B"/>
                </a:solidFill>
                <a:latin typeface="Nunito"/>
                <a:ea typeface="Nunito"/>
                <a:cs typeface="Nunito"/>
                <a:sym typeface="Nunito"/>
              </a:rPr>
              <a:t>Cellular Components</a:t>
            </a:r>
            <a:endParaRPr/>
          </a:p>
          <a:p>
            <a:pPr marL="342900" marR="0" lvl="0" indent="-228600" algn="l" rtl="0">
              <a:lnSpc>
                <a:spcPct val="100000"/>
              </a:lnSpc>
              <a:spcBef>
                <a:spcPts val="0"/>
              </a:spcBef>
              <a:spcAft>
                <a:spcPts val="0"/>
              </a:spcAft>
              <a:buClr>
                <a:srgbClr val="000000"/>
              </a:buClr>
              <a:buSzPts val="1800"/>
              <a:buFont typeface="Noto Sans Symbols"/>
              <a:buNone/>
            </a:pPr>
            <a:endParaRPr sz="1800" b="0" i="0" u="none" strike="noStrike" cap="none">
              <a:solidFill>
                <a:srgbClr val="1B243B"/>
              </a:solidFill>
              <a:latin typeface="Nunito"/>
              <a:ea typeface="Nunito"/>
              <a:cs typeface="Nunito"/>
              <a:sym typeface="Nunito"/>
            </a:endParaRPr>
          </a:p>
        </p:txBody>
      </p:sp>
      <p:sp>
        <p:nvSpPr>
          <p:cNvPr id="225" name="Google Shape;225;g30bad334051_3_157"/>
          <p:cNvSpPr txBox="1">
            <a:spLocks noGrp="1"/>
          </p:cNvSpPr>
          <p:nvPr>
            <p:ph type="title"/>
          </p:nvPr>
        </p:nvSpPr>
        <p:spPr>
          <a:xfrm>
            <a:off x="311700" y="156575"/>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dirty="0">
                <a:solidFill>
                  <a:srgbClr val="1B243B"/>
                </a:solidFill>
              </a:rPr>
              <a:t>The GO Graph</a:t>
            </a:r>
            <a:endParaRPr dirty="0"/>
          </a:p>
        </p:txBody>
      </p:sp>
      <p:pic>
        <p:nvPicPr>
          <p:cNvPr id="226" name="Google Shape;226;g30bad334051_3_157" descr="link description"/>
          <p:cNvPicPr preferRelativeResize="0"/>
          <p:nvPr/>
        </p:nvPicPr>
        <p:blipFill rotWithShape="1">
          <a:blip r:embed="rId3">
            <a:alphaModFix/>
          </a:blip>
          <a:srcRect/>
          <a:stretch/>
        </p:blipFill>
        <p:spPr>
          <a:xfrm>
            <a:off x="3776982" y="1378859"/>
            <a:ext cx="3060000" cy="3203360"/>
          </a:xfrm>
          <a:prstGeom prst="rect">
            <a:avLst/>
          </a:prstGeom>
          <a:noFill/>
          <a:ln>
            <a:noFill/>
          </a:ln>
        </p:spPr>
      </p:pic>
      <p:pic>
        <p:nvPicPr>
          <p:cNvPr id="227" name="Google Shape;227;g30bad334051_3_157"/>
          <p:cNvPicPr preferRelativeResize="0"/>
          <p:nvPr/>
        </p:nvPicPr>
        <p:blipFill rotWithShape="1">
          <a:blip r:embed="rId4">
            <a:alphaModFix/>
          </a:blip>
          <a:srcRect l="3491" t="5456" r="1255" b="2323"/>
          <a:stretch/>
        </p:blipFill>
        <p:spPr>
          <a:xfrm>
            <a:off x="6809392" y="1388035"/>
            <a:ext cx="2160000" cy="817458"/>
          </a:xfrm>
          <a:prstGeom prst="rect">
            <a:avLst/>
          </a:prstGeom>
          <a:noFill/>
          <a:ln>
            <a:noFill/>
          </a:ln>
        </p:spPr>
      </p:pic>
      <p:pic>
        <p:nvPicPr>
          <p:cNvPr id="228" name="Google Shape;228;g30bad334051_3_157"/>
          <p:cNvPicPr preferRelativeResize="0"/>
          <p:nvPr/>
        </p:nvPicPr>
        <p:blipFill rotWithShape="1">
          <a:blip r:embed="rId5">
            <a:alphaModFix/>
          </a:blip>
          <a:srcRect l="2949" t="2784" r="2754" b="1509"/>
          <a:stretch/>
        </p:blipFill>
        <p:spPr>
          <a:xfrm>
            <a:off x="6809392" y="2484340"/>
            <a:ext cx="2160000" cy="992399"/>
          </a:xfrm>
          <a:prstGeom prst="rect">
            <a:avLst/>
          </a:prstGeom>
          <a:noFill/>
          <a:ln>
            <a:noFill/>
          </a:ln>
        </p:spPr>
      </p:pic>
      <p:sp>
        <p:nvSpPr>
          <p:cNvPr id="229" name="Google Shape;229;g30bad334051_3_157"/>
          <p:cNvSpPr txBox="1"/>
          <p:nvPr/>
        </p:nvSpPr>
        <p:spPr>
          <a:xfrm>
            <a:off x="6809392" y="3648148"/>
            <a:ext cx="2350603"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200" b="0" i="1" u="none" strike="noStrike" cap="none">
                <a:solidFill>
                  <a:srgbClr val="1B243B"/>
                </a:solidFill>
                <a:latin typeface="Nunito"/>
                <a:ea typeface="Nunito"/>
                <a:cs typeface="Nunito"/>
                <a:sym typeface="Nunito"/>
              </a:rPr>
              <a:t>mitochondrion</a:t>
            </a:r>
            <a:r>
              <a:rPr lang="en-AU" sz="1200" b="0" i="0" u="none" strike="noStrike" cap="none">
                <a:solidFill>
                  <a:srgbClr val="1B243B"/>
                </a:solidFill>
                <a:latin typeface="Nunito"/>
                <a:ea typeface="Nunito"/>
                <a:cs typeface="Nunito"/>
                <a:sym typeface="Nunito"/>
              </a:rPr>
              <a:t> has two parents: </a:t>
            </a:r>
            <a:endParaRPr/>
          </a:p>
          <a:p>
            <a:pPr marL="285750" marR="0" lvl="0" indent="-285750" algn="l" rtl="0">
              <a:lnSpc>
                <a:spcPct val="100000"/>
              </a:lnSpc>
              <a:spcBef>
                <a:spcPts val="0"/>
              </a:spcBef>
              <a:spcAft>
                <a:spcPts val="0"/>
              </a:spcAft>
              <a:buClr>
                <a:srgbClr val="000000"/>
              </a:buClr>
              <a:buSzPts val="1200"/>
              <a:buFont typeface="Arial"/>
              <a:buChar char="•"/>
            </a:pPr>
            <a:r>
              <a:rPr lang="en-AU" sz="1200" b="0" i="0" u="none" strike="noStrike" cap="none">
                <a:solidFill>
                  <a:srgbClr val="1B243B"/>
                </a:solidFill>
                <a:latin typeface="Nunito"/>
                <a:ea typeface="Nunito"/>
                <a:cs typeface="Nunito"/>
                <a:sym typeface="Nunito"/>
              </a:rPr>
              <a:t>it </a:t>
            </a:r>
            <a:r>
              <a:rPr lang="en-AU" sz="1200" b="0" i="1" u="none" strike="noStrike" cap="none">
                <a:solidFill>
                  <a:srgbClr val="FF0000"/>
                </a:solidFill>
                <a:latin typeface="Nunito"/>
                <a:ea typeface="Nunito"/>
                <a:cs typeface="Nunito"/>
                <a:sym typeface="Nunito"/>
              </a:rPr>
              <a:t>is a</a:t>
            </a:r>
            <a:r>
              <a:rPr lang="en-AU" sz="1200" b="0" i="1" u="none" strike="noStrike" cap="none">
                <a:solidFill>
                  <a:srgbClr val="1B243B"/>
                </a:solidFill>
                <a:latin typeface="Nunito"/>
                <a:ea typeface="Nunito"/>
                <a:cs typeface="Nunito"/>
                <a:sym typeface="Nunito"/>
              </a:rPr>
              <a:t>n</a:t>
            </a:r>
            <a:r>
              <a:rPr lang="en-AU" sz="1200" b="0" i="0" u="none" strike="noStrike" cap="none">
                <a:solidFill>
                  <a:srgbClr val="1B243B"/>
                </a:solidFill>
                <a:latin typeface="Nunito"/>
                <a:ea typeface="Nunito"/>
                <a:cs typeface="Nunito"/>
                <a:sym typeface="Nunito"/>
              </a:rPr>
              <a:t> organelle </a:t>
            </a:r>
            <a:endParaRPr/>
          </a:p>
          <a:p>
            <a:pPr marL="285750" marR="0" lvl="0" indent="-285750" algn="l" rtl="0">
              <a:lnSpc>
                <a:spcPct val="100000"/>
              </a:lnSpc>
              <a:spcBef>
                <a:spcPts val="0"/>
              </a:spcBef>
              <a:spcAft>
                <a:spcPts val="0"/>
              </a:spcAft>
              <a:buClr>
                <a:srgbClr val="000000"/>
              </a:buClr>
              <a:buSzPts val="1200"/>
              <a:buFont typeface="Arial"/>
              <a:buChar char="•"/>
            </a:pPr>
            <a:r>
              <a:rPr lang="en-AU" sz="1200" b="0" i="0" u="none" strike="noStrike" cap="none">
                <a:solidFill>
                  <a:srgbClr val="1B243B"/>
                </a:solidFill>
                <a:latin typeface="Nunito"/>
                <a:ea typeface="Nunito"/>
                <a:cs typeface="Nunito"/>
                <a:sym typeface="Nunito"/>
              </a:rPr>
              <a:t>it </a:t>
            </a:r>
            <a:r>
              <a:rPr lang="en-AU" sz="1200" b="0" i="0" u="none" strike="noStrike" cap="none">
                <a:solidFill>
                  <a:srgbClr val="FF0000"/>
                </a:solidFill>
                <a:latin typeface="Nunito"/>
                <a:ea typeface="Nunito"/>
                <a:cs typeface="Nunito"/>
                <a:sym typeface="Nunito"/>
              </a:rPr>
              <a:t>is </a:t>
            </a:r>
            <a:r>
              <a:rPr lang="en-AU" sz="1200" b="0" i="1" u="none" strike="noStrike" cap="none">
                <a:solidFill>
                  <a:srgbClr val="FF0000"/>
                </a:solidFill>
                <a:latin typeface="Nunito"/>
                <a:ea typeface="Nunito"/>
                <a:cs typeface="Nunito"/>
                <a:sym typeface="Nunito"/>
              </a:rPr>
              <a:t>part of</a:t>
            </a:r>
            <a:r>
              <a:rPr lang="en-AU" sz="1200" b="0" i="0" u="none" strike="noStrike" cap="none">
                <a:solidFill>
                  <a:srgbClr val="FF0000"/>
                </a:solidFill>
                <a:latin typeface="Nunito"/>
                <a:ea typeface="Nunito"/>
                <a:cs typeface="Nunito"/>
                <a:sym typeface="Nunito"/>
              </a:rPr>
              <a:t> </a:t>
            </a:r>
            <a:r>
              <a:rPr lang="en-AU" sz="1200" b="0" i="0" u="none" strike="noStrike" cap="none">
                <a:solidFill>
                  <a:srgbClr val="1B243B"/>
                </a:solidFill>
                <a:latin typeface="Nunito"/>
                <a:ea typeface="Nunito"/>
                <a:cs typeface="Nunito"/>
                <a:sym typeface="Nunito"/>
              </a:rPr>
              <a:t>the cytoplasm</a:t>
            </a:r>
            <a:endParaRPr/>
          </a:p>
        </p:txBody>
      </p:sp>
      <p:sp>
        <p:nvSpPr>
          <p:cNvPr id="230" name="Google Shape;230;g30bad334051_3_157"/>
          <p:cNvSpPr txBox="1"/>
          <p:nvPr/>
        </p:nvSpPr>
        <p:spPr>
          <a:xfrm>
            <a:off x="72760" y="3829510"/>
            <a:ext cx="408375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200" b="0" i="0" u="none" strike="noStrike" cap="none">
                <a:solidFill>
                  <a:srgbClr val="333333"/>
                </a:solidFill>
                <a:latin typeface="Nunito"/>
                <a:ea typeface="Nunito"/>
                <a:cs typeface="Nunito"/>
                <a:sym typeface="Nunito"/>
              </a:rPr>
              <a:t>This reflect the fact that:</a:t>
            </a:r>
            <a:endParaRPr/>
          </a:p>
          <a:p>
            <a:pPr marL="171450" marR="0" lvl="0" indent="-171450" algn="l" rtl="0">
              <a:lnSpc>
                <a:spcPct val="100000"/>
              </a:lnSpc>
              <a:spcBef>
                <a:spcPts val="0"/>
              </a:spcBef>
              <a:spcAft>
                <a:spcPts val="0"/>
              </a:spcAft>
              <a:buClr>
                <a:srgbClr val="000000"/>
              </a:buClr>
              <a:buSzPts val="1200"/>
              <a:buFont typeface="Arial"/>
              <a:buChar char="•"/>
            </a:pPr>
            <a:r>
              <a:rPr lang="en-AU" sz="1200" b="0" i="1" u="none" strike="noStrike" cap="none">
                <a:solidFill>
                  <a:srgbClr val="00B050"/>
                </a:solidFill>
                <a:latin typeface="Nunito"/>
                <a:ea typeface="Nunito"/>
                <a:cs typeface="Nunito"/>
                <a:sym typeface="Nunito"/>
              </a:rPr>
              <a:t>biosynthetic process</a:t>
            </a:r>
            <a:r>
              <a:rPr lang="en-AU" sz="1200" b="0" i="0" u="none" strike="noStrike" cap="none">
                <a:solidFill>
                  <a:srgbClr val="00B050"/>
                </a:solidFill>
                <a:latin typeface="Nunito"/>
                <a:ea typeface="Nunito"/>
                <a:cs typeface="Nunito"/>
                <a:sym typeface="Nunito"/>
              </a:rPr>
              <a:t> </a:t>
            </a:r>
            <a:r>
              <a:rPr lang="en-AU" sz="1200" b="0" i="0" u="none" strike="noStrike" cap="none">
                <a:solidFill>
                  <a:srgbClr val="333333"/>
                </a:solidFill>
                <a:latin typeface="Nunito"/>
                <a:ea typeface="Nunito"/>
                <a:cs typeface="Nunito"/>
                <a:sym typeface="Nunito"/>
              </a:rPr>
              <a:t>is a subtype of </a:t>
            </a:r>
            <a:r>
              <a:rPr lang="en-AU" sz="1200" b="0" i="1" u="none" strike="noStrike" cap="none">
                <a:solidFill>
                  <a:srgbClr val="00B0F0"/>
                </a:solidFill>
                <a:latin typeface="Nunito"/>
                <a:ea typeface="Nunito"/>
                <a:cs typeface="Nunito"/>
                <a:sym typeface="Nunito"/>
              </a:rPr>
              <a:t>metabolic process</a:t>
            </a:r>
            <a:endParaRPr sz="1200" b="0" i="0" u="none" strike="noStrike" cap="none">
              <a:solidFill>
                <a:srgbClr val="333333"/>
              </a:solidFill>
              <a:latin typeface="Nunito"/>
              <a:ea typeface="Nunito"/>
              <a:cs typeface="Nunito"/>
              <a:sym typeface="Nunito"/>
            </a:endParaRPr>
          </a:p>
          <a:p>
            <a:pPr marL="171450" marR="0" lvl="0" indent="-171450" algn="l" rtl="0">
              <a:lnSpc>
                <a:spcPct val="100000"/>
              </a:lnSpc>
              <a:spcBef>
                <a:spcPts val="0"/>
              </a:spcBef>
              <a:spcAft>
                <a:spcPts val="0"/>
              </a:spcAft>
              <a:buClr>
                <a:srgbClr val="000000"/>
              </a:buClr>
              <a:buSzPts val="1200"/>
              <a:buFont typeface="Arial"/>
              <a:buChar char="•"/>
            </a:pPr>
            <a:r>
              <a:rPr lang="en-AU" sz="1200" b="0" i="0" u="none" strike="noStrike" cap="none">
                <a:solidFill>
                  <a:srgbClr val="333333"/>
                </a:solidFill>
                <a:latin typeface="Nunito"/>
                <a:ea typeface="Nunito"/>
                <a:cs typeface="Nunito"/>
                <a:sym typeface="Nunito"/>
              </a:rPr>
              <a:t>a </a:t>
            </a:r>
            <a:r>
              <a:rPr lang="en-AU" sz="1200" b="0" i="1" u="none" strike="noStrike" cap="none">
                <a:solidFill>
                  <a:srgbClr val="00B050"/>
                </a:solidFill>
                <a:latin typeface="Nunito"/>
                <a:ea typeface="Nunito"/>
                <a:cs typeface="Nunito"/>
                <a:sym typeface="Nunito"/>
              </a:rPr>
              <a:t>hexose</a:t>
            </a:r>
            <a:r>
              <a:rPr lang="en-AU" sz="1200" b="0" i="0" u="none" strike="noStrike" cap="none">
                <a:solidFill>
                  <a:srgbClr val="333333"/>
                </a:solidFill>
                <a:latin typeface="Nunito"/>
                <a:ea typeface="Nunito"/>
                <a:cs typeface="Nunito"/>
                <a:sym typeface="Nunito"/>
              </a:rPr>
              <a:t> is a subtype of </a:t>
            </a:r>
            <a:r>
              <a:rPr lang="en-AU" sz="1200" b="0" i="1" u="none" strike="noStrike" cap="none">
                <a:solidFill>
                  <a:srgbClr val="00B0F0"/>
                </a:solidFill>
                <a:latin typeface="Nunito"/>
                <a:ea typeface="Nunito"/>
                <a:cs typeface="Nunito"/>
                <a:sym typeface="Nunito"/>
              </a:rPr>
              <a:t>monosaccharide</a:t>
            </a:r>
            <a:endParaRPr sz="1200" b="0" i="0" u="none" strike="noStrike" cap="none">
              <a:solidFill>
                <a:srgbClr val="00B0F0"/>
              </a:solidFill>
              <a:latin typeface="Nunito"/>
              <a:ea typeface="Nunito"/>
              <a:cs typeface="Nunito"/>
              <a:sym typeface="Nunito"/>
            </a:endParaRPr>
          </a:p>
        </p:txBody>
      </p:sp>
      <p:sp>
        <p:nvSpPr>
          <p:cNvPr id="3" name="TextBox 2">
            <a:extLst>
              <a:ext uri="{FF2B5EF4-FFF2-40B4-BE49-F238E27FC236}">
                <a16:creationId xmlns:a16="http://schemas.microsoft.com/office/drawing/2014/main" id="{C962DA92-4831-7CD9-78EA-B8E1741727C4}"/>
              </a:ext>
            </a:extLst>
          </p:cNvPr>
          <p:cNvSpPr txBox="1"/>
          <p:nvPr/>
        </p:nvSpPr>
        <p:spPr>
          <a:xfrm>
            <a:off x="72760" y="4901104"/>
            <a:ext cx="2135181" cy="215444"/>
          </a:xfrm>
          <a:prstGeom prst="rect">
            <a:avLst/>
          </a:prstGeom>
          <a:noFill/>
        </p:spPr>
        <p:txBody>
          <a:bodyPr wrap="square">
            <a:spAutoFit/>
          </a:bodyPr>
          <a:lstStyle/>
          <a:p>
            <a:pPr marL="0" marR="0" lvl="0" indent="0" algn="l" rtl="0">
              <a:lnSpc>
                <a:spcPct val="100000"/>
              </a:lnSpc>
              <a:spcBef>
                <a:spcPts val="0"/>
              </a:spcBef>
              <a:spcAft>
                <a:spcPts val="0"/>
              </a:spcAft>
              <a:buNone/>
            </a:pPr>
            <a:r>
              <a:rPr lang="en-AU" sz="800" b="0" i="0" u="none" strike="noStrike" cap="none" dirty="0">
                <a:solidFill>
                  <a:srgbClr val="1B243B"/>
                </a:solidFill>
                <a:latin typeface="Nunito"/>
                <a:ea typeface="Nunito"/>
                <a:cs typeface="Nunito"/>
                <a:sym typeface="Nunito"/>
                <a:hlinkClick r:id="rId6"/>
              </a:rPr>
              <a:t>Exploring Gene Ontology by EMBL-EBL</a:t>
            </a:r>
            <a:endParaRPr lang="en-AU" sz="800" b="0" i="0" u="none" strike="noStrike" cap="none" dirty="0">
              <a:solidFill>
                <a:srgbClr val="1B243B"/>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0bad334051_3_170"/>
          <p:cNvSpPr txBox="1">
            <a:spLocks noGrp="1"/>
          </p:cNvSpPr>
          <p:nvPr>
            <p:ph type="title"/>
          </p:nvPr>
        </p:nvSpPr>
        <p:spPr>
          <a:xfrm>
            <a:off x="311700" y="292625"/>
            <a:ext cx="8520600" cy="572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dirty="0"/>
              <a:t>GO Domains</a:t>
            </a:r>
            <a:endParaRPr dirty="0"/>
          </a:p>
        </p:txBody>
      </p:sp>
      <p:graphicFrame>
        <p:nvGraphicFramePr>
          <p:cNvPr id="236" name="Google Shape;236;g30bad334051_3_170"/>
          <p:cNvGraphicFramePr/>
          <p:nvPr/>
        </p:nvGraphicFramePr>
        <p:xfrm>
          <a:off x="411543" y="1000025"/>
          <a:ext cx="5426650" cy="4149210"/>
        </p:xfrm>
        <a:graphic>
          <a:graphicData uri="http://schemas.openxmlformats.org/drawingml/2006/table">
            <a:tbl>
              <a:tblPr>
                <a:noFill/>
                <a:tableStyleId>{58E360BE-9E8C-47FA-9224-D54531E0FC42}</a:tableStyleId>
              </a:tblPr>
              <a:tblGrid>
                <a:gridCol w="1051500">
                  <a:extLst>
                    <a:ext uri="{9D8B030D-6E8A-4147-A177-3AD203B41FA5}">
                      <a16:colId xmlns:a16="http://schemas.microsoft.com/office/drawing/2014/main" val="20000"/>
                    </a:ext>
                  </a:extLst>
                </a:gridCol>
                <a:gridCol w="4375150">
                  <a:extLst>
                    <a:ext uri="{9D8B030D-6E8A-4147-A177-3AD203B41FA5}">
                      <a16:colId xmlns:a16="http://schemas.microsoft.com/office/drawing/2014/main" val="20001"/>
                    </a:ext>
                  </a:extLst>
                </a:gridCol>
              </a:tblGrid>
              <a:tr h="1812350">
                <a:tc>
                  <a:txBody>
                    <a:bodyPr/>
                    <a:lstStyle/>
                    <a:p>
                      <a:pPr marL="0" marR="0" lvl="0" indent="0" algn="l" rtl="0">
                        <a:lnSpc>
                          <a:spcPct val="100000"/>
                        </a:lnSpc>
                        <a:spcBef>
                          <a:spcPts val="0"/>
                        </a:spcBef>
                        <a:spcAft>
                          <a:spcPts val="0"/>
                        </a:spcAft>
                        <a:buNone/>
                      </a:pPr>
                      <a:r>
                        <a:rPr lang="en-AU" sz="1200" b="1" u="none" strike="noStrike" cap="none">
                          <a:solidFill>
                            <a:srgbClr val="000000"/>
                          </a:solidFill>
                          <a:latin typeface="Nunito"/>
                          <a:ea typeface="Nunito"/>
                          <a:cs typeface="Nunito"/>
                          <a:sym typeface="Nunito"/>
                        </a:rPr>
                        <a:t>Molecular Function</a:t>
                      </a:r>
                      <a:endParaRPr/>
                    </a:p>
                    <a:p>
                      <a:pPr marL="0" marR="0" lvl="0" indent="0" algn="l" rtl="0">
                        <a:lnSpc>
                          <a:spcPct val="100000"/>
                        </a:lnSpc>
                        <a:spcBef>
                          <a:spcPts val="0"/>
                        </a:spcBef>
                        <a:spcAft>
                          <a:spcPts val="0"/>
                        </a:spcAft>
                        <a:buNone/>
                      </a:pPr>
                      <a:r>
                        <a:rPr lang="en-AU" sz="1200" b="1" u="none" strike="noStrike" cap="none">
                          <a:solidFill>
                            <a:srgbClr val="000000"/>
                          </a:solidFill>
                          <a:latin typeface="Nunito"/>
                          <a:ea typeface="Nunito"/>
                          <a:cs typeface="Nunito"/>
                          <a:sym typeface="Nunito"/>
                        </a:rPr>
                        <a:t>(MF)</a:t>
                      </a:r>
                      <a:endParaRPr sz="1200" b="0" u="none" strike="noStrike" cap="none">
                        <a:solidFill>
                          <a:srgbClr val="000000"/>
                        </a:solidFill>
                        <a:latin typeface="Nunito"/>
                        <a:ea typeface="Nunito"/>
                        <a:cs typeface="Nunito"/>
                        <a:sym typeface="Nunito"/>
                      </a:endParaRPr>
                    </a:p>
                  </a:txBody>
                  <a:tcPr marL="35575" marR="35575" marT="35575" marB="355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en-AU" sz="1200" b="0" u="none" strike="noStrike" cap="none">
                          <a:solidFill>
                            <a:srgbClr val="000000"/>
                          </a:solidFill>
                          <a:latin typeface="Nunito"/>
                          <a:ea typeface="Nunito"/>
                          <a:cs typeface="Nunito"/>
                          <a:sym typeface="Nunito"/>
                        </a:rPr>
                        <a:t>Molecular-level activities performed by gene products. </a:t>
                      </a:r>
                      <a:endParaRPr/>
                    </a:p>
                    <a:p>
                      <a:pPr marL="0" marR="0" lvl="0" indent="0" algn="l" rtl="0">
                        <a:lnSpc>
                          <a:spcPct val="100000"/>
                        </a:lnSpc>
                        <a:spcBef>
                          <a:spcPts val="0"/>
                        </a:spcBef>
                        <a:spcAft>
                          <a:spcPts val="0"/>
                        </a:spcAft>
                        <a:buNone/>
                      </a:pPr>
                      <a:endParaRPr sz="1200" b="0" u="none" strike="noStrike" cap="none">
                        <a:solidFill>
                          <a:srgbClr val="000000"/>
                        </a:solidFill>
                        <a:latin typeface="Nunito"/>
                        <a:ea typeface="Nunito"/>
                        <a:cs typeface="Nunito"/>
                        <a:sym typeface="Nunito"/>
                      </a:endParaRPr>
                    </a:p>
                    <a:p>
                      <a:pPr marL="0" marR="0" lvl="0" indent="0" algn="l" rtl="0">
                        <a:lnSpc>
                          <a:spcPct val="100000"/>
                        </a:lnSpc>
                        <a:spcBef>
                          <a:spcPts val="0"/>
                        </a:spcBef>
                        <a:spcAft>
                          <a:spcPts val="0"/>
                        </a:spcAft>
                        <a:buNone/>
                      </a:pPr>
                      <a:r>
                        <a:rPr lang="en-AU" sz="1200" b="0" i="1" u="sng" strike="noStrike" cap="none">
                          <a:solidFill>
                            <a:srgbClr val="000000"/>
                          </a:solidFill>
                          <a:latin typeface="Nunito"/>
                          <a:ea typeface="Nunito"/>
                          <a:cs typeface="Nunito"/>
                          <a:sym typeface="Nunito"/>
                          <a:hlinkClick r:id="rId3">
                            <a:extLst>
                              <a:ext uri="{A12FA001-AC4F-418D-AE19-62706E023703}">
                                <ahyp:hlinkClr xmlns:ahyp="http://schemas.microsoft.com/office/drawing/2018/hyperlinkcolor" val="tx"/>
                              </a:ext>
                            </a:extLst>
                          </a:hlinkClick>
                        </a:rPr>
                        <a:t>catalytic activity</a:t>
                      </a:r>
                      <a:r>
                        <a:rPr lang="en-AU" sz="1200" b="0" u="none" strike="noStrike" cap="none">
                          <a:solidFill>
                            <a:srgbClr val="000000"/>
                          </a:solidFill>
                          <a:latin typeface="Nunito"/>
                          <a:ea typeface="Nunito"/>
                          <a:cs typeface="Nunito"/>
                          <a:sym typeface="Nunito"/>
                        </a:rPr>
                        <a:t> and </a:t>
                      </a:r>
                      <a:r>
                        <a:rPr lang="en-AU" sz="1200" b="0" i="1" u="sng" strike="noStrike" cap="none">
                          <a:solidFill>
                            <a:srgbClr val="000000"/>
                          </a:solidFill>
                          <a:latin typeface="Nunito"/>
                          <a:ea typeface="Nunito"/>
                          <a:cs typeface="Nunito"/>
                          <a:sym typeface="Nunito"/>
                          <a:hlinkClick r:id="rId4">
                            <a:extLst>
                              <a:ext uri="{A12FA001-AC4F-418D-AE19-62706E023703}">
                                <ahyp:hlinkClr xmlns:ahyp="http://schemas.microsoft.com/office/drawing/2018/hyperlinkcolor" val="tx"/>
                              </a:ext>
                            </a:extLst>
                          </a:hlinkClick>
                        </a:rPr>
                        <a:t>transporter activity</a:t>
                      </a:r>
                      <a:r>
                        <a:rPr lang="en-AU" sz="1200" b="0" u="none" strike="noStrike" cap="none">
                          <a:solidFill>
                            <a:srgbClr val="000000"/>
                          </a:solidFill>
                          <a:latin typeface="Nunito"/>
                          <a:ea typeface="Nunito"/>
                          <a:cs typeface="Nunito"/>
                          <a:sym typeface="Nunito"/>
                        </a:rPr>
                        <a:t>; </a:t>
                      </a:r>
                      <a:endParaRPr/>
                    </a:p>
                    <a:p>
                      <a:pPr marL="0" marR="0" lvl="0" indent="0" algn="l" rtl="0">
                        <a:lnSpc>
                          <a:spcPct val="100000"/>
                        </a:lnSpc>
                        <a:spcBef>
                          <a:spcPts val="0"/>
                        </a:spcBef>
                        <a:spcAft>
                          <a:spcPts val="0"/>
                        </a:spcAft>
                        <a:buNone/>
                      </a:pPr>
                      <a:r>
                        <a:rPr lang="en-AU" sz="1200" b="0" u="none" strike="noStrike" cap="none">
                          <a:solidFill>
                            <a:srgbClr val="000000"/>
                          </a:solidFill>
                          <a:latin typeface="Nunito"/>
                          <a:ea typeface="Nunito"/>
                          <a:cs typeface="Nunito"/>
                          <a:sym typeface="Nunito"/>
                        </a:rPr>
                        <a:t> </a:t>
                      </a:r>
                      <a:r>
                        <a:rPr lang="en-AU" sz="1200" b="0" i="1" u="sng" strike="noStrike" cap="none">
                          <a:solidFill>
                            <a:srgbClr val="1B243B"/>
                          </a:solidFill>
                          <a:latin typeface="Nunito"/>
                          <a:ea typeface="Nunito"/>
                          <a:cs typeface="Nunito"/>
                          <a:sym typeface="Nunito"/>
                          <a:hlinkClick r:id="rId5">
                            <a:extLst>
                              <a:ext uri="{A12FA001-AC4F-418D-AE19-62706E023703}">
                                <ahyp:hlinkClr xmlns:ahyp="http://schemas.microsoft.com/office/drawing/2018/hyperlinkcolor" val="tx"/>
                              </a:ext>
                            </a:extLst>
                          </a:hlinkClick>
                        </a:rPr>
                        <a:t>adenylate cyclase activity</a:t>
                      </a:r>
                      <a:r>
                        <a:rPr lang="en-AU" sz="1200" b="0" u="none" strike="noStrike" cap="none">
                          <a:solidFill>
                            <a:srgbClr val="1B243B"/>
                          </a:solidFill>
                          <a:latin typeface="Nunito"/>
                          <a:ea typeface="Nunito"/>
                          <a:cs typeface="Nunito"/>
                          <a:sym typeface="Nunito"/>
                        </a:rPr>
                        <a:t> </a:t>
                      </a:r>
                      <a:r>
                        <a:rPr lang="en-AU" sz="1200" b="0" u="none" strike="noStrike" cap="none">
                          <a:solidFill>
                            <a:srgbClr val="000000"/>
                          </a:solidFill>
                          <a:latin typeface="Nunito"/>
                          <a:ea typeface="Nunito"/>
                          <a:cs typeface="Nunito"/>
                          <a:sym typeface="Nunito"/>
                        </a:rPr>
                        <a:t>or </a:t>
                      </a:r>
                      <a:r>
                        <a:rPr lang="en-AU" sz="1200" b="0" i="1" u="sng" strike="noStrike" cap="none">
                          <a:solidFill>
                            <a:srgbClr val="000000"/>
                          </a:solidFill>
                          <a:latin typeface="Nunito"/>
                          <a:ea typeface="Nunito"/>
                          <a:cs typeface="Nunito"/>
                          <a:sym typeface="Nunito"/>
                          <a:hlinkClick r:id="rId6">
                            <a:extLst>
                              <a:ext uri="{A12FA001-AC4F-418D-AE19-62706E023703}">
                                <ahyp:hlinkClr xmlns:ahyp="http://schemas.microsoft.com/office/drawing/2018/hyperlinkcolor" val="tx"/>
                              </a:ext>
                            </a:extLst>
                          </a:hlinkClick>
                        </a:rPr>
                        <a:t>Toll-like receptor binding</a:t>
                      </a:r>
                      <a:r>
                        <a:rPr lang="en-AU" sz="1200" b="0" u="none" strike="noStrike" cap="none">
                          <a:solidFill>
                            <a:srgbClr val="000000"/>
                          </a:solidFill>
                          <a:latin typeface="Nunito"/>
                          <a:ea typeface="Nunito"/>
                          <a:cs typeface="Nunito"/>
                          <a:sym typeface="Nunito"/>
                        </a:rPr>
                        <a:t>.</a:t>
                      </a:r>
                      <a:endParaRPr/>
                    </a:p>
                    <a:p>
                      <a:pPr marL="0" marR="0" lvl="0" indent="0" algn="l" rtl="0">
                        <a:lnSpc>
                          <a:spcPct val="100000"/>
                        </a:lnSpc>
                        <a:spcBef>
                          <a:spcPts val="0"/>
                        </a:spcBef>
                        <a:spcAft>
                          <a:spcPts val="0"/>
                        </a:spcAft>
                        <a:buNone/>
                      </a:pPr>
                      <a:endParaRPr sz="1200" b="0" u="none" strike="noStrike" cap="none">
                        <a:solidFill>
                          <a:srgbClr val="000000"/>
                        </a:solidFill>
                        <a:latin typeface="Nunito"/>
                        <a:ea typeface="Nunito"/>
                        <a:cs typeface="Nunito"/>
                        <a:sym typeface="Nunito"/>
                      </a:endParaRPr>
                    </a:p>
                    <a:p>
                      <a:pPr marL="0" marR="0" lvl="0" indent="0" algn="l" rtl="0">
                        <a:lnSpc>
                          <a:spcPct val="100000"/>
                        </a:lnSpc>
                        <a:spcBef>
                          <a:spcPts val="0"/>
                        </a:spcBef>
                        <a:spcAft>
                          <a:spcPts val="0"/>
                        </a:spcAft>
                        <a:buNone/>
                      </a:pPr>
                      <a:r>
                        <a:rPr lang="en-AU" sz="1200" b="0" u="none" strike="noStrike" cap="none">
                          <a:solidFill>
                            <a:srgbClr val="000000"/>
                          </a:solidFill>
                          <a:latin typeface="Nunito"/>
                          <a:ea typeface="Nunito"/>
                          <a:cs typeface="Nunito"/>
                          <a:sym typeface="Nunito"/>
                        </a:rPr>
                        <a:t>GO molecular functions are often appended with the word “activity” (a </a:t>
                      </a:r>
                      <a:r>
                        <a:rPr lang="en-AU" sz="1200" b="0" i="1" u="none" strike="noStrike" cap="none">
                          <a:solidFill>
                            <a:srgbClr val="00B050"/>
                          </a:solidFill>
                          <a:latin typeface="Nunito"/>
                          <a:ea typeface="Nunito"/>
                          <a:cs typeface="Nunito"/>
                          <a:sym typeface="Nunito"/>
                        </a:rPr>
                        <a:t>protein kinase</a:t>
                      </a:r>
                      <a:r>
                        <a:rPr lang="en-AU" sz="1200" b="0" u="none" strike="noStrike" cap="none">
                          <a:solidFill>
                            <a:srgbClr val="00B050"/>
                          </a:solidFill>
                          <a:latin typeface="Nunito"/>
                          <a:ea typeface="Nunito"/>
                          <a:cs typeface="Nunito"/>
                          <a:sym typeface="Nunito"/>
                        </a:rPr>
                        <a:t> </a:t>
                      </a:r>
                      <a:r>
                        <a:rPr lang="en-AU" sz="1200" b="0" u="none" strike="noStrike" cap="none">
                          <a:solidFill>
                            <a:srgbClr val="000000"/>
                          </a:solidFill>
                          <a:latin typeface="Nunito"/>
                          <a:ea typeface="Nunito"/>
                          <a:cs typeface="Nunito"/>
                          <a:sym typeface="Nunito"/>
                        </a:rPr>
                        <a:t>would have the GO molecular function </a:t>
                      </a:r>
                      <a:r>
                        <a:rPr lang="en-AU" sz="1200" b="0" i="1" u="none" strike="noStrike" cap="none">
                          <a:solidFill>
                            <a:srgbClr val="00B050"/>
                          </a:solidFill>
                          <a:latin typeface="Nunito"/>
                          <a:ea typeface="Nunito"/>
                          <a:cs typeface="Nunito"/>
                          <a:sym typeface="Nunito"/>
                        </a:rPr>
                        <a:t>protein kinase activity</a:t>
                      </a:r>
                      <a:r>
                        <a:rPr lang="en-AU" sz="1200" b="0" u="none" strike="noStrike" cap="none">
                          <a:solidFill>
                            <a:srgbClr val="000000"/>
                          </a:solidFill>
                          <a:latin typeface="Nunito"/>
                          <a:ea typeface="Nunito"/>
                          <a:cs typeface="Nunito"/>
                          <a:sym typeface="Nunito"/>
                        </a:rPr>
                        <a:t>).</a:t>
                      </a:r>
                      <a:endParaRPr/>
                    </a:p>
                  </a:txBody>
                  <a:tcPr marL="35575" marR="35575" marT="35575" marB="355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894150">
                <a:tc>
                  <a:txBody>
                    <a:bodyPr/>
                    <a:lstStyle/>
                    <a:p>
                      <a:pPr marL="0" marR="0" lvl="0" indent="0" algn="l" rtl="0">
                        <a:lnSpc>
                          <a:spcPct val="100000"/>
                        </a:lnSpc>
                        <a:spcBef>
                          <a:spcPts val="0"/>
                        </a:spcBef>
                        <a:spcAft>
                          <a:spcPts val="0"/>
                        </a:spcAft>
                        <a:buNone/>
                      </a:pPr>
                      <a:r>
                        <a:rPr lang="en-AU" sz="1200" b="1" u="none" strike="noStrike" cap="none">
                          <a:solidFill>
                            <a:srgbClr val="000000"/>
                          </a:solidFill>
                          <a:latin typeface="Nunito"/>
                          <a:ea typeface="Nunito"/>
                          <a:cs typeface="Nunito"/>
                          <a:sym typeface="Nunito"/>
                        </a:rPr>
                        <a:t>Cellular Component</a:t>
                      </a:r>
                      <a:endParaRPr/>
                    </a:p>
                    <a:p>
                      <a:pPr marL="0" marR="0" lvl="0" indent="0" algn="l" rtl="0">
                        <a:lnSpc>
                          <a:spcPct val="100000"/>
                        </a:lnSpc>
                        <a:spcBef>
                          <a:spcPts val="0"/>
                        </a:spcBef>
                        <a:spcAft>
                          <a:spcPts val="0"/>
                        </a:spcAft>
                        <a:buNone/>
                      </a:pPr>
                      <a:r>
                        <a:rPr lang="en-AU" sz="1200" b="1" u="none" strike="noStrike" cap="none">
                          <a:solidFill>
                            <a:srgbClr val="000000"/>
                          </a:solidFill>
                          <a:latin typeface="Nunito"/>
                          <a:ea typeface="Nunito"/>
                          <a:cs typeface="Nunito"/>
                          <a:sym typeface="Nunito"/>
                        </a:rPr>
                        <a:t>(CC)</a:t>
                      </a:r>
                      <a:endParaRPr sz="1200" b="0" u="none" strike="noStrike" cap="none">
                        <a:solidFill>
                          <a:srgbClr val="000000"/>
                        </a:solidFill>
                        <a:latin typeface="Nunito"/>
                        <a:ea typeface="Nunito"/>
                        <a:cs typeface="Nunito"/>
                        <a:sym typeface="Nunito"/>
                      </a:endParaRPr>
                    </a:p>
                  </a:txBody>
                  <a:tcPr marL="35575" marR="35575" marT="35575" marB="355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en-AU" sz="1200" b="0" u="none" strike="noStrike" cap="none">
                          <a:solidFill>
                            <a:srgbClr val="000000"/>
                          </a:solidFill>
                          <a:latin typeface="Nunito"/>
                          <a:ea typeface="Nunito"/>
                          <a:cs typeface="Nunito"/>
                          <a:sym typeface="Nunito"/>
                        </a:rPr>
                        <a:t>A location, relative to cellular compartments and structures.</a:t>
                      </a:r>
                      <a:endParaRPr/>
                    </a:p>
                    <a:p>
                      <a:pPr marL="0" marR="0" lvl="0" indent="0" algn="l" rtl="0">
                        <a:lnSpc>
                          <a:spcPct val="100000"/>
                        </a:lnSpc>
                        <a:spcBef>
                          <a:spcPts val="0"/>
                        </a:spcBef>
                        <a:spcAft>
                          <a:spcPts val="0"/>
                        </a:spcAft>
                        <a:buNone/>
                      </a:pPr>
                      <a:endParaRPr sz="1200" b="0" u="none" strike="noStrike" cap="none">
                        <a:solidFill>
                          <a:srgbClr val="000000"/>
                        </a:solidFill>
                        <a:latin typeface="Nunito"/>
                        <a:ea typeface="Nunito"/>
                        <a:cs typeface="Nunito"/>
                        <a:sym typeface="Nunito"/>
                      </a:endParaRPr>
                    </a:p>
                    <a:p>
                      <a:pPr marL="0" marR="0" lvl="0" indent="0" algn="l" rtl="0">
                        <a:lnSpc>
                          <a:spcPct val="100000"/>
                        </a:lnSpc>
                        <a:spcBef>
                          <a:spcPts val="0"/>
                        </a:spcBef>
                        <a:spcAft>
                          <a:spcPts val="0"/>
                        </a:spcAft>
                        <a:buNone/>
                      </a:pPr>
                      <a:r>
                        <a:rPr lang="en-AU" sz="1200" b="0" i="1" u="sng" strike="noStrike" cap="none">
                          <a:solidFill>
                            <a:srgbClr val="000000"/>
                          </a:solidFill>
                          <a:latin typeface="Nunito"/>
                          <a:ea typeface="Nunito"/>
                          <a:cs typeface="Nunito"/>
                          <a:sym typeface="Nunito"/>
                          <a:hlinkClick r:id="rId7">
                            <a:extLst>
                              <a:ext uri="{A12FA001-AC4F-418D-AE19-62706E023703}">
                                <ahyp:hlinkClr xmlns:ahyp="http://schemas.microsoft.com/office/drawing/2018/hyperlinkcolor" val="tx"/>
                              </a:ext>
                            </a:extLst>
                          </a:hlinkClick>
                        </a:rPr>
                        <a:t>cellular anatomical entities</a:t>
                      </a:r>
                      <a:r>
                        <a:rPr lang="en-AU" sz="1200" b="0" u="none" strike="noStrike" cap="none">
                          <a:solidFill>
                            <a:srgbClr val="000000"/>
                          </a:solidFill>
                          <a:latin typeface="Nunito"/>
                          <a:ea typeface="Nunito"/>
                          <a:cs typeface="Nunito"/>
                          <a:sym typeface="Nunito"/>
                        </a:rPr>
                        <a:t>, includes cellular structures such as the </a:t>
                      </a:r>
                      <a:r>
                        <a:rPr lang="en-AU" sz="1200" b="0" i="1" u="sng" strike="noStrike" cap="none">
                          <a:solidFill>
                            <a:srgbClr val="000000"/>
                          </a:solidFill>
                          <a:latin typeface="Nunito"/>
                          <a:ea typeface="Nunito"/>
                          <a:cs typeface="Nunito"/>
                          <a:sym typeface="Nunito"/>
                          <a:hlinkClick r:id="rId8">
                            <a:extLst>
                              <a:ext uri="{A12FA001-AC4F-418D-AE19-62706E023703}">
                                <ahyp:hlinkClr xmlns:ahyp="http://schemas.microsoft.com/office/drawing/2018/hyperlinkcolor" val="tx"/>
                              </a:ext>
                            </a:extLst>
                          </a:hlinkClick>
                        </a:rPr>
                        <a:t>plasma membrane</a:t>
                      </a:r>
                      <a:r>
                        <a:rPr lang="en-AU" sz="1200" b="0" u="none" strike="noStrike" cap="none">
                          <a:solidFill>
                            <a:srgbClr val="000000"/>
                          </a:solidFill>
                          <a:latin typeface="Nunito"/>
                          <a:ea typeface="Nunito"/>
                          <a:cs typeface="Nunito"/>
                          <a:sym typeface="Nunito"/>
                        </a:rPr>
                        <a:t> and the </a:t>
                      </a:r>
                      <a:r>
                        <a:rPr lang="en-AU" sz="1200" b="0" i="1" u="sng" strike="noStrike" cap="none">
                          <a:solidFill>
                            <a:srgbClr val="000000"/>
                          </a:solidFill>
                          <a:latin typeface="Nunito"/>
                          <a:ea typeface="Nunito"/>
                          <a:cs typeface="Nunito"/>
                          <a:sym typeface="Nunito"/>
                          <a:hlinkClick r:id="rId9">
                            <a:extLst>
                              <a:ext uri="{A12FA001-AC4F-418D-AE19-62706E023703}">
                                <ahyp:hlinkClr xmlns:ahyp="http://schemas.microsoft.com/office/drawing/2018/hyperlinkcolor" val="tx"/>
                              </a:ext>
                            </a:extLst>
                          </a:hlinkClick>
                        </a:rPr>
                        <a:t>cytoskeleton</a:t>
                      </a:r>
                      <a:r>
                        <a:rPr lang="en-AU" sz="1200" b="0" u="none" strike="noStrike" cap="none">
                          <a:solidFill>
                            <a:srgbClr val="000000"/>
                          </a:solidFill>
                          <a:latin typeface="Nunito"/>
                          <a:ea typeface="Nunito"/>
                          <a:cs typeface="Nunito"/>
                          <a:sym typeface="Nunito"/>
                        </a:rPr>
                        <a:t>, as well as membrane-enclosed cellular compartments such as the </a:t>
                      </a:r>
                      <a:r>
                        <a:rPr lang="en-AU" sz="1200" b="0" i="1" u="sng" strike="noStrike" cap="none">
                          <a:solidFill>
                            <a:srgbClr val="000000"/>
                          </a:solidFill>
                          <a:latin typeface="Nunito"/>
                          <a:ea typeface="Nunito"/>
                          <a:cs typeface="Nunito"/>
                          <a:sym typeface="Nunito"/>
                          <a:hlinkClick r:id="rId10">
                            <a:extLst>
                              <a:ext uri="{A12FA001-AC4F-418D-AE19-62706E023703}">
                                <ahyp:hlinkClr xmlns:ahyp="http://schemas.microsoft.com/office/drawing/2018/hyperlinkcolor" val="tx"/>
                              </a:ext>
                            </a:extLst>
                          </a:hlinkClick>
                        </a:rPr>
                        <a:t>mitochondrion</a:t>
                      </a:r>
                      <a:endParaRPr sz="1200" b="0" u="none" strike="noStrike" cap="none">
                        <a:solidFill>
                          <a:srgbClr val="000000"/>
                        </a:solidFill>
                        <a:latin typeface="Nunito"/>
                        <a:ea typeface="Nunito"/>
                        <a:cs typeface="Nunito"/>
                        <a:sym typeface="Nunito"/>
                      </a:endParaRPr>
                    </a:p>
                  </a:txBody>
                  <a:tcPr marL="35575" marR="35575" marT="35575" marB="355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951625">
                <a:tc>
                  <a:txBody>
                    <a:bodyPr/>
                    <a:lstStyle/>
                    <a:p>
                      <a:pPr marL="0" marR="0" lvl="0" indent="0" algn="l" rtl="0">
                        <a:lnSpc>
                          <a:spcPct val="100000"/>
                        </a:lnSpc>
                        <a:spcBef>
                          <a:spcPts val="0"/>
                        </a:spcBef>
                        <a:spcAft>
                          <a:spcPts val="0"/>
                        </a:spcAft>
                        <a:buNone/>
                      </a:pPr>
                      <a:r>
                        <a:rPr lang="en-AU" sz="1200" b="1" u="none" strike="noStrike" cap="none">
                          <a:solidFill>
                            <a:srgbClr val="000000"/>
                          </a:solidFill>
                          <a:latin typeface="Nunito"/>
                          <a:ea typeface="Nunito"/>
                          <a:cs typeface="Nunito"/>
                          <a:sym typeface="Nunito"/>
                        </a:rPr>
                        <a:t>Biological Process</a:t>
                      </a:r>
                      <a:endParaRPr/>
                    </a:p>
                    <a:p>
                      <a:pPr marL="0" marR="0" lvl="0" indent="0" algn="l" rtl="0">
                        <a:lnSpc>
                          <a:spcPct val="100000"/>
                        </a:lnSpc>
                        <a:spcBef>
                          <a:spcPts val="0"/>
                        </a:spcBef>
                        <a:spcAft>
                          <a:spcPts val="0"/>
                        </a:spcAft>
                        <a:buNone/>
                      </a:pPr>
                      <a:r>
                        <a:rPr lang="en-AU" sz="1200" b="1" u="none" strike="noStrike" cap="none">
                          <a:solidFill>
                            <a:srgbClr val="000000"/>
                          </a:solidFill>
                          <a:latin typeface="Nunito"/>
                          <a:ea typeface="Nunito"/>
                          <a:cs typeface="Nunito"/>
                          <a:sym typeface="Nunito"/>
                        </a:rPr>
                        <a:t>(BP)</a:t>
                      </a:r>
                      <a:endParaRPr sz="1200" b="0" u="none" strike="noStrike" cap="none">
                        <a:solidFill>
                          <a:srgbClr val="000000"/>
                        </a:solidFill>
                        <a:latin typeface="Nunito"/>
                        <a:ea typeface="Nunito"/>
                        <a:cs typeface="Nunito"/>
                        <a:sym typeface="Nunito"/>
                      </a:endParaRPr>
                    </a:p>
                  </a:txBody>
                  <a:tcPr marL="35575" marR="35575" marT="35575" marB="355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r>
                        <a:rPr lang="en-AU" sz="1200" b="0" u="none" strike="noStrike" cap="none">
                          <a:solidFill>
                            <a:srgbClr val="000000"/>
                          </a:solidFill>
                          <a:latin typeface="Nunito"/>
                          <a:ea typeface="Nunito"/>
                          <a:cs typeface="Nunito"/>
                          <a:sym typeface="Nunito"/>
                        </a:rPr>
                        <a:t>The larger processes, or ‘biological programs’ accomplished by multiple molecular activities.</a:t>
                      </a:r>
                      <a:endParaRPr/>
                    </a:p>
                    <a:p>
                      <a:pPr marL="0" marR="0" lvl="0" indent="0" algn="l" rtl="0">
                        <a:lnSpc>
                          <a:spcPct val="100000"/>
                        </a:lnSpc>
                        <a:spcBef>
                          <a:spcPts val="0"/>
                        </a:spcBef>
                        <a:spcAft>
                          <a:spcPts val="0"/>
                        </a:spcAft>
                        <a:buNone/>
                      </a:pPr>
                      <a:endParaRPr sz="1200" b="0" u="none" strike="noStrike" cap="none">
                        <a:solidFill>
                          <a:srgbClr val="000000"/>
                        </a:solidFill>
                        <a:latin typeface="Nunito"/>
                        <a:ea typeface="Nunito"/>
                        <a:cs typeface="Nunito"/>
                        <a:sym typeface="Nunito"/>
                      </a:endParaRPr>
                    </a:p>
                    <a:p>
                      <a:pPr marL="0" marR="0" lvl="0" indent="0" algn="l" rtl="0">
                        <a:lnSpc>
                          <a:spcPct val="100000"/>
                        </a:lnSpc>
                        <a:spcBef>
                          <a:spcPts val="0"/>
                        </a:spcBef>
                        <a:spcAft>
                          <a:spcPts val="0"/>
                        </a:spcAft>
                        <a:buNone/>
                      </a:pPr>
                      <a:r>
                        <a:rPr lang="en-AU" sz="1200" b="0" i="1" u="sng" strike="noStrike" cap="none">
                          <a:solidFill>
                            <a:srgbClr val="000000"/>
                          </a:solidFill>
                          <a:latin typeface="Nunito"/>
                          <a:ea typeface="Nunito"/>
                          <a:cs typeface="Nunito"/>
                          <a:sym typeface="Nunito"/>
                          <a:hlinkClick r:id="rId11">
                            <a:extLst>
                              <a:ext uri="{A12FA001-AC4F-418D-AE19-62706E023703}">
                                <ahyp:hlinkClr xmlns:ahyp="http://schemas.microsoft.com/office/drawing/2018/hyperlinkcolor" val="tx"/>
                              </a:ext>
                            </a:extLst>
                          </a:hlinkClick>
                        </a:rPr>
                        <a:t>DNA repair</a:t>
                      </a:r>
                      <a:r>
                        <a:rPr lang="en-AU" sz="1200" b="0" u="none" strike="noStrike" cap="none">
                          <a:solidFill>
                            <a:srgbClr val="000000"/>
                          </a:solidFill>
                          <a:latin typeface="Nunito"/>
                          <a:ea typeface="Nunito"/>
                          <a:cs typeface="Nunito"/>
                          <a:sym typeface="Nunito"/>
                        </a:rPr>
                        <a:t> or </a:t>
                      </a:r>
                      <a:r>
                        <a:rPr lang="en-AU" sz="1200" b="0" i="1" u="sng" strike="noStrike" cap="none">
                          <a:solidFill>
                            <a:srgbClr val="000000"/>
                          </a:solidFill>
                          <a:latin typeface="Nunito"/>
                          <a:ea typeface="Nunito"/>
                          <a:cs typeface="Nunito"/>
                          <a:sym typeface="Nunito"/>
                          <a:hlinkClick r:id="rId12">
                            <a:extLst>
                              <a:ext uri="{A12FA001-AC4F-418D-AE19-62706E023703}">
                                <ahyp:hlinkClr xmlns:ahyp="http://schemas.microsoft.com/office/drawing/2018/hyperlinkcolor" val="tx"/>
                              </a:ext>
                            </a:extLst>
                          </a:hlinkClick>
                        </a:rPr>
                        <a:t>signal transduction</a:t>
                      </a:r>
                      <a:r>
                        <a:rPr lang="en-AU" sz="1200" b="0" u="none" strike="noStrike" cap="none">
                          <a:solidFill>
                            <a:srgbClr val="000000"/>
                          </a:solidFill>
                          <a:latin typeface="Nunito"/>
                          <a:ea typeface="Nunito"/>
                          <a:cs typeface="Nunito"/>
                          <a:sym typeface="Nunito"/>
                        </a:rPr>
                        <a:t>. </a:t>
                      </a:r>
                      <a:endParaRPr/>
                    </a:p>
                    <a:p>
                      <a:pPr marL="0" marR="0" lvl="0" indent="0" algn="l" rtl="0">
                        <a:lnSpc>
                          <a:spcPct val="100000"/>
                        </a:lnSpc>
                        <a:spcBef>
                          <a:spcPts val="0"/>
                        </a:spcBef>
                        <a:spcAft>
                          <a:spcPts val="0"/>
                        </a:spcAft>
                        <a:buNone/>
                      </a:pPr>
                      <a:r>
                        <a:rPr lang="en-AU" sz="1200" b="0" i="1" u="sng" strike="noStrike" cap="none">
                          <a:solidFill>
                            <a:srgbClr val="000000"/>
                          </a:solidFill>
                          <a:latin typeface="Nunito"/>
                          <a:ea typeface="Nunito"/>
                          <a:cs typeface="Nunito"/>
                          <a:sym typeface="Nunito"/>
                          <a:hlinkClick r:id="rId13">
                            <a:extLst>
                              <a:ext uri="{A12FA001-AC4F-418D-AE19-62706E023703}">
                                <ahyp:hlinkClr xmlns:ahyp="http://schemas.microsoft.com/office/drawing/2018/hyperlinkcolor" val="tx"/>
                              </a:ext>
                            </a:extLst>
                          </a:hlinkClick>
                        </a:rPr>
                        <a:t>pyrimidine nucleobase biosynthetic process</a:t>
                      </a:r>
                      <a:r>
                        <a:rPr lang="en-AU" sz="1200" b="0" u="none" strike="noStrike" cap="none">
                          <a:solidFill>
                            <a:srgbClr val="000000"/>
                          </a:solidFill>
                          <a:latin typeface="Nunito"/>
                          <a:ea typeface="Nunito"/>
                          <a:cs typeface="Nunito"/>
                          <a:sym typeface="Nunito"/>
                        </a:rPr>
                        <a:t> or </a:t>
                      </a:r>
                      <a:r>
                        <a:rPr lang="en-AU" sz="1200" b="0" i="1" u="sng" strike="noStrike" cap="none">
                          <a:solidFill>
                            <a:srgbClr val="000000"/>
                          </a:solidFill>
                          <a:latin typeface="Nunito"/>
                          <a:ea typeface="Nunito"/>
                          <a:cs typeface="Nunito"/>
                          <a:sym typeface="Nunito"/>
                          <a:hlinkClick r:id="rId14">
                            <a:extLst>
                              <a:ext uri="{A12FA001-AC4F-418D-AE19-62706E023703}">
                                <ahyp:hlinkClr xmlns:ahyp="http://schemas.microsoft.com/office/drawing/2018/hyperlinkcolor" val="tx"/>
                              </a:ext>
                            </a:extLst>
                          </a:hlinkClick>
                        </a:rPr>
                        <a:t>glucose transmembrane transport</a:t>
                      </a:r>
                      <a:r>
                        <a:rPr lang="en-AU" sz="1200" b="0" u="none" strike="noStrike" cap="none">
                          <a:solidFill>
                            <a:srgbClr val="000000"/>
                          </a:solidFill>
                          <a:latin typeface="Nunito"/>
                          <a:ea typeface="Nunito"/>
                          <a:cs typeface="Nunito"/>
                          <a:sym typeface="Nunito"/>
                        </a:rPr>
                        <a:t>. </a:t>
                      </a:r>
                      <a:endParaRPr/>
                    </a:p>
                  </a:txBody>
                  <a:tcPr marL="35575" marR="35575" marT="35575" marB="3557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237" name="Google Shape;237;g30bad334051_3_170"/>
          <p:cNvSpPr/>
          <p:nvPr/>
        </p:nvSpPr>
        <p:spPr>
          <a:xfrm>
            <a:off x="5971430" y="1049798"/>
            <a:ext cx="3061252" cy="156966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33"/>
              </a:buClr>
              <a:buSzPts val="1200"/>
              <a:buFont typeface="Arial"/>
              <a:buNone/>
            </a:pPr>
            <a:r>
              <a:rPr lang="en-AU" sz="1200" b="0" i="0" u="none" strike="noStrike" cap="none">
                <a:solidFill>
                  <a:srgbClr val="333333"/>
                </a:solidFill>
                <a:latin typeface="Nunito"/>
                <a:ea typeface="Nunito"/>
                <a:cs typeface="Nunito"/>
                <a:sym typeface="Nunito"/>
              </a:rPr>
              <a:t>An example of GO annotation: human “</a:t>
            </a:r>
            <a:r>
              <a:rPr lang="en-AU" sz="1200" b="0" i="0" u="none" strike="noStrike" cap="none">
                <a:solidFill>
                  <a:srgbClr val="00B050"/>
                </a:solidFill>
                <a:latin typeface="Nunito"/>
                <a:ea typeface="Nunito"/>
                <a:cs typeface="Nunito"/>
                <a:sym typeface="Nunito"/>
              </a:rPr>
              <a:t>cytochrome c</a:t>
            </a:r>
            <a:r>
              <a:rPr lang="en-AU" sz="1200" b="0" i="0" u="none" strike="noStrike" cap="none">
                <a:solidFill>
                  <a:srgbClr val="333333"/>
                </a:solidFill>
                <a:latin typeface="Nunito"/>
                <a:ea typeface="Nunito"/>
                <a:cs typeface="Nunito"/>
                <a:sym typeface="Nunito"/>
              </a:rPr>
              <a:t>”:</a:t>
            </a:r>
            <a:endParaRPr/>
          </a:p>
          <a:p>
            <a:pPr marL="0" marR="0" lvl="0" indent="0" algn="l" rtl="0">
              <a:lnSpc>
                <a:spcPct val="100000"/>
              </a:lnSpc>
              <a:spcBef>
                <a:spcPts val="0"/>
              </a:spcBef>
              <a:spcAft>
                <a:spcPts val="0"/>
              </a:spcAft>
              <a:buClr>
                <a:srgbClr val="333333"/>
              </a:buClr>
              <a:buSzPts val="1200"/>
              <a:buFont typeface="Arial"/>
              <a:buNone/>
            </a:pPr>
            <a:r>
              <a:rPr lang="en-AU" sz="1200" b="1" i="0" u="none" strike="noStrike" cap="none">
                <a:solidFill>
                  <a:srgbClr val="333333"/>
                </a:solidFill>
                <a:latin typeface="Nunito"/>
                <a:ea typeface="Nunito"/>
                <a:cs typeface="Nunito"/>
                <a:sym typeface="Nunito"/>
              </a:rPr>
              <a:t>molecular function</a:t>
            </a:r>
            <a:r>
              <a:rPr lang="en-AU" sz="1200" b="0" i="0" u="none" strike="noStrike" cap="none">
                <a:solidFill>
                  <a:srgbClr val="333333"/>
                </a:solidFill>
                <a:latin typeface="Nunito"/>
                <a:ea typeface="Nunito"/>
                <a:cs typeface="Nunito"/>
                <a:sym typeface="Nunito"/>
              </a:rPr>
              <a:t> </a:t>
            </a:r>
            <a:r>
              <a:rPr lang="en-AU" sz="1200" b="0" i="1" u="none" strike="noStrike" cap="none">
                <a:solidFill>
                  <a:srgbClr val="333333"/>
                </a:solidFill>
                <a:latin typeface="Nunito"/>
                <a:ea typeface="Nunito"/>
                <a:cs typeface="Nunito"/>
                <a:sym typeface="Nunito"/>
              </a:rPr>
              <a:t>oxidoreductase activity</a:t>
            </a:r>
            <a:r>
              <a:rPr lang="en-AU" sz="1200" b="0" i="0" u="none" strike="noStrike" cap="none">
                <a:solidFill>
                  <a:srgbClr val="333333"/>
                </a:solidFill>
                <a:latin typeface="Nunito"/>
                <a:ea typeface="Nunito"/>
                <a:cs typeface="Nunito"/>
                <a:sym typeface="Nunito"/>
              </a:rPr>
              <a:t>, </a:t>
            </a:r>
            <a:endParaRPr/>
          </a:p>
          <a:p>
            <a:pPr marL="0" marR="0" lvl="0" indent="0" algn="l" rtl="0">
              <a:lnSpc>
                <a:spcPct val="100000"/>
              </a:lnSpc>
              <a:spcBef>
                <a:spcPts val="0"/>
              </a:spcBef>
              <a:spcAft>
                <a:spcPts val="0"/>
              </a:spcAft>
              <a:buClr>
                <a:srgbClr val="333333"/>
              </a:buClr>
              <a:buSzPts val="1200"/>
              <a:buFont typeface="Arial"/>
              <a:buNone/>
            </a:pPr>
            <a:r>
              <a:rPr lang="en-AU" sz="1200" b="0" i="0" u="none" strike="noStrike" cap="none">
                <a:solidFill>
                  <a:srgbClr val="333333"/>
                </a:solidFill>
                <a:latin typeface="Nunito"/>
                <a:ea typeface="Nunito"/>
                <a:cs typeface="Nunito"/>
                <a:sym typeface="Nunito"/>
              </a:rPr>
              <a:t>the </a:t>
            </a:r>
            <a:r>
              <a:rPr lang="en-AU" sz="1200" b="1" i="0" u="none" strike="noStrike" cap="none">
                <a:solidFill>
                  <a:srgbClr val="333333"/>
                </a:solidFill>
                <a:latin typeface="Nunito"/>
                <a:ea typeface="Nunito"/>
                <a:cs typeface="Nunito"/>
                <a:sym typeface="Nunito"/>
              </a:rPr>
              <a:t>biological process</a:t>
            </a:r>
            <a:r>
              <a:rPr lang="en-AU" sz="1200" b="0" i="0" u="none" strike="noStrike" cap="none">
                <a:solidFill>
                  <a:srgbClr val="333333"/>
                </a:solidFill>
                <a:latin typeface="Nunito"/>
                <a:ea typeface="Nunito"/>
                <a:cs typeface="Nunito"/>
                <a:sym typeface="Nunito"/>
              </a:rPr>
              <a:t> </a:t>
            </a:r>
            <a:r>
              <a:rPr lang="en-AU" sz="1200" b="0" i="1" u="none" strike="noStrike" cap="none">
                <a:solidFill>
                  <a:srgbClr val="333333"/>
                </a:solidFill>
                <a:latin typeface="Nunito"/>
                <a:ea typeface="Nunito"/>
                <a:cs typeface="Nunito"/>
                <a:sym typeface="Nunito"/>
              </a:rPr>
              <a:t>oxidative phosphorylation</a:t>
            </a:r>
            <a:r>
              <a:rPr lang="en-AU" sz="1200" b="0" i="0" u="none" strike="noStrike" cap="none">
                <a:solidFill>
                  <a:srgbClr val="333333"/>
                </a:solidFill>
                <a:latin typeface="Nunito"/>
                <a:ea typeface="Nunito"/>
                <a:cs typeface="Nunito"/>
                <a:sym typeface="Nunito"/>
              </a:rPr>
              <a:t>, and </a:t>
            </a:r>
            <a:endParaRPr/>
          </a:p>
          <a:p>
            <a:pPr marL="0" marR="0" lvl="0" indent="0" algn="l" rtl="0">
              <a:lnSpc>
                <a:spcPct val="100000"/>
              </a:lnSpc>
              <a:spcBef>
                <a:spcPts val="0"/>
              </a:spcBef>
              <a:spcAft>
                <a:spcPts val="0"/>
              </a:spcAft>
              <a:buClr>
                <a:srgbClr val="333333"/>
              </a:buClr>
              <a:buSzPts val="1200"/>
              <a:buFont typeface="Arial"/>
              <a:buNone/>
            </a:pPr>
            <a:r>
              <a:rPr lang="en-AU" sz="1200" b="0" i="0" u="none" strike="noStrike" cap="none">
                <a:solidFill>
                  <a:srgbClr val="333333"/>
                </a:solidFill>
                <a:latin typeface="Nunito"/>
                <a:ea typeface="Nunito"/>
                <a:cs typeface="Nunito"/>
                <a:sym typeface="Nunito"/>
              </a:rPr>
              <a:t>the </a:t>
            </a:r>
            <a:r>
              <a:rPr lang="en-AU" sz="1200" b="1" i="0" u="none" strike="noStrike" cap="none">
                <a:solidFill>
                  <a:srgbClr val="333333"/>
                </a:solidFill>
                <a:latin typeface="Nunito"/>
                <a:ea typeface="Nunito"/>
                <a:cs typeface="Nunito"/>
                <a:sym typeface="Nunito"/>
              </a:rPr>
              <a:t>cellular component</a:t>
            </a:r>
            <a:r>
              <a:rPr lang="en-AU" sz="1200" b="0" i="0" u="none" strike="noStrike" cap="none">
                <a:solidFill>
                  <a:srgbClr val="333333"/>
                </a:solidFill>
                <a:latin typeface="Nunito"/>
                <a:ea typeface="Nunito"/>
                <a:cs typeface="Nunito"/>
                <a:sym typeface="Nunito"/>
              </a:rPr>
              <a:t> </a:t>
            </a:r>
            <a:r>
              <a:rPr lang="en-AU" sz="1200" b="0" i="1" u="none" strike="noStrike" cap="none">
                <a:solidFill>
                  <a:srgbClr val="333333"/>
                </a:solidFill>
                <a:latin typeface="Nunito"/>
                <a:ea typeface="Nunito"/>
                <a:cs typeface="Nunito"/>
                <a:sym typeface="Nunito"/>
              </a:rPr>
              <a:t>mitochondrial intermembrane space</a:t>
            </a:r>
            <a:r>
              <a:rPr lang="en-AU" sz="1200" b="0" i="0" u="none" strike="noStrike" cap="none">
                <a:solidFill>
                  <a:srgbClr val="333333"/>
                </a:solidFill>
                <a:latin typeface="Nunito"/>
                <a:ea typeface="Nunito"/>
                <a:cs typeface="Nunito"/>
                <a:sym typeface="Nunito"/>
              </a:rPr>
              <a:t>.</a:t>
            </a:r>
            <a:endParaRPr sz="1200" b="0" i="0" u="none" strike="noStrike" cap="none">
              <a:solidFill>
                <a:schemeClr val="dk1"/>
              </a:solidFill>
              <a:latin typeface="Nunito"/>
              <a:ea typeface="Nunito"/>
              <a:cs typeface="Nunito"/>
              <a:sym typeface="Nunito"/>
            </a:endParaRPr>
          </a:p>
        </p:txBody>
      </p:sp>
      <p:sp>
        <p:nvSpPr>
          <p:cNvPr id="238" name="Google Shape;238;g30bad334051_3_170"/>
          <p:cNvSpPr txBox="1"/>
          <p:nvPr/>
        </p:nvSpPr>
        <p:spPr>
          <a:xfrm>
            <a:off x="5971430" y="3953641"/>
            <a:ext cx="3061251"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200" b="0" i="0" u="none" strike="noStrike" cap="none">
                <a:solidFill>
                  <a:schemeClr val="accent1"/>
                </a:solidFill>
                <a:latin typeface="Nunito"/>
                <a:ea typeface="Nunito"/>
                <a:cs typeface="Nunito"/>
                <a:sym typeface="Nunito"/>
              </a:rPr>
              <a:t>Note</a:t>
            </a:r>
            <a:r>
              <a:rPr lang="en-AU" sz="1200" b="0" i="0" u="none" strike="noStrike" cap="none">
                <a:solidFill>
                  <a:srgbClr val="000000"/>
                </a:solidFill>
                <a:latin typeface="Nunito"/>
                <a:ea typeface="Nunito"/>
                <a:cs typeface="Nunito"/>
                <a:sym typeface="Nunito"/>
              </a:rPr>
              <a:t>: a biological process is not equivalent to a pathway. </a:t>
            </a:r>
            <a:endParaRPr sz="1200" b="0" i="0" u="none" strike="noStrike" cap="none">
              <a:solidFill>
                <a:srgbClr val="000000"/>
              </a:solidFill>
              <a:latin typeface="Nunito"/>
              <a:ea typeface="Nunito"/>
              <a:cs typeface="Nunito"/>
              <a:sym typeface="Nunito"/>
            </a:endParaRPr>
          </a:p>
        </p:txBody>
      </p:sp>
      <p:sp>
        <p:nvSpPr>
          <p:cNvPr id="239" name="Google Shape;239;g30bad334051_3_170"/>
          <p:cNvSpPr txBox="1"/>
          <p:nvPr/>
        </p:nvSpPr>
        <p:spPr>
          <a:xfrm>
            <a:off x="5971430" y="4415306"/>
            <a:ext cx="3061251" cy="2308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900" b="0" i="0" u="sng" strike="noStrike" cap="none" dirty="0">
                <a:solidFill>
                  <a:srgbClr val="1B243B"/>
                </a:solidFill>
                <a:latin typeface="Nunito"/>
                <a:ea typeface="Nunito"/>
                <a:cs typeface="Nunito"/>
                <a:sym typeface="Nunito"/>
                <a:hlinkClick r:id="rId15">
                  <a:extLst>
                    <a:ext uri="{A12FA001-AC4F-418D-AE19-62706E023703}">
                      <ahyp:hlinkClr xmlns:ahyp="http://schemas.microsoft.com/office/drawing/2018/hyperlinkcolor" val="tx"/>
                    </a:ext>
                  </a:extLst>
                </a:hlinkClick>
              </a:rPr>
              <a:t>https://geneontology.org/docs/ontology-documentation</a:t>
            </a:r>
            <a:endParaRPr sz="900" b="0" i="0" u="none" strike="noStrike" cap="none" dirty="0">
              <a:solidFill>
                <a:srgbClr val="1B243B"/>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500"/>
                                        <p:tgtEl>
                                          <p:spTgt spid="238"/>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7"/>
                                        </p:tgtEl>
                                        <p:attrNameLst>
                                          <p:attrName>style.visibility</p:attrName>
                                        </p:attrNameLst>
                                      </p:cBhvr>
                                      <p:to>
                                        <p:strVal val="visible"/>
                                      </p:to>
                                    </p:set>
                                    <p:anim calcmode="lin" valueType="num">
                                      <p:cBhvr additive="base">
                                        <p:cTn id="12" dur="500"/>
                                        <p:tgtEl>
                                          <p:spTgt spid="2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7" name="Google Shape;257;p33"/>
          <p:cNvPicPr preferRelativeResize="0"/>
          <p:nvPr/>
        </p:nvPicPr>
        <p:blipFill>
          <a:blip r:embed="rId3">
            <a:alphaModFix/>
          </a:blip>
          <a:stretch>
            <a:fillRect/>
          </a:stretch>
        </p:blipFill>
        <p:spPr>
          <a:xfrm>
            <a:off x="4649475" y="827216"/>
            <a:ext cx="3301350" cy="2285350"/>
          </a:xfrm>
          <a:prstGeom prst="rect">
            <a:avLst/>
          </a:prstGeom>
          <a:noFill/>
          <a:ln>
            <a:noFill/>
          </a:ln>
        </p:spPr>
      </p:pic>
      <p:pic>
        <p:nvPicPr>
          <p:cNvPr id="258" name="Google Shape;258;p33"/>
          <p:cNvPicPr preferRelativeResize="0"/>
          <p:nvPr/>
        </p:nvPicPr>
        <p:blipFill>
          <a:blip r:embed="rId4">
            <a:alphaModFix/>
          </a:blip>
          <a:stretch>
            <a:fillRect/>
          </a:stretch>
        </p:blipFill>
        <p:spPr>
          <a:xfrm>
            <a:off x="5133049" y="3199891"/>
            <a:ext cx="2400300" cy="1905000"/>
          </a:xfrm>
          <a:prstGeom prst="rect">
            <a:avLst/>
          </a:prstGeom>
          <a:noFill/>
          <a:ln>
            <a:noFill/>
          </a:ln>
        </p:spPr>
      </p:pic>
      <p:grpSp>
        <p:nvGrpSpPr>
          <p:cNvPr id="4" name="Group 3">
            <a:extLst>
              <a:ext uri="{FF2B5EF4-FFF2-40B4-BE49-F238E27FC236}">
                <a16:creationId xmlns:a16="http://schemas.microsoft.com/office/drawing/2014/main" id="{34BB11B4-AA3B-9CF2-FEFE-A52CD959364C}"/>
              </a:ext>
            </a:extLst>
          </p:cNvPr>
          <p:cNvGrpSpPr/>
          <p:nvPr/>
        </p:nvGrpSpPr>
        <p:grpSpPr>
          <a:xfrm>
            <a:off x="288775" y="1011317"/>
            <a:ext cx="2885150" cy="3302700"/>
            <a:chOff x="157175" y="1320600"/>
            <a:chExt cx="2885150" cy="3302700"/>
          </a:xfrm>
        </p:grpSpPr>
        <p:pic>
          <p:nvPicPr>
            <p:cNvPr id="256" name="Google Shape;256;p33"/>
            <p:cNvPicPr preferRelativeResize="0"/>
            <p:nvPr/>
          </p:nvPicPr>
          <p:blipFill rotWithShape="1">
            <a:blip r:embed="rId5">
              <a:alphaModFix/>
            </a:blip>
            <a:srcRect t="5365"/>
            <a:stretch/>
          </p:blipFill>
          <p:spPr>
            <a:xfrm>
              <a:off x="157175" y="1320600"/>
              <a:ext cx="2885150" cy="3302700"/>
            </a:xfrm>
            <a:prstGeom prst="rect">
              <a:avLst/>
            </a:prstGeom>
            <a:noFill/>
            <a:ln>
              <a:noFill/>
            </a:ln>
          </p:spPr>
        </p:pic>
        <p:sp>
          <p:nvSpPr>
            <p:cNvPr id="259" name="Google Shape;259;p33"/>
            <p:cNvSpPr/>
            <p:nvPr/>
          </p:nvSpPr>
          <p:spPr>
            <a:xfrm>
              <a:off x="157175" y="1320600"/>
              <a:ext cx="2885100" cy="3302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 name="Google Shape;260;p33"/>
          <p:cNvSpPr/>
          <p:nvPr/>
        </p:nvSpPr>
        <p:spPr>
          <a:xfrm>
            <a:off x="2606425" y="1571417"/>
            <a:ext cx="4086000" cy="2182500"/>
          </a:xfrm>
          <a:prstGeom prst="roundRect">
            <a:avLst>
              <a:gd name="adj" fmla="val 16667"/>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400" b="1" dirty="0">
                <a:solidFill>
                  <a:srgbClr val="434343"/>
                </a:solidFill>
                <a:latin typeface="Raleway"/>
                <a:ea typeface="Raleway"/>
                <a:cs typeface="Raleway"/>
                <a:sym typeface="Raleway"/>
              </a:rPr>
              <a:t>Metabolic Pathways</a:t>
            </a:r>
            <a:endParaRPr sz="2400" b="1" dirty="0">
              <a:solidFill>
                <a:srgbClr val="434343"/>
              </a:solidFill>
              <a:latin typeface="Raleway"/>
              <a:ea typeface="Raleway"/>
              <a:cs typeface="Raleway"/>
              <a:sym typeface="Raleway"/>
            </a:endParaRPr>
          </a:p>
          <a:p>
            <a:pPr marL="0" lvl="0" indent="0" algn="ctr" rtl="0">
              <a:spcBef>
                <a:spcPts val="0"/>
              </a:spcBef>
              <a:spcAft>
                <a:spcPts val="0"/>
              </a:spcAft>
              <a:buNone/>
            </a:pPr>
            <a:r>
              <a:rPr lang="en-GB" sz="2400" b="1" dirty="0">
                <a:solidFill>
                  <a:srgbClr val="434343"/>
                </a:solidFill>
                <a:latin typeface="Raleway"/>
                <a:ea typeface="Raleway"/>
                <a:cs typeface="Raleway"/>
                <a:sym typeface="Raleway"/>
              </a:rPr>
              <a:t>Molecular Interactions</a:t>
            </a:r>
            <a:endParaRPr sz="2400" b="1" dirty="0">
              <a:solidFill>
                <a:srgbClr val="434343"/>
              </a:solidFill>
              <a:latin typeface="Raleway"/>
              <a:ea typeface="Raleway"/>
              <a:cs typeface="Raleway"/>
              <a:sym typeface="Raleway"/>
            </a:endParaRPr>
          </a:p>
          <a:p>
            <a:pPr marL="0" lvl="0" indent="0" algn="ctr" rtl="0">
              <a:spcBef>
                <a:spcPts val="0"/>
              </a:spcBef>
              <a:spcAft>
                <a:spcPts val="0"/>
              </a:spcAft>
              <a:buNone/>
            </a:pPr>
            <a:r>
              <a:rPr lang="en-GB" sz="2400" b="1" dirty="0">
                <a:solidFill>
                  <a:srgbClr val="434343"/>
                </a:solidFill>
                <a:latin typeface="Raleway"/>
                <a:ea typeface="Raleway"/>
                <a:cs typeface="Raleway"/>
                <a:sym typeface="Raleway"/>
              </a:rPr>
              <a:t>Signalling Networks</a:t>
            </a:r>
            <a:endParaRPr sz="2400" b="1" dirty="0">
              <a:solidFill>
                <a:srgbClr val="434343"/>
              </a:solidFill>
              <a:latin typeface="Raleway"/>
              <a:ea typeface="Raleway"/>
              <a:cs typeface="Raleway"/>
              <a:sym typeface="Raleway"/>
            </a:endParaRPr>
          </a:p>
          <a:p>
            <a:pPr marL="0" lvl="0" indent="0" algn="ctr" rtl="0">
              <a:spcBef>
                <a:spcPts val="0"/>
              </a:spcBef>
              <a:spcAft>
                <a:spcPts val="0"/>
              </a:spcAft>
              <a:buNone/>
            </a:pPr>
            <a:r>
              <a:rPr lang="en-GB" sz="2400" b="1" dirty="0">
                <a:solidFill>
                  <a:srgbClr val="434343"/>
                </a:solidFill>
                <a:latin typeface="Raleway"/>
                <a:ea typeface="Raleway"/>
                <a:cs typeface="Raleway"/>
                <a:sym typeface="Raleway"/>
              </a:rPr>
              <a:t>Regulatory Networks</a:t>
            </a:r>
            <a:endParaRPr sz="2400" b="1" dirty="0">
              <a:solidFill>
                <a:srgbClr val="434343"/>
              </a:solidFill>
              <a:latin typeface="Raleway"/>
              <a:ea typeface="Raleway"/>
              <a:cs typeface="Raleway"/>
              <a:sym typeface="Raleway"/>
            </a:endParaRPr>
          </a:p>
          <a:p>
            <a:pPr marL="0" lvl="0" indent="0" algn="ctr" rtl="0">
              <a:spcBef>
                <a:spcPts val="0"/>
              </a:spcBef>
              <a:spcAft>
                <a:spcPts val="0"/>
              </a:spcAft>
              <a:buNone/>
            </a:pPr>
            <a:r>
              <a:rPr lang="en-GB" sz="2400" b="1" dirty="0">
                <a:solidFill>
                  <a:srgbClr val="434343"/>
                </a:solidFill>
                <a:latin typeface="Raleway"/>
                <a:ea typeface="Raleway"/>
                <a:cs typeface="Raleway"/>
                <a:sym typeface="Raleway"/>
              </a:rPr>
              <a:t>Genetic Interactions</a:t>
            </a:r>
            <a:endParaRPr sz="4000" b="1" dirty="0">
              <a:solidFill>
                <a:srgbClr val="434343"/>
              </a:solidFill>
              <a:latin typeface="Raleway"/>
              <a:ea typeface="Raleway"/>
              <a:cs typeface="Raleway"/>
              <a:sym typeface="Raleway"/>
            </a:endParaRPr>
          </a:p>
        </p:txBody>
      </p:sp>
      <p:sp>
        <p:nvSpPr>
          <p:cNvPr id="3" name="Google Shape;235;g30bad334051_3_170">
            <a:extLst>
              <a:ext uri="{FF2B5EF4-FFF2-40B4-BE49-F238E27FC236}">
                <a16:creationId xmlns:a16="http://schemas.microsoft.com/office/drawing/2014/main" id="{473A4EBD-8DB8-D278-6833-05DB7D93C912}"/>
              </a:ext>
            </a:extLst>
          </p:cNvPr>
          <p:cNvSpPr txBox="1">
            <a:spLocks/>
          </p:cNvSpPr>
          <p:nvPr/>
        </p:nvSpPr>
        <p:spPr>
          <a:xfrm>
            <a:off x="311700" y="292625"/>
            <a:ext cx="8520600" cy="572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600"/>
              <a:buFont typeface="Arial"/>
              <a:buNone/>
              <a:defRPr sz="1400" b="0" i="0" u="none" strike="noStrike" cap="none">
                <a:solidFill>
                  <a:srgbClr val="000000"/>
                </a:solidFill>
                <a:latin typeface="Arial"/>
                <a:ea typeface="Arial"/>
                <a:cs typeface="Arial"/>
                <a:sym typeface="Arial"/>
              </a:defRPr>
            </a:lvl9pPr>
          </a:lstStyle>
          <a:p>
            <a:pPr algn="ctr">
              <a:buSzPts val="3000"/>
            </a:pPr>
            <a:r>
              <a:rPr lang="en-GB" sz="3000" dirty="0">
                <a:latin typeface="Nunito" pitchFamily="2" charset="77"/>
              </a:rPr>
              <a:t>Pathways in Biology</a:t>
            </a:r>
            <a:endParaRPr lang="en-AU" sz="3000" dirty="0">
              <a:latin typeface="Nunito"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10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01E31E4-82E8-57D1-064A-FAB211657134}"/>
            </a:ext>
          </a:extLst>
        </p:cNvPr>
        <p:cNvGrpSpPr/>
        <p:nvPr/>
      </p:nvGrpSpPr>
      <p:grpSpPr>
        <a:xfrm>
          <a:off x="0" y="0"/>
          <a:ext cx="0" cy="0"/>
          <a:chOff x="0" y="0"/>
          <a:chExt cx="0" cy="0"/>
        </a:xfrm>
      </p:grpSpPr>
      <p:sp>
        <p:nvSpPr>
          <p:cNvPr id="194" name="Google Shape;194;g30bad334051_3_121">
            <a:extLst>
              <a:ext uri="{FF2B5EF4-FFF2-40B4-BE49-F238E27FC236}">
                <a16:creationId xmlns:a16="http://schemas.microsoft.com/office/drawing/2014/main" id="{63CB5001-86CD-241B-B060-11981867EB78}"/>
              </a:ext>
            </a:extLst>
          </p:cNvPr>
          <p:cNvSpPr txBox="1">
            <a:spLocks noGrp="1"/>
          </p:cNvSpPr>
          <p:nvPr>
            <p:ph type="title"/>
          </p:nvPr>
        </p:nvSpPr>
        <p:spPr>
          <a:xfrm>
            <a:off x="311700" y="71867"/>
            <a:ext cx="8520600" cy="9526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AU"/>
              <a:t>Annotation Databases</a:t>
            </a:r>
            <a:endParaRPr/>
          </a:p>
        </p:txBody>
      </p:sp>
      <p:grpSp>
        <p:nvGrpSpPr>
          <p:cNvPr id="4" name="Group 3">
            <a:extLst>
              <a:ext uri="{FF2B5EF4-FFF2-40B4-BE49-F238E27FC236}">
                <a16:creationId xmlns:a16="http://schemas.microsoft.com/office/drawing/2014/main" id="{7535D6AB-4CD7-C23D-55CD-605037447562}"/>
              </a:ext>
            </a:extLst>
          </p:cNvPr>
          <p:cNvGrpSpPr/>
          <p:nvPr/>
        </p:nvGrpSpPr>
        <p:grpSpPr>
          <a:xfrm>
            <a:off x="208292" y="1809914"/>
            <a:ext cx="2095943" cy="1270023"/>
            <a:chOff x="871883" y="1809914"/>
            <a:chExt cx="2095943" cy="1270023"/>
          </a:xfrm>
        </p:grpSpPr>
        <p:pic>
          <p:nvPicPr>
            <p:cNvPr id="195" name="Google Shape;195;g30bad334051_3_121">
              <a:extLst>
                <a:ext uri="{FF2B5EF4-FFF2-40B4-BE49-F238E27FC236}">
                  <a16:creationId xmlns:a16="http://schemas.microsoft.com/office/drawing/2014/main" id="{247E255D-0E99-7129-85AD-571A9E7CC07B}"/>
                </a:ext>
              </a:extLst>
            </p:cNvPr>
            <p:cNvPicPr preferRelativeResize="0">
              <a:picLocks noChangeAspect="1"/>
            </p:cNvPicPr>
            <p:nvPr/>
          </p:nvPicPr>
          <p:blipFill rotWithShape="1">
            <a:blip r:embed="rId3">
              <a:alphaModFix/>
            </a:blip>
            <a:srcRect/>
            <a:stretch/>
          </p:blipFill>
          <p:spPr>
            <a:xfrm>
              <a:off x="871883" y="1809914"/>
              <a:ext cx="2095943" cy="540000"/>
            </a:xfrm>
            <a:prstGeom prst="rect">
              <a:avLst/>
            </a:prstGeom>
            <a:noFill/>
            <a:ln>
              <a:noFill/>
            </a:ln>
          </p:spPr>
        </p:pic>
        <p:pic>
          <p:nvPicPr>
            <p:cNvPr id="203" name="Google Shape;203;g30bad334051_3_121" descr="UniProt">
              <a:extLst>
                <a:ext uri="{FF2B5EF4-FFF2-40B4-BE49-F238E27FC236}">
                  <a16:creationId xmlns:a16="http://schemas.microsoft.com/office/drawing/2014/main" id="{F6527F37-403F-E4C2-5909-6BA2A2F41F2E}"/>
                </a:ext>
              </a:extLst>
            </p:cNvPr>
            <p:cNvPicPr preferRelativeResize="0">
              <a:picLocks noChangeAspect="1"/>
            </p:cNvPicPr>
            <p:nvPr/>
          </p:nvPicPr>
          <p:blipFill rotWithShape="1">
            <a:blip r:embed="rId4">
              <a:alphaModFix/>
            </a:blip>
            <a:srcRect/>
            <a:stretch/>
          </p:blipFill>
          <p:spPr>
            <a:xfrm>
              <a:off x="1052229" y="2359937"/>
              <a:ext cx="1572629" cy="720000"/>
            </a:xfrm>
            <a:prstGeom prst="rect">
              <a:avLst/>
            </a:prstGeom>
            <a:noFill/>
            <a:ln>
              <a:noFill/>
            </a:ln>
          </p:spPr>
        </p:pic>
      </p:grpSp>
      <p:grpSp>
        <p:nvGrpSpPr>
          <p:cNvPr id="5" name="Group 4">
            <a:extLst>
              <a:ext uri="{FF2B5EF4-FFF2-40B4-BE49-F238E27FC236}">
                <a16:creationId xmlns:a16="http://schemas.microsoft.com/office/drawing/2014/main" id="{0FB64C3A-1C96-5AC6-70FC-CF3086F26969}"/>
              </a:ext>
            </a:extLst>
          </p:cNvPr>
          <p:cNvGrpSpPr/>
          <p:nvPr/>
        </p:nvGrpSpPr>
        <p:grpSpPr>
          <a:xfrm>
            <a:off x="208292" y="3515025"/>
            <a:ext cx="3045904" cy="1048414"/>
            <a:chOff x="855809" y="3316470"/>
            <a:chExt cx="3045904" cy="1048414"/>
          </a:xfrm>
        </p:grpSpPr>
        <p:pic>
          <p:nvPicPr>
            <p:cNvPr id="198" name="Google Shape;198;g30bad334051_3_121">
              <a:extLst>
                <a:ext uri="{FF2B5EF4-FFF2-40B4-BE49-F238E27FC236}">
                  <a16:creationId xmlns:a16="http://schemas.microsoft.com/office/drawing/2014/main" id="{E0D83734-A290-5BAD-90BA-E814406EEE57}"/>
                </a:ext>
              </a:extLst>
            </p:cNvPr>
            <p:cNvPicPr preferRelativeResize="0"/>
            <p:nvPr/>
          </p:nvPicPr>
          <p:blipFill rotWithShape="1">
            <a:blip r:embed="rId5">
              <a:alphaModFix/>
            </a:blip>
            <a:srcRect t="10546"/>
            <a:stretch/>
          </p:blipFill>
          <p:spPr>
            <a:xfrm>
              <a:off x="855809" y="3316470"/>
              <a:ext cx="1304589" cy="416786"/>
            </a:xfrm>
            <a:prstGeom prst="rect">
              <a:avLst/>
            </a:prstGeom>
            <a:noFill/>
            <a:ln>
              <a:noFill/>
            </a:ln>
          </p:spPr>
        </p:pic>
        <p:pic>
          <p:nvPicPr>
            <p:cNvPr id="199" name="Google Shape;199;g30bad334051_3_121">
              <a:extLst>
                <a:ext uri="{FF2B5EF4-FFF2-40B4-BE49-F238E27FC236}">
                  <a16:creationId xmlns:a16="http://schemas.microsoft.com/office/drawing/2014/main" id="{38674959-3714-0463-A405-7FC95064F543}"/>
                </a:ext>
              </a:extLst>
            </p:cNvPr>
            <p:cNvPicPr preferRelativeResize="0">
              <a:picLocks noChangeAspect="1"/>
            </p:cNvPicPr>
            <p:nvPr/>
          </p:nvPicPr>
          <p:blipFill rotWithShape="1">
            <a:blip r:embed="rId6">
              <a:alphaModFix/>
            </a:blip>
            <a:srcRect/>
            <a:stretch/>
          </p:blipFill>
          <p:spPr>
            <a:xfrm>
              <a:off x="2300443" y="3330189"/>
              <a:ext cx="1295984" cy="432000"/>
            </a:xfrm>
            <a:prstGeom prst="rect">
              <a:avLst/>
            </a:prstGeom>
            <a:noFill/>
            <a:ln>
              <a:noFill/>
            </a:ln>
          </p:spPr>
        </p:pic>
        <p:pic>
          <p:nvPicPr>
            <p:cNvPr id="200" name="Google Shape;200;g30bad334051_3_121">
              <a:extLst>
                <a:ext uri="{FF2B5EF4-FFF2-40B4-BE49-F238E27FC236}">
                  <a16:creationId xmlns:a16="http://schemas.microsoft.com/office/drawing/2014/main" id="{C284CD0E-F82E-A047-3836-A35C448D3669}"/>
                </a:ext>
              </a:extLst>
            </p:cNvPr>
            <p:cNvPicPr preferRelativeResize="0">
              <a:picLocks noChangeAspect="1"/>
            </p:cNvPicPr>
            <p:nvPr/>
          </p:nvPicPr>
          <p:blipFill rotWithShape="1">
            <a:blip r:embed="rId7">
              <a:alphaModFix/>
            </a:blip>
            <a:srcRect/>
            <a:stretch/>
          </p:blipFill>
          <p:spPr>
            <a:xfrm>
              <a:off x="871883" y="3846058"/>
              <a:ext cx="1080000" cy="492750"/>
            </a:xfrm>
            <a:prstGeom prst="rect">
              <a:avLst/>
            </a:prstGeom>
            <a:noFill/>
            <a:ln>
              <a:noFill/>
            </a:ln>
          </p:spPr>
        </p:pic>
        <p:pic>
          <p:nvPicPr>
            <p:cNvPr id="206" name="Google Shape;206;g30bad334051_3_121" descr="STRING: functional protein association networks">
              <a:extLst>
                <a:ext uri="{FF2B5EF4-FFF2-40B4-BE49-F238E27FC236}">
                  <a16:creationId xmlns:a16="http://schemas.microsoft.com/office/drawing/2014/main" id="{58EB2E58-B8D9-E7C5-27FD-8EF7A4BDE71B}"/>
                </a:ext>
              </a:extLst>
            </p:cNvPr>
            <p:cNvPicPr preferRelativeResize="0">
              <a:picLocks noChangeAspect="1"/>
            </p:cNvPicPr>
            <p:nvPr/>
          </p:nvPicPr>
          <p:blipFill rotWithShape="1">
            <a:blip r:embed="rId8">
              <a:alphaModFix/>
            </a:blip>
            <a:srcRect/>
            <a:stretch/>
          </p:blipFill>
          <p:spPr>
            <a:xfrm>
              <a:off x="2033939" y="3846058"/>
              <a:ext cx="1867774" cy="518826"/>
            </a:xfrm>
            <a:prstGeom prst="rect">
              <a:avLst/>
            </a:prstGeom>
            <a:noFill/>
            <a:ln>
              <a:noFill/>
            </a:ln>
          </p:spPr>
        </p:pic>
      </p:grpSp>
      <p:grpSp>
        <p:nvGrpSpPr>
          <p:cNvPr id="3" name="Group 2">
            <a:extLst>
              <a:ext uri="{FF2B5EF4-FFF2-40B4-BE49-F238E27FC236}">
                <a16:creationId xmlns:a16="http://schemas.microsoft.com/office/drawing/2014/main" id="{A7DDA569-F350-239E-2B5B-2D6F913CD411}"/>
              </a:ext>
            </a:extLst>
          </p:cNvPr>
          <p:cNvGrpSpPr/>
          <p:nvPr/>
        </p:nvGrpSpPr>
        <p:grpSpPr>
          <a:xfrm>
            <a:off x="2559244" y="1901494"/>
            <a:ext cx="5093509" cy="1024225"/>
            <a:chOff x="3191483" y="1907814"/>
            <a:chExt cx="5093509" cy="1024225"/>
          </a:xfrm>
        </p:grpSpPr>
        <p:pic>
          <p:nvPicPr>
            <p:cNvPr id="196" name="Google Shape;196;g30bad334051_3_121">
              <a:extLst>
                <a:ext uri="{FF2B5EF4-FFF2-40B4-BE49-F238E27FC236}">
                  <a16:creationId xmlns:a16="http://schemas.microsoft.com/office/drawing/2014/main" id="{199810DA-9CBA-04E9-EF70-23E23C458159}"/>
                </a:ext>
              </a:extLst>
            </p:cNvPr>
            <p:cNvPicPr preferRelativeResize="0">
              <a:picLocks noChangeAspect="1"/>
            </p:cNvPicPr>
            <p:nvPr/>
          </p:nvPicPr>
          <p:blipFill rotWithShape="1">
            <a:blip r:embed="rId9">
              <a:alphaModFix/>
            </a:blip>
            <a:srcRect/>
            <a:stretch/>
          </p:blipFill>
          <p:spPr>
            <a:xfrm>
              <a:off x="3191483" y="1907814"/>
              <a:ext cx="847552" cy="607686"/>
            </a:xfrm>
            <a:prstGeom prst="rect">
              <a:avLst/>
            </a:prstGeom>
            <a:noFill/>
            <a:ln>
              <a:noFill/>
            </a:ln>
          </p:spPr>
        </p:pic>
        <p:pic>
          <p:nvPicPr>
            <p:cNvPr id="197" name="Google Shape;197;g30bad334051_3_121">
              <a:extLst>
                <a:ext uri="{FF2B5EF4-FFF2-40B4-BE49-F238E27FC236}">
                  <a16:creationId xmlns:a16="http://schemas.microsoft.com/office/drawing/2014/main" id="{56ADD265-F91D-3C6E-223A-FEC928B43FD5}"/>
                </a:ext>
              </a:extLst>
            </p:cNvPr>
            <p:cNvPicPr preferRelativeResize="0">
              <a:picLocks noChangeAspect="1"/>
            </p:cNvPicPr>
            <p:nvPr/>
          </p:nvPicPr>
          <p:blipFill rotWithShape="1">
            <a:blip r:embed="rId10">
              <a:alphaModFix/>
            </a:blip>
            <a:srcRect/>
            <a:stretch/>
          </p:blipFill>
          <p:spPr>
            <a:xfrm>
              <a:off x="4285533" y="1936632"/>
              <a:ext cx="2325041" cy="540000"/>
            </a:xfrm>
            <a:prstGeom prst="rect">
              <a:avLst/>
            </a:prstGeom>
            <a:noFill/>
            <a:ln>
              <a:noFill/>
            </a:ln>
          </p:spPr>
        </p:pic>
        <p:pic>
          <p:nvPicPr>
            <p:cNvPr id="201" name="Google Shape;201;g30bad334051_3_121">
              <a:extLst>
                <a:ext uri="{FF2B5EF4-FFF2-40B4-BE49-F238E27FC236}">
                  <a16:creationId xmlns:a16="http://schemas.microsoft.com/office/drawing/2014/main" id="{DE5B247D-04FC-453F-5802-221300D5DECB}"/>
                </a:ext>
              </a:extLst>
            </p:cNvPr>
            <p:cNvPicPr preferRelativeResize="0">
              <a:picLocks noChangeAspect="1"/>
            </p:cNvPicPr>
            <p:nvPr/>
          </p:nvPicPr>
          <p:blipFill rotWithShape="1">
            <a:blip r:embed="rId11">
              <a:alphaModFix/>
            </a:blip>
            <a:srcRect/>
            <a:stretch/>
          </p:blipFill>
          <p:spPr>
            <a:xfrm>
              <a:off x="6325813" y="2547004"/>
              <a:ext cx="1800000" cy="360000"/>
            </a:xfrm>
            <a:prstGeom prst="rect">
              <a:avLst/>
            </a:prstGeom>
            <a:noFill/>
            <a:ln>
              <a:noFill/>
            </a:ln>
          </p:spPr>
        </p:pic>
        <p:pic>
          <p:nvPicPr>
            <p:cNvPr id="202" name="Google Shape;202;g30bad334051_3_121">
              <a:extLst>
                <a:ext uri="{FF2B5EF4-FFF2-40B4-BE49-F238E27FC236}">
                  <a16:creationId xmlns:a16="http://schemas.microsoft.com/office/drawing/2014/main" id="{BDA5C6F0-3623-9A9F-3314-027700809B4C}"/>
                </a:ext>
              </a:extLst>
            </p:cNvPr>
            <p:cNvPicPr preferRelativeResize="0">
              <a:picLocks noChangeAspect="1"/>
            </p:cNvPicPr>
            <p:nvPr/>
          </p:nvPicPr>
          <p:blipFill rotWithShape="1">
            <a:blip r:embed="rId12">
              <a:alphaModFix/>
            </a:blip>
            <a:srcRect/>
            <a:stretch/>
          </p:blipFill>
          <p:spPr>
            <a:xfrm>
              <a:off x="6742325" y="1997532"/>
              <a:ext cx="1542667" cy="468000"/>
            </a:xfrm>
            <a:prstGeom prst="rect">
              <a:avLst/>
            </a:prstGeom>
            <a:noFill/>
            <a:ln>
              <a:noFill/>
            </a:ln>
          </p:spPr>
        </p:pic>
        <p:pic>
          <p:nvPicPr>
            <p:cNvPr id="204" name="Google Shape;204;g30bad334051_3_121">
              <a:extLst>
                <a:ext uri="{FF2B5EF4-FFF2-40B4-BE49-F238E27FC236}">
                  <a16:creationId xmlns:a16="http://schemas.microsoft.com/office/drawing/2014/main" id="{E9E4C795-7459-9D94-71FC-3DA2D49BAFDA}"/>
                </a:ext>
              </a:extLst>
            </p:cNvPr>
            <p:cNvPicPr preferRelativeResize="0">
              <a:picLocks noChangeAspect="1"/>
            </p:cNvPicPr>
            <p:nvPr/>
          </p:nvPicPr>
          <p:blipFill rotWithShape="1">
            <a:blip r:embed="rId13">
              <a:alphaModFix/>
            </a:blip>
            <a:srcRect/>
            <a:stretch/>
          </p:blipFill>
          <p:spPr>
            <a:xfrm>
              <a:off x="3191483" y="2571750"/>
              <a:ext cx="1260000" cy="341170"/>
            </a:xfrm>
            <a:prstGeom prst="rect">
              <a:avLst/>
            </a:prstGeom>
            <a:noFill/>
            <a:ln>
              <a:noFill/>
            </a:ln>
          </p:spPr>
        </p:pic>
        <p:pic>
          <p:nvPicPr>
            <p:cNvPr id="2" name="Picture 1">
              <a:extLst>
                <a:ext uri="{FF2B5EF4-FFF2-40B4-BE49-F238E27FC236}">
                  <a16:creationId xmlns:a16="http://schemas.microsoft.com/office/drawing/2014/main" id="{D095780C-2CB8-3EA4-01AF-9D35E8B4473A}"/>
                </a:ext>
              </a:extLst>
            </p:cNvPr>
            <p:cNvPicPr>
              <a:picLocks noChangeAspect="1"/>
            </p:cNvPicPr>
            <p:nvPr/>
          </p:nvPicPr>
          <p:blipFill>
            <a:blip r:embed="rId14"/>
            <a:stretch>
              <a:fillRect/>
            </a:stretch>
          </p:blipFill>
          <p:spPr>
            <a:xfrm>
              <a:off x="4606805" y="2584332"/>
              <a:ext cx="1620000" cy="347707"/>
            </a:xfrm>
            <a:prstGeom prst="rect">
              <a:avLst/>
            </a:prstGeom>
          </p:spPr>
        </p:pic>
      </p:grpSp>
      <p:grpSp>
        <p:nvGrpSpPr>
          <p:cNvPr id="16" name="Group 15">
            <a:extLst>
              <a:ext uri="{FF2B5EF4-FFF2-40B4-BE49-F238E27FC236}">
                <a16:creationId xmlns:a16="http://schemas.microsoft.com/office/drawing/2014/main" id="{2B52CE3B-93DD-EDB2-A05A-172DF99AA108}"/>
              </a:ext>
            </a:extLst>
          </p:cNvPr>
          <p:cNvGrpSpPr/>
          <p:nvPr/>
        </p:nvGrpSpPr>
        <p:grpSpPr>
          <a:xfrm>
            <a:off x="5918526" y="3367469"/>
            <a:ext cx="1396136" cy="723900"/>
            <a:chOff x="6582117" y="3367469"/>
            <a:chExt cx="1396136" cy="723900"/>
          </a:xfrm>
        </p:grpSpPr>
        <p:pic>
          <p:nvPicPr>
            <p:cNvPr id="2052" name="Picture 4">
              <a:extLst>
                <a:ext uri="{FF2B5EF4-FFF2-40B4-BE49-F238E27FC236}">
                  <a16:creationId xmlns:a16="http://schemas.microsoft.com/office/drawing/2014/main" id="{CE18173F-FBE5-D495-7D6D-B90ECC3214A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82117" y="3367469"/>
              <a:ext cx="723900" cy="7239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4951594-365B-B8F1-3D91-248A9785829D}"/>
                </a:ext>
              </a:extLst>
            </p:cNvPr>
            <p:cNvSpPr txBox="1"/>
            <p:nvPr/>
          </p:nvSpPr>
          <p:spPr>
            <a:xfrm>
              <a:off x="7150068" y="3595788"/>
              <a:ext cx="828185" cy="307777"/>
            </a:xfrm>
            <a:prstGeom prst="rect">
              <a:avLst/>
            </a:prstGeom>
            <a:noFill/>
          </p:spPr>
          <p:txBody>
            <a:bodyPr wrap="square">
              <a:spAutoFit/>
            </a:bodyPr>
            <a:lstStyle/>
            <a:p>
              <a:r>
                <a:rPr lang="en-AU" b="0" i="0" dirty="0" err="1">
                  <a:solidFill>
                    <a:srgbClr val="000000"/>
                  </a:solidFill>
                  <a:effectLst/>
                  <a:latin typeface="Droid Sans"/>
                </a:rPr>
                <a:t>En</a:t>
              </a:r>
              <a:r>
                <a:rPr lang="en-AU" b="0" i="0" dirty="0" err="1">
                  <a:solidFill>
                    <a:srgbClr val="FF0000"/>
                  </a:solidFill>
                  <a:effectLst/>
                  <a:latin typeface="Droid Sans"/>
                </a:rPr>
                <a:t>rich</a:t>
              </a:r>
              <a:r>
                <a:rPr lang="en-AU" b="0" i="0" dirty="0" err="1">
                  <a:solidFill>
                    <a:srgbClr val="000000"/>
                  </a:solidFill>
                  <a:effectLst/>
                  <a:latin typeface="Droid Sans"/>
                </a:rPr>
                <a:t>r</a:t>
              </a:r>
              <a:endParaRPr lang="en-US" dirty="0"/>
            </a:p>
          </p:txBody>
        </p:sp>
      </p:grpSp>
      <p:grpSp>
        <p:nvGrpSpPr>
          <p:cNvPr id="15" name="Group 14">
            <a:extLst>
              <a:ext uri="{FF2B5EF4-FFF2-40B4-BE49-F238E27FC236}">
                <a16:creationId xmlns:a16="http://schemas.microsoft.com/office/drawing/2014/main" id="{DFBE0AC6-0BDF-FCB8-3397-EB866B5EF290}"/>
              </a:ext>
            </a:extLst>
          </p:cNvPr>
          <p:cNvGrpSpPr/>
          <p:nvPr/>
        </p:nvGrpSpPr>
        <p:grpSpPr>
          <a:xfrm>
            <a:off x="3815272" y="3528744"/>
            <a:ext cx="3742552" cy="992828"/>
            <a:chOff x="4478863" y="3528744"/>
            <a:chExt cx="3742552" cy="992828"/>
          </a:xfrm>
        </p:grpSpPr>
        <p:pic>
          <p:nvPicPr>
            <p:cNvPr id="205" name="Google Shape;205;g30bad334051_3_121">
              <a:extLst>
                <a:ext uri="{FF2B5EF4-FFF2-40B4-BE49-F238E27FC236}">
                  <a16:creationId xmlns:a16="http://schemas.microsoft.com/office/drawing/2014/main" id="{05BF2C6F-2AF9-E6A9-6384-9FCC2A54D2A4}"/>
                </a:ext>
              </a:extLst>
            </p:cNvPr>
            <p:cNvPicPr preferRelativeResize="0"/>
            <p:nvPr/>
          </p:nvPicPr>
          <p:blipFill rotWithShape="1">
            <a:blip r:embed="rId16">
              <a:alphaModFix/>
            </a:blip>
            <a:srcRect/>
            <a:stretch/>
          </p:blipFill>
          <p:spPr>
            <a:xfrm>
              <a:off x="4510437" y="3528744"/>
              <a:ext cx="1344471" cy="416146"/>
            </a:xfrm>
            <a:prstGeom prst="rect">
              <a:avLst/>
            </a:prstGeom>
            <a:noFill/>
            <a:ln>
              <a:noFill/>
            </a:ln>
          </p:spPr>
        </p:pic>
        <p:pic>
          <p:nvPicPr>
            <p:cNvPr id="2054" name="Picture 6" descr="g:P2 logo">
              <a:extLst>
                <a:ext uri="{FF2B5EF4-FFF2-40B4-BE49-F238E27FC236}">
                  <a16:creationId xmlns:a16="http://schemas.microsoft.com/office/drawing/2014/main" id="{D03AF0E6-0574-0F81-1F88-1DEFC60E2D6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78863" y="4023253"/>
              <a:ext cx="1482562" cy="40492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e Database for Annotation, Visualization and Integrated Discovery">
              <a:extLst>
                <a:ext uri="{FF2B5EF4-FFF2-40B4-BE49-F238E27FC236}">
                  <a16:creationId xmlns:a16="http://schemas.microsoft.com/office/drawing/2014/main" id="{2BAD8D69-74BA-CF3C-FF83-B117C233745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66925" y="3981572"/>
              <a:ext cx="2154490" cy="54000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Rectangle 10">
            <a:extLst>
              <a:ext uri="{FF2B5EF4-FFF2-40B4-BE49-F238E27FC236}">
                <a16:creationId xmlns:a16="http://schemas.microsoft.com/office/drawing/2014/main" id="{2E5983A0-3A7E-DC7A-929F-C0A793858F3A}"/>
              </a:ext>
            </a:extLst>
          </p:cNvPr>
          <p:cNvSpPr/>
          <p:nvPr/>
        </p:nvSpPr>
        <p:spPr>
          <a:xfrm>
            <a:off x="31966" y="1749242"/>
            <a:ext cx="2354544" cy="1442139"/>
          </a:xfrm>
          <a:prstGeom prst="rect">
            <a:avLst/>
          </a:prstGeom>
          <a:solidFill>
            <a:schemeClr val="bg1">
              <a:lumMod val="5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86D7FAA-4467-4682-D1B7-E0B16669F328}"/>
              </a:ext>
            </a:extLst>
          </p:cNvPr>
          <p:cNvSpPr/>
          <p:nvPr/>
        </p:nvSpPr>
        <p:spPr>
          <a:xfrm>
            <a:off x="2435986" y="1748091"/>
            <a:ext cx="5315245" cy="1442139"/>
          </a:xfrm>
          <a:prstGeom prst="rect">
            <a:avLst/>
          </a:prstGeom>
          <a:solidFill>
            <a:schemeClr val="bg1">
              <a:lumMod val="5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702B710-DBC6-907D-E27C-28E6EEF07C39}"/>
              </a:ext>
            </a:extLst>
          </p:cNvPr>
          <p:cNvSpPr/>
          <p:nvPr/>
        </p:nvSpPr>
        <p:spPr>
          <a:xfrm>
            <a:off x="31966" y="3263649"/>
            <a:ext cx="3259877" cy="1442139"/>
          </a:xfrm>
          <a:prstGeom prst="rect">
            <a:avLst/>
          </a:prstGeom>
          <a:solidFill>
            <a:schemeClr val="bg1">
              <a:lumMod val="5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415AD3A-A02A-3F24-52F1-DB6023BAD319}"/>
              </a:ext>
            </a:extLst>
          </p:cNvPr>
          <p:cNvSpPr/>
          <p:nvPr/>
        </p:nvSpPr>
        <p:spPr>
          <a:xfrm>
            <a:off x="3351222" y="3265181"/>
            <a:ext cx="4400009" cy="1442139"/>
          </a:xfrm>
          <a:prstGeom prst="rect">
            <a:avLst/>
          </a:prstGeom>
          <a:solidFill>
            <a:schemeClr val="tx1">
              <a:lumMod val="50000"/>
              <a:lumOff val="5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8" name="Picture 10" descr="LIPID MAPS® logo">
            <a:extLst>
              <a:ext uri="{FF2B5EF4-FFF2-40B4-BE49-F238E27FC236}">
                <a16:creationId xmlns:a16="http://schemas.microsoft.com/office/drawing/2014/main" id="{9C78119F-B804-24CD-53A7-EF9A776025B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40652" y="3543565"/>
            <a:ext cx="759375" cy="54000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undefined">
            <a:extLst>
              <a:ext uri="{FF2B5EF4-FFF2-40B4-BE49-F238E27FC236}">
                <a16:creationId xmlns:a16="http://schemas.microsoft.com/office/drawing/2014/main" id="{8EC520FB-4E5D-221A-9555-043551790E2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959281" y="2189019"/>
            <a:ext cx="800618" cy="54000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94855213-09C1-D2B7-358E-8248178C097E}"/>
              </a:ext>
            </a:extLst>
          </p:cNvPr>
          <p:cNvSpPr/>
          <p:nvPr/>
        </p:nvSpPr>
        <p:spPr>
          <a:xfrm rot="5400000">
            <a:off x="6876678" y="2691006"/>
            <a:ext cx="2957697" cy="1071867"/>
          </a:xfrm>
          <a:prstGeom prst="rect">
            <a:avLst/>
          </a:prstGeom>
          <a:solidFill>
            <a:schemeClr val="bg1">
              <a:lumMod val="5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62" name="Picture 14">
            <a:extLst>
              <a:ext uri="{FF2B5EF4-FFF2-40B4-BE49-F238E27FC236}">
                <a16:creationId xmlns:a16="http://schemas.microsoft.com/office/drawing/2014/main" id="{5DE1439D-77AB-8D66-18F4-3C1B8970C13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19078" y="2830292"/>
            <a:ext cx="612000" cy="61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2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A2482BFB-E533-3A75-F9B9-F8F5797BE0DE}"/>
            </a:ext>
          </a:extLst>
        </p:cNvPr>
        <p:cNvGrpSpPr/>
        <p:nvPr/>
      </p:nvGrpSpPr>
      <p:grpSpPr>
        <a:xfrm>
          <a:off x="0" y="0"/>
          <a:ext cx="0" cy="0"/>
          <a:chOff x="0" y="0"/>
          <a:chExt cx="0" cy="0"/>
        </a:xfrm>
      </p:grpSpPr>
      <p:sp>
        <p:nvSpPr>
          <p:cNvPr id="453" name="Google Shape;453;g30babdeb835_0_433">
            <a:extLst>
              <a:ext uri="{FF2B5EF4-FFF2-40B4-BE49-F238E27FC236}">
                <a16:creationId xmlns:a16="http://schemas.microsoft.com/office/drawing/2014/main" id="{B502EE09-F213-019D-55B0-8415808F12AC}"/>
              </a:ext>
            </a:extLst>
          </p:cNvPr>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dirty="0"/>
              <a:t>Considerations – </a:t>
            </a:r>
            <a:r>
              <a:rPr lang="en-AU" dirty="0">
                <a:solidFill>
                  <a:srgbClr val="FF2600"/>
                </a:solidFill>
              </a:rPr>
              <a:t>Background sets</a:t>
            </a:r>
            <a:endParaRPr dirty="0">
              <a:solidFill>
                <a:srgbClr val="FF2600"/>
              </a:solidFill>
            </a:endParaRPr>
          </a:p>
        </p:txBody>
      </p:sp>
      <p:sp>
        <p:nvSpPr>
          <p:cNvPr id="454" name="Google Shape;454;g30babdeb835_0_433">
            <a:extLst>
              <a:ext uri="{FF2B5EF4-FFF2-40B4-BE49-F238E27FC236}">
                <a16:creationId xmlns:a16="http://schemas.microsoft.com/office/drawing/2014/main" id="{262C4AB1-376E-96C5-E650-BAEBFE0753A3}"/>
              </a:ext>
            </a:extLst>
          </p:cNvPr>
          <p:cNvSpPr txBox="1"/>
          <p:nvPr/>
        </p:nvSpPr>
        <p:spPr>
          <a:xfrm>
            <a:off x="295200" y="1173600"/>
            <a:ext cx="7378219" cy="1341876"/>
          </a:xfrm>
          <a:prstGeom prst="rect">
            <a:avLst/>
          </a:prstGeom>
          <a:noFill/>
          <a:ln>
            <a:noFill/>
          </a:ln>
        </p:spPr>
        <p:txBody>
          <a:bodyPr spcFirstLastPara="1" wrap="square" lIns="91425" tIns="91425" rIns="91425" bIns="91425" anchor="t" anchorCtr="0">
            <a:spAutoFit/>
          </a:bodyPr>
          <a:lstStyle/>
          <a:p>
            <a:pPr marL="495300" indent="-342900">
              <a:lnSpc>
                <a:spcPct val="115000"/>
              </a:lnSpc>
              <a:spcBef>
                <a:spcPts val="800"/>
              </a:spcBef>
              <a:buSzPts val="1200"/>
              <a:buFont typeface="+mj-lt"/>
              <a:buAutoNum type="arabicPeriod"/>
            </a:pPr>
            <a:r>
              <a:rPr lang="en-AU" sz="1600" dirty="0">
                <a:solidFill>
                  <a:schemeClr val="accent6">
                    <a:lumMod val="40000"/>
                    <a:lumOff val="60000"/>
                  </a:schemeClr>
                </a:solidFill>
                <a:latin typeface="Nunito" pitchFamily="2" charset="77"/>
              </a:rPr>
              <a:t>Total features of the species</a:t>
            </a:r>
          </a:p>
          <a:p>
            <a:pPr marL="495300" indent="-342900">
              <a:lnSpc>
                <a:spcPct val="115000"/>
              </a:lnSpc>
              <a:spcBef>
                <a:spcPts val="800"/>
              </a:spcBef>
              <a:buSzPts val="1200"/>
              <a:buFont typeface="+mj-lt"/>
              <a:buAutoNum type="arabicPeriod"/>
            </a:pPr>
            <a:r>
              <a:rPr lang="en-AU" sz="1600" dirty="0">
                <a:solidFill>
                  <a:schemeClr val="accent6">
                    <a:lumMod val="60000"/>
                    <a:lumOff val="40000"/>
                  </a:schemeClr>
                </a:solidFill>
                <a:latin typeface="Nunito" pitchFamily="2" charset="77"/>
              </a:rPr>
              <a:t>Subset of features captured in the experiment</a:t>
            </a:r>
          </a:p>
          <a:p>
            <a:pPr marL="495300" indent="-342900">
              <a:lnSpc>
                <a:spcPct val="115000"/>
              </a:lnSpc>
              <a:spcBef>
                <a:spcPts val="800"/>
              </a:spcBef>
              <a:buSzPts val="1200"/>
              <a:buFont typeface="+mj-lt"/>
              <a:buAutoNum type="arabicPeriod"/>
            </a:pPr>
            <a:r>
              <a:rPr lang="en-AU" sz="1600" dirty="0">
                <a:solidFill>
                  <a:schemeClr val="accent6">
                    <a:lumMod val="75000"/>
                  </a:schemeClr>
                </a:solidFill>
                <a:latin typeface="Nunito" pitchFamily="2" charset="77"/>
              </a:rPr>
              <a:t>Subset of features captured in the experiment ∩ annotation</a:t>
            </a:r>
          </a:p>
        </p:txBody>
      </p:sp>
      <p:sp>
        <p:nvSpPr>
          <p:cNvPr id="3" name="TextBox 2">
            <a:extLst>
              <a:ext uri="{FF2B5EF4-FFF2-40B4-BE49-F238E27FC236}">
                <a16:creationId xmlns:a16="http://schemas.microsoft.com/office/drawing/2014/main" id="{5CCE74A6-49D4-222A-E0BD-1F8AB14199D3}"/>
              </a:ext>
            </a:extLst>
          </p:cNvPr>
          <p:cNvSpPr txBox="1"/>
          <p:nvPr/>
        </p:nvSpPr>
        <p:spPr>
          <a:xfrm>
            <a:off x="295200" y="4850875"/>
            <a:ext cx="7668090" cy="215444"/>
          </a:xfrm>
          <a:prstGeom prst="rect">
            <a:avLst/>
          </a:prstGeom>
          <a:noFill/>
        </p:spPr>
        <p:txBody>
          <a:bodyPr wrap="square">
            <a:spAutoFit/>
          </a:bodyPr>
          <a:lstStyle/>
          <a:p>
            <a:pPr marL="171450" indent="-171450">
              <a:buFont typeface="Arial" panose="020B0604020202020204" pitchFamily="34" charset="0"/>
              <a:buChar char="•"/>
            </a:pPr>
            <a:r>
              <a:rPr lang="en-AU" sz="800" dirty="0">
                <a:latin typeface="Nunito" pitchFamily="2" charset="77"/>
              </a:rPr>
              <a:t>Yu G. (2026). Background bias in functional enrichment analysis: Insights from </a:t>
            </a:r>
            <a:r>
              <a:rPr lang="en-AU" sz="800" i="1" dirty="0" err="1">
                <a:latin typeface="Nunito" pitchFamily="2" charset="77"/>
              </a:rPr>
              <a:t>clusterProfiler</a:t>
            </a:r>
            <a:r>
              <a:rPr lang="en-AU" sz="800" dirty="0">
                <a:latin typeface="Nunito" pitchFamily="2" charset="77"/>
              </a:rPr>
              <a:t>. </a:t>
            </a:r>
            <a:r>
              <a:rPr lang="en-AU" sz="800" i="1" dirty="0">
                <a:latin typeface="Nunito" pitchFamily="2" charset="77"/>
              </a:rPr>
              <a:t>The Innovation Life</a:t>
            </a:r>
            <a:r>
              <a:rPr lang="en-AU" sz="800" dirty="0">
                <a:latin typeface="Nunito" pitchFamily="2" charset="77"/>
              </a:rPr>
              <a:t> </a:t>
            </a:r>
            <a:r>
              <a:rPr lang="en-AU" sz="800" b="1" dirty="0">
                <a:latin typeface="Nunito" pitchFamily="2" charset="77"/>
              </a:rPr>
              <a:t>4</a:t>
            </a:r>
            <a:r>
              <a:rPr lang="en-AU" sz="800" dirty="0">
                <a:latin typeface="Nunito" pitchFamily="2" charset="77"/>
              </a:rPr>
              <a:t>:100181.</a:t>
            </a:r>
          </a:p>
        </p:txBody>
      </p:sp>
      <p:pic>
        <p:nvPicPr>
          <p:cNvPr id="4" name="Picture 3">
            <a:extLst>
              <a:ext uri="{FF2B5EF4-FFF2-40B4-BE49-F238E27FC236}">
                <a16:creationId xmlns:a16="http://schemas.microsoft.com/office/drawing/2014/main" id="{9A697607-D9A8-7D75-B50B-A8E842A89784}"/>
              </a:ext>
            </a:extLst>
          </p:cNvPr>
          <p:cNvPicPr>
            <a:picLocks noChangeAspect="1"/>
          </p:cNvPicPr>
          <p:nvPr/>
        </p:nvPicPr>
        <p:blipFill>
          <a:blip r:embed="rId3"/>
          <a:srcRect l="-1" r="637"/>
          <a:stretch>
            <a:fillRect/>
          </a:stretch>
        </p:blipFill>
        <p:spPr>
          <a:xfrm>
            <a:off x="479981" y="2514589"/>
            <a:ext cx="1981200" cy="1511300"/>
          </a:xfrm>
          <a:prstGeom prst="rect">
            <a:avLst/>
          </a:prstGeom>
        </p:spPr>
      </p:pic>
      <p:pic>
        <p:nvPicPr>
          <p:cNvPr id="5" name="Picture 4">
            <a:extLst>
              <a:ext uri="{FF2B5EF4-FFF2-40B4-BE49-F238E27FC236}">
                <a16:creationId xmlns:a16="http://schemas.microsoft.com/office/drawing/2014/main" id="{A2765D98-BA17-AB17-6B46-85A2B7341694}"/>
              </a:ext>
            </a:extLst>
          </p:cNvPr>
          <p:cNvPicPr>
            <a:picLocks noChangeAspect="1"/>
          </p:cNvPicPr>
          <p:nvPr/>
        </p:nvPicPr>
        <p:blipFill>
          <a:blip r:embed="rId4"/>
          <a:srcRect/>
          <a:stretch>
            <a:fillRect/>
          </a:stretch>
        </p:blipFill>
        <p:spPr>
          <a:xfrm>
            <a:off x="2590800" y="2514589"/>
            <a:ext cx="1981200" cy="1612900"/>
          </a:xfrm>
          <a:prstGeom prst="rect">
            <a:avLst/>
          </a:prstGeom>
        </p:spPr>
      </p:pic>
      <p:pic>
        <p:nvPicPr>
          <p:cNvPr id="6" name="Picture 5">
            <a:extLst>
              <a:ext uri="{FF2B5EF4-FFF2-40B4-BE49-F238E27FC236}">
                <a16:creationId xmlns:a16="http://schemas.microsoft.com/office/drawing/2014/main" id="{64740F44-D7AC-2056-956B-63AE59FB8143}"/>
              </a:ext>
            </a:extLst>
          </p:cNvPr>
          <p:cNvPicPr>
            <a:picLocks noChangeAspect="1"/>
          </p:cNvPicPr>
          <p:nvPr/>
        </p:nvPicPr>
        <p:blipFill>
          <a:blip r:embed="rId5"/>
          <a:stretch>
            <a:fillRect/>
          </a:stretch>
        </p:blipFill>
        <p:spPr>
          <a:xfrm>
            <a:off x="4653680" y="2518472"/>
            <a:ext cx="2095500" cy="1625600"/>
          </a:xfrm>
          <a:prstGeom prst="rect">
            <a:avLst/>
          </a:prstGeom>
        </p:spPr>
      </p:pic>
    </p:spTree>
    <p:extLst>
      <p:ext uri="{BB962C8B-B14F-4D97-AF65-F5344CB8AC3E}">
        <p14:creationId xmlns:p14="http://schemas.microsoft.com/office/powerpoint/2010/main" val="106312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42F0FE32-1806-D2FD-DDC4-12A6BFD12E34}"/>
            </a:ext>
          </a:extLst>
        </p:cNvPr>
        <p:cNvGrpSpPr/>
        <p:nvPr/>
      </p:nvGrpSpPr>
      <p:grpSpPr>
        <a:xfrm>
          <a:off x="0" y="0"/>
          <a:ext cx="0" cy="0"/>
          <a:chOff x="0" y="0"/>
          <a:chExt cx="0" cy="0"/>
        </a:xfrm>
      </p:grpSpPr>
      <p:sp>
        <p:nvSpPr>
          <p:cNvPr id="453" name="Google Shape;453;g30babdeb835_0_433">
            <a:extLst>
              <a:ext uri="{FF2B5EF4-FFF2-40B4-BE49-F238E27FC236}">
                <a16:creationId xmlns:a16="http://schemas.microsoft.com/office/drawing/2014/main" id="{564721F6-5C9D-F88B-77BB-247BC1A689AE}"/>
              </a:ext>
            </a:extLst>
          </p:cNvPr>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dirty="0"/>
              <a:t>Considerations – </a:t>
            </a:r>
            <a:r>
              <a:rPr lang="en-AU" dirty="0">
                <a:solidFill>
                  <a:srgbClr val="FF2600"/>
                </a:solidFill>
              </a:rPr>
              <a:t>Background sets</a:t>
            </a:r>
            <a:endParaRPr dirty="0">
              <a:solidFill>
                <a:srgbClr val="FF2600"/>
              </a:solidFill>
            </a:endParaRPr>
          </a:p>
        </p:txBody>
      </p:sp>
      <p:sp>
        <p:nvSpPr>
          <p:cNvPr id="454" name="Google Shape;454;g30babdeb835_0_433">
            <a:extLst>
              <a:ext uri="{FF2B5EF4-FFF2-40B4-BE49-F238E27FC236}">
                <a16:creationId xmlns:a16="http://schemas.microsoft.com/office/drawing/2014/main" id="{4203DE10-0825-05CE-6766-42D11D944A88}"/>
              </a:ext>
            </a:extLst>
          </p:cNvPr>
          <p:cNvSpPr txBox="1"/>
          <p:nvPr/>
        </p:nvSpPr>
        <p:spPr>
          <a:xfrm>
            <a:off x="295200" y="1173600"/>
            <a:ext cx="7378219" cy="1727622"/>
          </a:xfrm>
          <a:prstGeom prst="rect">
            <a:avLst/>
          </a:prstGeom>
          <a:noFill/>
          <a:ln>
            <a:noFill/>
          </a:ln>
        </p:spPr>
        <p:txBody>
          <a:bodyPr spcFirstLastPara="1" wrap="square" lIns="91425" tIns="91425" rIns="91425" bIns="91425" anchor="t" anchorCtr="0">
            <a:spAutoFit/>
          </a:bodyPr>
          <a:lstStyle/>
          <a:p>
            <a:pPr marL="495300" indent="-342900">
              <a:lnSpc>
                <a:spcPct val="115000"/>
              </a:lnSpc>
              <a:spcBef>
                <a:spcPts val="800"/>
              </a:spcBef>
              <a:buSzPts val="1200"/>
              <a:buFont typeface="+mj-lt"/>
              <a:buAutoNum type="arabicPeriod"/>
            </a:pPr>
            <a:r>
              <a:rPr lang="en-AU" sz="1600" dirty="0">
                <a:solidFill>
                  <a:schemeClr val="accent6">
                    <a:lumMod val="40000"/>
                    <a:lumOff val="60000"/>
                  </a:schemeClr>
                </a:solidFill>
                <a:latin typeface="Nunito" pitchFamily="2" charset="77"/>
              </a:rPr>
              <a:t>Total features of the species</a:t>
            </a:r>
          </a:p>
          <a:p>
            <a:pPr marL="495300" indent="-342900">
              <a:lnSpc>
                <a:spcPct val="115000"/>
              </a:lnSpc>
              <a:spcBef>
                <a:spcPts val="800"/>
              </a:spcBef>
              <a:buSzPts val="1200"/>
              <a:buFont typeface="+mj-lt"/>
              <a:buAutoNum type="arabicPeriod"/>
            </a:pPr>
            <a:r>
              <a:rPr lang="en-AU" sz="1600" dirty="0">
                <a:solidFill>
                  <a:schemeClr val="accent6">
                    <a:lumMod val="60000"/>
                    <a:lumOff val="40000"/>
                  </a:schemeClr>
                </a:solidFill>
                <a:latin typeface="Nunito" pitchFamily="2" charset="77"/>
              </a:rPr>
              <a:t>Subset of features captured in the experiment</a:t>
            </a:r>
          </a:p>
          <a:p>
            <a:pPr marL="495300" indent="-342900">
              <a:lnSpc>
                <a:spcPct val="115000"/>
              </a:lnSpc>
              <a:spcBef>
                <a:spcPts val="800"/>
              </a:spcBef>
              <a:buSzPts val="1200"/>
              <a:buFont typeface="+mj-lt"/>
              <a:buAutoNum type="arabicPeriod"/>
            </a:pPr>
            <a:r>
              <a:rPr lang="en-AU" sz="1600" dirty="0">
                <a:solidFill>
                  <a:schemeClr val="accent6">
                    <a:lumMod val="75000"/>
                  </a:schemeClr>
                </a:solidFill>
                <a:latin typeface="Nunito" pitchFamily="2" charset="77"/>
              </a:rPr>
              <a:t>Subset of features captured in the experiment ∩ annotation</a:t>
            </a:r>
          </a:p>
          <a:p>
            <a:pPr marL="495300" indent="-342900">
              <a:lnSpc>
                <a:spcPct val="115000"/>
              </a:lnSpc>
              <a:spcBef>
                <a:spcPts val="800"/>
              </a:spcBef>
              <a:buSzPts val="1200"/>
              <a:buFont typeface="+mj-lt"/>
              <a:buAutoNum type="arabicPeriod"/>
            </a:pPr>
            <a:r>
              <a:rPr lang="en-AU" sz="1600" dirty="0">
                <a:solidFill>
                  <a:schemeClr val="accent6">
                    <a:lumMod val="50000"/>
                  </a:schemeClr>
                </a:solidFill>
                <a:latin typeface="Nunito" pitchFamily="2" charset="77"/>
              </a:rPr>
              <a:t>Subset of research-specific features (metabolism &gt; metabolic genes only)</a:t>
            </a:r>
          </a:p>
        </p:txBody>
      </p:sp>
      <p:sp>
        <p:nvSpPr>
          <p:cNvPr id="9" name="Down Arrow 8">
            <a:extLst>
              <a:ext uri="{FF2B5EF4-FFF2-40B4-BE49-F238E27FC236}">
                <a16:creationId xmlns:a16="http://schemas.microsoft.com/office/drawing/2014/main" id="{A227B0BF-A577-E8C7-57FE-6EA16037516C}"/>
              </a:ext>
            </a:extLst>
          </p:cNvPr>
          <p:cNvSpPr/>
          <p:nvPr/>
        </p:nvSpPr>
        <p:spPr>
          <a:xfrm>
            <a:off x="7775012" y="1173599"/>
            <a:ext cx="219458" cy="1548000"/>
          </a:xfrm>
          <a:prstGeom prst="downArrow">
            <a:avLst/>
          </a:prstGeom>
          <a:gradFill>
            <a:gsLst>
              <a:gs pos="0">
                <a:schemeClr val="accent1">
                  <a:lumMod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0821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05EC57C0-0449-61D5-E9A3-A89D595F44E7}"/>
            </a:ext>
          </a:extLst>
        </p:cNvPr>
        <p:cNvGrpSpPr/>
        <p:nvPr/>
      </p:nvGrpSpPr>
      <p:grpSpPr>
        <a:xfrm>
          <a:off x="0" y="0"/>
          <a:ext cx="0" cy="0"/>
          <a:chOff x="0" y="0"/>
          <a:chExt cx="0" cy="0"/>
        </a:xfrm>
      </p:grpSpPr>
      <p:sp>
        <p:nvSpPr>
          <p:cNvPr id="453" name="Google Shape;453;g30babdeb835_0_433">
            <a:extLst>
              <a:ext uri="{FF2B5EF4-FFF2-40B4-BE49-F238E27FC236}">
                <a16:creationId xmlns:a16="http://schemas.microsoft.com/office/drawing/2014/main" id="{9E63DD39-2D8B-F118-2606-C0BADAAE27AC}"/>
              </a:ext>
            </a:extLst>
          </p:cNvPr>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dirty="0"/>
              <a:t>Considerations – </a:t>
            </a:r>
            <a:r>
              <a:rPr lang="en-AU" dirty="0">
                <a:solidFill>
                  <a:srgbClr val="FF2600"/>
                </a:solidFill>
              </a:rPr>
              <a:t>Annotation Databases</a:t>
            </a:r>
            <a:endParaRPr dirty="0">
              <a:solidFill>
                <a:srgbClr val="FF2600"/>
              </a:solidFill>
            </a:endParaRPr>
          </a:p>
        </p:txBody>
      </p:sp>
      <p:sp>
        <p:nvSpPr>
          <p:cNvPr id="454" name="Google Shape;454;g30babdeb835_0_433">
            <a:extLst>
              <a:ext uri="{FF2B5EF4-FFF2-40B4-BE49-F238E27FC236}">
                <a16:creationId xmlns:a16="http://schemas.microsoft.com/office/drawing/2014/main" id="{CCFF8164-FD37-13E3-F48B-9B895A698EE8}"/>
              </a:ext>
            </a:extLst>
          </p:cNvPr>
          <p:cNvSpPr txBox="1"/>
          <p:nvPr/>
        </p:nvSpPr>
        <p:spPr>
          <a:xfrm>
            <a:off x="295200" y="1173600"/>
            <a:ext cx="8143406" cy="861744"/>
          </a:xfrm>
          <a:prstGeom prst="rect">
            <a:avLst/>
          </a:prstGeom>
          <a:noFill/>
          <a:ln>
            <a:noFill/>
          </a:ln>
        </p:spPr>
        <p:txBody>
          <a:bodyPr spcFirstLastPara="1" wrap="square" lIns="91425" tIns="91425" rIns="91425" bIns="91425" anchor="t" anchorCtr="0">
            <a:spAutoFit/>
          </a:bodyPr>
          <a:lstStyle/>
          <a:p>
            <a:r>
              <a:rPr lang="en-AU" sz="1600" dirty="0">
                <a:latin typeface="Nunito" pitchFamily="2" charset="77"/>
              </a:rPr>
              <a:t>Annotation databases use different ontologies to define pathways </a:t>
            </a:r>
          </a:p>
          <a:p>
            <a:pPr marL="285750" indent="-285750">
              <a:buFont typeface="Arial" panose="020B0604020202020204" pitchFamily="34" charset="0"/>
              <a:buChar char="•"/>
            </a:pPr>
            <a:r>
              <a:rPr lang="en-AU" dirty="0">
                <a:latin typeface="Nunito" pitchFamily="2" charset="77"/>
              </a:rPr>
              <a:t>KEGG vs </a:t>
            </a:r>
            <a:r>
              <a:rPr lang="en-AU" dirty="0" err="1">
                <a:latin typeface="Nunito" pitchFamily="2" charset="77"/>
              </a:rPr>
              <a:t>EcoCyc</a:t>
            </a:r>
            <a:endParaRPr lang="en-AU" dirty="0">
              <a:latin typeface="Nunito" pitchFamily="2" charset="77"/>
            </a:endParaRPr>
          </a:p>
          <a:p>
            <a:pPr marL="285750" indent="-285750">
              <a:buFont typeface="Arial" panose="020B0604020202020204" pitchFamily="34" charset="0"/>
              <a:buChar char="•"/>
            </a:pPr>
            <a:r>
              <a:rPr lang="en-AU" dirty="0">
                <a:latin typeface="Nunito" pitchFamily="2" charset="77"/>
              </a:rPr>
              <a:t>KEGG Modules are comparable</a:t>
            </a:r>
          </a:p>
        </p:txBody>
      </p:sp>
      <p:sp>
        <p:nvSpPr>
          <p:cNvPr id="4" name="TextBox 3">
            <a:extLst>
              <a:ext uri="{FF2B5EF4-FFF2-40B4-BE49-F238E27FC236}">
                <a16:creationId xmlns:a16="http://schemas.microsoft.com/office/drawing/2014/main" id="{C13BF404-02CD-550E-0A66-B40C3C656125}"/>
              </a:ext>
            </a:extLst>
          </p:cNvPr>
          <p:cNvSpPr txBox="1"/>
          <p:nvPr/>
        </p:nvSpPr>
        <p:spPr>
          <a:xfrm>
            <a:off x="311700" y="4804946"/>
            <a:ext cx="8697271" cy="215444"/>
          </a:xfrm>
          <a:prstGeom prst="rect">
            <a:avLst/>
          </a:prstGeom>
          <a:noFill/>
        </p:spPr>
        <p:txBody>
          <a:bodyPr wrap="square">
            <a:spAutoFit/>
          </a:bodyPr>
          <a:lstStyle/>
          <a:p>
            <a:pPr marL="171450" indent="-171450">
              <a:buFont typeface="Arial" panose="020B0604020202020204" pitchFamily="34" charset="0"/>
              <a:buChar char="•"/>
            </a:pPr>
            <a:r>
              <a:rPr lang="en-AU" sz="800" dirty="0">
                <a:latin typeface="Nunito" pitchFamily="2" charset="77"/>
              </a:rPr>
              <a:t>Karp, P.D., Midford, P.E., Caspi, R. et al. Pathway size matters: the influence of pathway granularity on over-representation (enrichment analysis) statistics. BMC Genomics 2021</a:t>
            </a:r>
          </a:p>
        </p:txBody>
      </p:sp>
      <p:graphicFrame>
        <p:nvGraphicFramePr>
          <p:cNvPr id="10" name="Table 9">
            <a:extLst>
              <a:ext uri="{FF2B5EF4-FFF2-40B4-BE49-F238E27FC236}">
                <a16:creationId xmlns:a16="http://schemas.microsoft.com/office/drawing/2014/main" id="{04240939-9BF6-16E7-D154-14C137A09C84}"/>
              </a:ext>
            </a:extLst>
          </p:cNvPr>
          <p:cNvGraphicFramePr>
            <a:graphicFrameLocks noGrp="1"/>
          </p:cNvGraphicFramePr>
          <p:nvPr>
            <p:extLst>
              <p:ext uri="{D42A27DB-BD31-4B8C-83A1-F6EECF244321}">
                <p14:modId xmlns:p14="http://schemas.microsoft.com/office/powerpoint/2010/main" val="3012562409"/>
              </p:ext>
            </p:extLst>
          </p:nvPr>
        </p:nvGraphicFramePr>
        <p:xfrm>
          <a:off x="632243" y="2571750"/>
          <a:ext cx="5120640" cy="1867440"/>
        </p:xfrm>
        <a:graphic>
          <a:graphicData uri="http://schemas.openxmlformats.org/drawingml/2006/table">
            <a:tbl>
              <a:tblPr firstRow="1" firstCol="1" bandRow="1"/>
              <a:tblGrid>
                <a:gridCol w="1254034">
                  <a:extLst>
                    <a:ext uri="{9D8B030D-6E8A-4147-A177-3AD203B41FA5}">
                      <a16:colId xmlns:a16="http://schemas.microsoft.com/office/drawing/2014/main" val="2783839384"/>
                    </a:ext>
                  </a:extLst>
                </a:gridCol>
                <a:gridCol w="1713846">
                  <a:extLst>
                    <a:ext uri="{9D8B030D-6E8A-4147-A177-3AD203B41FA5}">
                      <a16:colId xmlns:a16="http://schemas.microsoft.com/office/drawing/2014/main" val="1572087381"/>
                    </a:ext>
                  </a:extLst>
                </a:gridCol>
                <a:gridCol w="2152760">
                  <a:extLst>
                    <a:ext uri="{9D8B030D-6E8A-4147-A177-3AD203B41FA5}">
                      <a16:colId xmlns:a16="http://schemas.microsoft.com/office/drawing/2014/main" val="3344078601"/>
                    </a:ext>
                  </a:extLst>
                </a:gridCol>
              </a:tblGrid>
              <a:tr h="224093">
                <a:tc>
                  <a:txBody>
                    <a:bodyPr/>
                    <a:lstStyle/>
                    <a:p>
                      <a:pPr>
                        <a:buNone/>
                      </a:pPr>
                      <a:r>
                        <a:rPr lang="en-AU" sz="800" b="1" dirty="0">
                          <a:solidFill>
                            <a:srgbClr val="000000"/>
                          </a:solidFill>
                          <a:effectLst/>
                          <a:latin typeface="Nunito" pitchFamily="2" charset="77"/>
                          <a:ea typeface="Times New Roman" panose="02020603050405020304" pitchFamily="18" charset="0"/>
                          <a:cs typeface="Calibri" panose="020F0502020204030204" pitchFamily="34" charset="0"/>
                        </a:rPr>
                        <a:t>Pathway</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9050" cap="flat" cmpd="sng" algn="ctr">
                      <a:solidFill>
                        <a:srgbClr val="F4B083"/>
                      </a:solidFill>
                      <a:prstDash val="solid"/>
                      <a:round/>
                      <a:headEnd type="none" w="med" len="med"/>
                      <a:tailEnd type="none" w="med" len="med"/>
                    </a:lnB>
                    <a:noFill/>
                  </a:tcPr>
                </a:tc>
                <a:tc>
                  <a:txBody>
                    <a:bodyPr/>
                    <a:lstStyle/>
                    <a:p>
                      <a:pPr>
                        <a:buNone/>
                      </a:pPr>
                      <a:r>
                        <a:rPr lang="en-AU" sz="800" b="1" dirty="0">
                          <a:solidFill>
                            <a:srgbClr val="000000"/>
                          </a:solidFill>
                          <a:effectLst/>
                          <a:latin typeface="Nunito" pitchFamily="2" charset="77"/>
                          <a:ea typeface="Times New Roman" panose="02020603050405020304" pitchFamily="18" charset="0"/>
                          <a:cs typeface="Calibri" panose="020F0502020204030204" pitchFamily="34" charset="0"/>
                        </a:rPr>
                        <a:t>Differences</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9050" cap="flat" cmpd="sng" algn="ctr">
                      <a:solidFill>
                        <a:srgbClr val="F4B083"/>
                      </a:solidFill>
                      <a:prstDash val="solid"/>
                      <a:round/>
                      <a:headEnd type="none" w="med" len="med"/>
                      <a:tailEnd type="none" w="med" len="med"/>
                    </a:lnB>
                    <a:noFill/>
                  </a:tcPr>
                </a:tc>
                <a:tc>
                  <a:txBody>
                    <a:bodyPr/>
                    <a:lstStyle/>
                    <a:p>
                      <a:pPr>
                        <a:buNone/>
                      </a:pPr>
                      <a:r>
                        <a:rPr lang="en-AU" sz="800" b="1" dirty="0" err="1">
                          <a:solidFill>
                            <a:srgbClr val="000000"/>
                          </a:solidFill>
                          <a:effectLst/>
                          <a:latin typeface="Nunito" pitchFamily="2" charset="77"/>
                          <a:ea typeface="Times New Roman" panose="02020603050405020304" pitchFamily="18" charset="0"/>
                          <a:cs typeface="Calibri" panose="020F0502020204030204" pitchFamily="34" charset="0"/>
                        </a:rPr>
                        <a:t>MPath</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9050" cap="flat" cmpd="sng" algn="ctr">
                      <a:solidFill>
                        <a:srgbClr val="F4B083"/>
                      </a:solidFill>
                      <a:prstDash val="solid"/>
                      <a:round/>
                      <a:headEnd type="none" w="med" len="med"/>
                      <a:tailEnd type="none" w="med" len="med"/>
                    </a:lnB>
                    <a:noFill/>
                  </a:tcPr>
                </a:tc>
                <a:extLst>
                  <a:ext uri="{0D108BD9-81ED-4DB2-BD59-A6C34878D82A}">
                    <a16:rowId xmlns:a16="http://schemas.microsoft.com/office/drawing/2014/main" val="13879291"/>
                  </a:ext>
                </a:extLst>
              </a:tr>
              <a:tr h="336139">
                <a:tc>
                  <a:txBody>
                    <a:bodyPr/>
                    <a:lstStyle/>
                    <a:p>
                      <a:pPr>
                        <a:buNone/>
                      </a:pPr>
                      <a:r>
                        <a:rPr lang="en-AU" sz="800" b="1" dirty="0">
                          <a:solidFill>
                            <a:srgbClr val="000000"/>
                          </a:solidFill>
                          <a:effectLst/>
                          <a:latin typeface="Nunito" pitchFamily="2" charset="77"/>
                          <a:ea typeface="Times New Roman" panose="02020603050405020304" pitchFamily="18" charset="0"/>
                          <a:cs typeface="Calibri" panose="020F0502020204030204" pitchFamily="34" charset="0"/>
                        </a:rPr>
                        <a:t>Notch signalling</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9050" cap="flat" cmpd="sng" algn="ctr">
                      <a:solidFill>
                        <a:srgbClr val="F4B083"/>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dirty="0" err="1">
                          <a:solidFill>
                            <a:srgbClr val="000000"/>
                          </a:solidFill>
                          <a:effectLst/>
                          <a:latin typeface="Nunito" pitchFamily="2" charset="77"/>
                          <a:ea typeface="Times New Roman" panose="02020603050405020304" pitchFamily="18" charset="0"/>
                          <a:cs typeface="Calibri" panose="020F0502020204030204" pitchFamily="34" charset="0"/>
                        </a:rPr>
                        <a:t>WikiPathways</a:t>
                      </a: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 = significant ↑</a:t>
                      </a:r>
                      <a:b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b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KEGG/</a:t>
                      </a:r>
                      <a:r>
                        <a:rPr lang="en-AU" sz="800" dirty="0" err="1">
                          <a:solidFill>
                            <a:srgbClr val="000000"/>
                          </a:solidFill>
                          <a:effectLst/>
                          <a:latin typeface="Nunito" pitchFamily="2" charset="77"/>
                          <a:ea typeface="Times New Roman" panose="02020603050405020304" pitchFamily="18" charset="0"/>
                          <a:cs typeface="Calibri" panose="020F0502020204030204" pitchFamily="34" charset="0"/>
                        </a:rPr>
                        <a:t>Reactome</a:t>
                      </a: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 =  ↑ (not sig.)</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9050" cap="flat" cmpd="sng" algn="ctr">
                      <a:solidFill>
                        <a:srgbClr val="F4B083"/>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Significant ↓  (</a:t>
                      </a:r>
                      <a:r>
                        <a:rPr lang="en-AU" sz="800" dirty="0"/>
                        <a:t>direction reversed</a:t>
                      </a: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9050" cap="flat" cmpd="sng" algn="ctr">
                      <a:solidFill>
                        <a:srgbClr val="F4B083"/>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1625145496"/>
                  </a:ext>
                </a:extLst>
              </a:tr>
              <a:tr h="336139">
                <a:tc>
                  <a:txBody>
                    <a:bodyPr/>
                    <a:lstStyle/>
                    <a:p>
                      <a:pPr>
                        <a:buNone/>
                      </a:pPr>
                      <a:r>
                        <a:rPr lang="en-AU" sz="800" b="1" dirty="0">
                          <a:solidFill>
                            <a:srgbClr val="000000"/>
                          </a:solidFill>
                          <a:effectLst/>
                          <a:latin typeface="Nunito" pitchFamily="2" charset="77"/>
                          <a:ea typeface="Times New Roman" panose="02020603050405020304" pitchFamily="18" charset="0"/>
                          <a:cs typeface="Calibri" panose="020F0502020204030204" pitchFamily="34" charset="0"/>
                        </a:rPr>
                        <a:t>DNA replication</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a:solidFill>
                            <a:srgbClr val="000000"/>
                          </a:solidFill>
                          <a:effectLst/>
                          <a:latin typeface="Nunito" pitchFamily="2" charset="77"/>
                          <a:ea typeface="Times New Roman" panose="02020603050405020304" pitchFamily="18" charset="0"/>
                          <a:cs typeface="Calibri" panose="020F0502020204030204" pitchFamily="34" charset="0"/>
                        </a:rPr>
                        <a:t>Reactome = ↑</a:t>
                      </a:r>
                      <a:br>
                        <a:rPr lang="en-AU" sz="800">
                          <a:solidFill>
                            <a:srgbClr val="000000"/>
                          </a:solidFill>
                          <a:effectLst/>
                          <a:latin typeface="Nunito" pitchFamily="2" charset="77"/>
                          <a:ea typeface="Times New Roman" panose="02020603050405020304" pitchFamily="18" charset="0"/>
                          <a:cs typeface="Calibri" panose="020F0502020204030204" pitchFamily="34" charset="0"/>
                        </a:rPr>
                      </a:br>
                      <a:r>
                        <a:rPr lang="en-AU" sz="800">
                          <a:solidFill>
                            <a:srgbClr val="000000"/>
                          </a:solidFill>
                          <a:effectLst/>
                          <a:latin typeface="Nunito" pitchFamily="2" charset="77"/>
                          <a:ea typeface="Times New Roman" panose="02020603050405020304" pitchFamily="18" charset="0"/>
                          <a:cs typeface="Calibri" panose="020F0502020204030204" pitchFamily="34" charset="0"/>
                        </a:rPr>
                        <a:t>KEGG/WikiPathways = ↓ (not sig.)</a:t>
                      </a:r>
                      <a:endParaRPr lang="en-AU" sz="80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Significant ↓</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2353123708"/>
                  </a:ext>
                </a:extLst>
              </a:tr>
              <a:tr h="336139">
                <a:tc>
                  <a:txBody>
                    <a:bodyPr/>
                    <a:lstStyle/>
                    <a:p>
                      <a:pPr>
                        <a:buNone/>
                      </a:pPr>
                      <a:r>
                        <a:rPr lang="en-AU" sz="800" b="1" dirty="0">
                          <a:solidFill>
                            <a:srgbClr val="000000"/>
                          </a:solidFill>
                          <a:effectLst/>
                          <a:latin typeface="Nunito" pitchFamily="2" charset="77"/>
                          <a:ea typeface="Times New Roman" panose="02020603050405020304" pitchFamily="18" charset="0"/>
                          <a:cs typeface="Calibri" panose="020F0502020204030204" pitchFamily="34" charset="0"/>
                        </a:rPr>
                        <a:t>Hedgehog signalling</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dirty="0" err="1">
                          <a:solidFill>
                            <a:srgbClr val="000000"/>
                          </a:solidFill>
                          <a:effectLst/>
                          <a:latin typeface="Nunito" pitchFamily="2" charset="77"/>
                          <a:ea typeface="Times New Roman" panose="02020603050405020304" pitchFamily="18" charset="0"/>
                          <a:cs typeface="Calibri" panose="020F0502020204030204" pitchFamily="34" charset="0"/>
                        </a:rPr>
                        <a:t>WikiPathways</a:t>
                      </a: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 = ↑</a:t>
                      </a:r>
                      <a:b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b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KEGG/</a:t>
                      </a:r>
                      <a:r>
                        <a:rPr lang="en-AU" sz="800" dirty="0" err="1">
                          <a:solidFill>
                            <a:srgbClr val="000000"/>
                          </a:solidFill>
                          <a:effectLst/>
                          <a:latin typeface="Nunito" pitchFamily="2" charset="77"/>
                          <a:ea typeface="Times New Roman" panose="02020603050405020304" pitchFamily="18" charset="0"/>
                          <a:cs typeface="Calibri" panose="020F0502020204030204" pitchFamily="34" charset="0"/>
                        </a:rPr>
                        <a:t>Reactome</a:t>
                      </a: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 = ↑ (not sig.)</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Significant ↓ (</a:t>
                      </a:r>
                      <a:r>
                        <a:rPr lang="en-AU" sz="800" dirty="0"/>
                        <a:t>direction reversed</a:t>
                      </a: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1767011536"/>
                  </a:ext>
                </a:extLst>
              </a:tr>
              <a:tr h="317465">
                <a:tc>
                  <a:txBody>
                    <a:bodyPr/>
                    <a:lstStyle/>
                    <a:p>
                      <a:pPr>
                        <a:buNone/>
                      </a:pPr>
                      <a:r>
                        <a:rPr lang="en-AU" sz="800" b="1">
                          <a:solidFill>
                            <a:srgbClr val="000000"/>
                          </a:solidFill>
                          <a:effectLst/>
                          <a:latin typeface="Nunito" pitchFamily="2" charset="77"/>
                          <a:ea typeface="Times New Roman" panose="02020603050405020304" pitchFamily="18" charset="0"/>
                          <a:cs typeface="Calibri" panose="020F0502020204030204" pitchFamily="34" charset="0"/>
                        </a:rPr>
                        <a:t>TGF-β signaling</a:t>
                      </a:r>
                      <a:endParaRPr lang="en-AU" sz="80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a:solidFill>
                            <a:srgbClr val="000000"/>
                          </a:solidFill>
                          <a:effectLst/>
                          <a:latin typeface="Nunito" pitchFamily="2" charset="77"/>
                          <a:ea typeface="Times New Roman" panose="02020603050405020304" pitchFamily="18" charset="0"/>
                          <a:cs typeface="Calibri" panose="020F0502020204030204" pitchFamily="34" charset="0"/>
                        </a:rPr>
                        <a:t>KEGG = activated</a:t>
                      </a:r>
                      <a:br>
                        <a:rPr lang="en-AU" sz="800">
                          <a:solidFill>
                            <a:srgbClr val="000000"/>
                          </a:solidFill>
                          <a:effectLst/>
                          <a:latin typeface="Nunito" pitchFamily="2" charset="77"/>
                          <a:ea typeface="Times New Roman" panose="02020603050405020304" pitchFamily="18" charset="0"/>
                          <a:cs typeface="Calibri" panose="020F0502020204030204" pitchFamily="34" charset="0"/>
                        </a:rPr>
                      </a:br>
                      <a:r>
                        <a:rPr lang="en-AU" sz="800">
                          <a:solidFill>
                            <a:srgbClr val="000000"/>
                          </a:solidFill>
                          <a:effectLst/>
                          <a:latin typeface="Nunito" pitchFamily="2" charset="77"/>
                          <a:ea typeface="Times New Roman" panose="02020603050405020304" pitchFamily="18" charset="0"/>
                          <a:cs typeface="Calibri" panose="020F0502020204030204" pitchFamily="34" charset="0"/>
                        </a:rPr>
                        <a:t>WikiPathways = inhibited</a:t>
                      </a:r>
                      <a:endParaRPr lang="en-AU" sz="80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Inhibited</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1441645665"/>
                  </a:ext>
                </a:extLst>
              </a:tr>
              <a:tr h="317465">
                <a:tc>
                  <a:txBody>
                    <a:bodyPr/>
                    <a:lstStyle/>
                    <a:p>
                      <a:pPr>
                        <a:buNone/>
                      </a:pPr>
                      <a:r>
                        <a:rPr lang="en-AU" sz="800" b="1" dirty="0">
                          <a:solidFill>
                            <a:srgbClr val="000000"/>
                          </a:solidFill>
                          <a:effectLst/>
                          <a:latin typeface="Nunito" pitchFamily="2" charset="77"/>
                          <a:ea typeface="Times New Roman" panose="02020603050405020304" pitchFamily="18" charset="0"/>
                          <a:cs typeface="Calibri" panose="020F0502020204030204" pitchFamily="34" charset="0"/>
                        </a:rPr>
                        <a:t>Estrogen signalling</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KEGG = inhibited</a:t>
                      </a:r>
                      <a:b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br>
                      <a:r>
                        <a:rPr lang="en-AU" sz="800" dirty="0" err="1">
                          <a:solidFill>
                            <a:srgbClr val="000000"/>
                          </a:solidFill>
                          <a:effectLst/>
                          <a:latin typeface="Nunito" pitchFamily="2" charset="77"/>
                          <a:ea typeface="Times New Roman" panose="02020603050405020304" pitchFamily="18" charset="0"/>
                          <a:cs typeface="Calibri" panose="020F0502020204030204" pitchFamily="34" charset="0"/>
                        </a:rPr>
                        <a:t>WikiPathways</a:t>
                      </a: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 = activated</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tc>
                  <a:txBody>
                    <a:bodyPr/>
                    <a:lstStyle/>
                    <a:p>
                      <a:pPr>
                        <a:buNone/>
                      </a:pPr>
                      <a:r>
                        <a:rPr lang="en-AU" sz="800" dirty="0">
                          <a:solidFill>
                            <a:srgbClr val="000000"/>
                          </a:solidFill>
                          <a:effectLst/>
                          <a:latin typeface="Nunito" pitchFamily="2" charset="77"/>
                          <a:ea typeface="Times New Roman" panose="02020603050405020304" pitchFamily="18" charset="0"/>
                          <a:cs typeface="Calibri" panose="020F0502020204030204" pitchFamily="34" charset="0"/>
                        </a:rPr>
                        <a:t>Inhibited</a:t>
                      </a:r>
                      <a:endParaRPr lang="en-AU" sz="800" dirty="0">
                        <a:effectLst/>
                        <a:latin typeface="Nunito" pitchFamily="2"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7CAAC"/>
                      </a:solidFill>
                      <a:prstDash val="solid"/>
                      <a:round/>
                      <a:headEnd type="none" w="med" len="med"/>
                      <a:tailEnd type="none" w="med" len="med"/>
                    </a:lnL>
                    <a:lnR w="12700" cap="flat" cmpd="sng" algn="ctr">
                      <a:solidFill>
                        <a:srgbClr val="F7CAAC"/>
                      </a:solidFill>
                      <a:prstDash val="solid"/>
                      <a:round/>
                      <a:headEnd type="none" w="med" len="med"/>
                      <a:tailEnd type="none" w="med" len="med"/>
                    </a:lnR>
                    <a:lnT w="12700" cap="flat" cmpd="sng" algn="ctr">
                      <a:solidFill>
                        <a:srgbClr val="F7CAAC"/>
                      </a:solidFill>
                      <a:prstDash val="solid"/>
                      <a:round/>
                      <a:headEnd type="none" w="med" len="med"/>
                      <a:tailEnd type="none" w="med" len="med"/>
                    </a:lnT>
                    <a:lnB w="12700" cap="flat" cmpd="sng" algn="ctr">
                      <a:solidFill>
                        <a:srgbClr val="F7CAAC"/>
                      </a:solidFill>
                      <a:prstDash val="solid"/>
                      <a:round/>
                      <a:headEnd type="none" w="med" len="med"/>
                      <a:tailEnd type="none" w="med" len="med"/>
                    </a:lnB>
                    <a:noFill/>
                  </a:tcPr>
                </a:tc>
                <a:extLst>
                  <a:ext uri="{0D108BD9-81ED-4DB2-BD59-A6C34878D82A}">
                    <a16:rowId xmlns:a16="http://schemas.microsoft.com/office/drawing/2014/main" val="1066310769"/>
                  </a:ext>
                </a:extLst>
              </a:tr>
            </a:tbl>
          </a:graphicData>
        </a:graphic>
      </p:graphicFrame>
      <p:sp>
        <p:nvSpPr>
          <p:cNvPr id="12" name="TextBox 11">
            <a:extLst>
              <a:ext uri="{FF2B5EF4-FFF2-40B4-BE49-F238E27FC236}">
                <a16:creationId xmlns:a16="http://schemas.microsoft.com/office/drawing/2014/main" id="{0004FBE8-12C7-3520-DECE-1B6DEFAD46F6}"/>
              </a:ext>
            </a:extLst>
          </p:cNvPr>
          <p:cNvSpPr txBox="1"/>
          <p:nvPr/>
        </p:nvSpPr>
        <p:spPr>
          <a:xfrm>
            <a:off x="295200" y="2231271"/>
            <a:ext cx="4572000" cy="307777"/>
          </a:xfrm>
          <a:prstGeom prst="rect">
            <a:avLst/>
          </a:prstGeom>
          <a:noFill/>
        </p:spPr>
        <p:txBody>
          <a:bodyPr wrap="square">
            <a:spAutoFit/>
          </a:bodyPr>
          <a:lstStyle/>
          <a:p>
            <a:r>
              <a:rPr lang="en-AU" sz="1400" dirty="0">
                <a:latin typeface="Nunito" pitchFamily="2" charset="77"/>
              </a:rPr>
              <a:t>Multiple pathway databases or integrative ones</a:t>
            </a:r>
          </a:p>
        </p:txBody>
      </p:sp>
      <p:sp>
        <p:nvSpPr>
          <p:cNvPr id="13" name="TextBox 12">
            <a:extLst>
              <a:ext uri="{FF2B5EF4-FFF2-40B4-BE49-F238E27FC236}">
                <a16:creationId xmlns:a16="http://schemas.microsoft.com/office/drawing/2014/main" id="{1B5E60E8-A950-C3F8-EA84-2CC172794287}"/>
              </a:ext>
            </a:extLst>
          </p:cNvPr>
          <p:cNvSpPr txBox="1"/>
          <p:nvPr/>
        </p:nvSpPr>
        <p:spPr>
          <a:xfrm>
            <a:off x="311700" y="4939980"/>
            <a:ext cx="8697271" cy="215444"/>
          </a:xfrm>
          <a:prstGeom prst="rect">
            <a:avLst/>
          </a:prstGeom>
          <a:noFill/>
        </p:spPr>
        <p:txBody>
          <a:bodyPr wrap="square">
            <a:spAutoFit/>
          </a:bodyPr>
          <a:lstStyle/>
          <a:p>
            <a:pPr marL="171450" indent="-171450">
              <a:buFont typeface="Arial" panose="020B0604020202020204" pitchFamily="34" charset="0"/>
              <a:buChar char="•"/>
            </a:pPr>
            <a:r>
              <a:rPr lang="en-AU" sz="800" dirty="0">
                <a:latin typeface="Nunito" pitchFamily="2" charset="77"/>
              </a:rPr>
              <a:t>Mubeen S, Hoyt CT, et al.. The Impact of Pathway Database Choice on Statistical Enrichment Analysis and Predictive </a:t>
            </a:r>
            <a:r>
              <a:rPr lang="en-AU" sz="800" dirty="0" err="1">
                <a:latin typeface="Nunito" pitchFamily="2" charset="77"/>
              </a:rPr>
              <a:t>Modeling</a:t>
            </a:r>
            <a:r>
              <a:rPr lang="en-AU" sz="800" dirty="0">
                <a:latin typeface="Nunito" pitchFamily="2" charset="77"/>
              </a:rPr>
              <a:t>. Front Genet. 2019 Nov</a:t>
            </a:r>
          </a:p>
        </p:txBody>
      </p:sp>
    </p:spTree>
    <p:extLst>
      <p:ext uri="{BB962C8B-B14F-4D97-AF65-F5344CB8AC3E}">
        <p14:creationId xmlns:p14="http://schemas.microsoft.com/office/powerpoint/2010/main" val="407438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2EAFB51E-CB7F-3F70-5320-9FB4EE10BFFE}"/>
            </a:ext>
          </a:extLst>
        </p:cNvPr>
        <p:cNvGrpSpPr/>
        <p:nvPr/>
      </p:nvGrpSpPr>
      <p:grpSpPr>
        <a:xfrm>
          <a:off x="0" y="0"/>
          <a:ext cx="0" cy="0"/>
          <a:chOff x="0" y="0"/>
          <a:chExt cx="0" cy="0"/>
        </a:xfrm>
      </p:grpSpPr>
      <p:sp>
        <p:nvSpPr>
          <p:cNvPr id="453" name="Google Shape;453;g30babdeb835_0_433">
            <a:extLst>
              <a:ext uri="{FF2B5EF4-FFF2-40B4-BE49-F238E27FC236}">
                <a16:creationId xmlns:a16="http://schemas.microsoft.com/office/drawing/2014/main" id="{F4B52C5C-C700-1856-31C3-C63D01B16E72}"/>
              </a:ext>
            </a:extLst>
          </p:cNvPr>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dirty="0"/>
              <a:t>Special considerations - </a:t>
            </a:r>
            <a:r>
              <a:rPr lang="en-AU" dirty="0">
                <a:solidFill>
                  <a:srgbClr val="FF2600"/>
                </a:solidFill>
              </a:rPr>
              <a:t>Proteomics</a:t>
            </a:r>
            <a:endParaRPr dirty="0">
              <a:solidFill>
                <a:srgbClr val="FF2600"/>
              </a:solidFill>
            </a:endParaRPr>
          </a:p>
        </p:txBody>
      </p:sp>
      <p:sp>
        <p:nvSpPr>
          <p:cNvPr id="454" name="Google Shape;454;g30babdeb835_0_433">
            <a:extLst>
              <a:ext uri="{FF2B5EF4-FFF2-40B4-BE49-F238E27FC236}">
                <a16:creationId xmlns:a16="http://schemas.microsoft.com/office/drawing/2014/main" id="{C57FD6DB-034A-9535-8829-AA8CF6909351}"/>
              </a:ext>
            </a:extLst>
          </p:cNvPr>
          <p:cNvSpPr txBox="1"/>
          <p:nvPr/>
        </p:nvSpPr>
        <p:spPr>
          <a:xfrm>
            <a:off x="295200" y="1173600"/>
            <a:ext cx="8848800" cy="1306481"/>
          </a:xfrm>
          <a:prstGeom prst="rect">
            <a:avLst/>
          </a:prstGeom>
          <a:noFill/>
          <a:ln>
            <a:noFill/>
          </a:ln>
        </p:spPr>
        <p:txBody>
          <a:bodyPr spcFirstLastPara="1" wrap="square" lIns="91425" tIns="91425" rIns="91425" bIns="91425" anchor="t" anchorCtr="0">
            <a:spAutoFit/>
          </a:bodyPr>
          <a:lstStyle/>
          <a:p>
            <a:pPr marL="152400">
              <a:lnSpc>
                <a:spcPct val="115000"/>
              </a:lnSpc>
              <a:spcBef>
                <a:spcPts val="800"/>
              </a:spcBef>
              <a:buSzPts val="1200"/>
            </a:pPr>
            <a:r>
              <a:rPr lang="en-AU" sz="1600" b="1" dirty="0">
                <a:latin typeface="Nunito" pitchFamily="2" charset="77"/>
                <a:ea typeface="Nunito"/>
                <a:cs typeface="Nunito"/>
                <a:sym typeface="Nunito"/>
              </a:rPr>
              <a:t>PSEA</a:t>
            </a:r>
            <a:r>
              <a:rPr lang="en-AU" sz="1600" dirty="0">
                <a:latin typeface="Nunito" pitchFamily="2" charset="77"/>
                <a:ea typeface="Nunito"/>
                <a:cs typeface="Nunito"/>
                <a:sym typeface="Nunito"/>
              </a:rPr>
              <a:t>: </a:t>
            </a:r>
            <a:r>
              <a:rPr lang="en-AU" sz="1600" dirty="0">
                <a:latin typeface="Nunito" pitchFamily="2" charset="77"/>
              </a:rPr>
              <a:t>relative abundance (label-free quantification methods)</a:t>
            </a:r>
          </a:p>
          <a:p>
            <a:pPr marL="152400">
              <a:lnSpc>
                <a:spcPct val="115000"/>
              </a:lnSpc>
              <a:spcBef>
                <a:spcPts val="800"/>
              </a:spcBef>
              <a:buSzPts val="1200"/>
            </a:pPr>
            <a:r>
              <a:rPr lang="en-AU" sz="1600" b="1" dirty="0">
                <a:latin typeface="Nunito" pitchFamily="2" charset="77"/>
              </a:rPr>
              <a:t>PSEA-Quant</a:t>
            </a:r>
            <a:r>
              <a:rPr lang="en-AU" sz="1600" dirty="0">
                <a:latin typeface="Nunito" pitchFamily="2" charset="77"/>
              </a:rPr>
              <a:t>: average abundance and variation between replicates (label-based n label-free)</a:t>
            </a:r>
          </a:p>
          <a:p>
            <a:pPr marL="152400">
              <a:lnSpc>
                <a:spcPct val="115000"/>
              </a:lnSpc>
              <a:spcBef>
                <a:spcPts val="800"/>
              </a:spcBef>
              <a:buSzPts val="1200"/>
            </a:pPr>
            <a:r>
              <a:rPr lang="en-AU" dirty="0">
                <a:latin typeface="Nunito" pitchFamily="2" charset="77"/>
              </a:rPr>
              <a:t>	- Rank proteins &gt; weight &gt; sum of weighted enrichment score of a term constituent proteins</a:t>
            </a:r>
          </a:p>
        </p:txBody>
      </p:sp>
      <p:sp>
        <p:nvSpPr>
          <p:cNvPr id="3" name="TextBox 2">
            <a:extLst>
              <a:ext uri="{FF2B5EF4-FFF2-40B4-BE49-F238E27FC236}">
                <a16:creationId xmlns:a16="http://schemas.microsoft.com/office/drawing/2014/main" id="{FFFCCA7C-A93B-D772-EC37-7BA3ACE09001}"/>
              </a:ext>
            </a:extLst>
          </p:cNvPr>
          <p:cNvSpPr txBox="1"/>
          <p:nvPr/>
        </p:nvSpPr>
        <p:spPr>
          <a:xfrm>
            <a:off x="295200" y="4312503"/>
            <a:ext cx="8356862" cy="707886"/>
          </a:xfrm>
          <a:prstGeom prst="rect">
            <a:avLst/>
          </a:prstGeom>
          <a:noFill/>
        </p:spPr>
        <p:txBody>
          <a:bodyPr wrap="square">
            <a:spAutoFit/>
          </a:bodyPr>
          <a:lstStyle/>
          <a:p>
            <a:pPr marL="285750" indent="-285750" algn="l">
              <a:buFont typeface="Arial" panose="020B0604020202020204" pitchFamily="34" charset="0"/>
              <a:buChar char="•"/>
            </a:pPr>
            <a:endParaRPr lang="en-AU" sz="800" b="0" i="0" dirty="0">
              <a:solidFill>
                <a:srgbClr val="212121"/>
              </a:solidFill>
              <a:effectLst/>
              <a:latin typeface="Nunito" pitchFamily="2" charset="77"/>
            </a:endParaRPr>
          </a:p>
          <a:p>
            <a:pPr marL="285750" indent="-285750">
              <a:buFont typeface="Arial" panose="020B0604020202020204" pitchFamily="34" charset="0"/>
              <a:buChar char="•"/>
            </a:pPr>
            <a:r>
              <a:rPr lang="en-AU" sz="800" dirty="0">
                <a:latin typeface="Nunito" pitchFamily="2" charset="77"/>
              </a:rPr>
              <a:t>Cha S, </a:t>
            </a:r>
            <a:r>
              <a:rPr lang="en-AU" sz="800" dirty="0" err="1">
                <a:latin typeface="Nunito" pitchFamily="2" charset="77"/>
              </a:rPr>
              <a:t>Imielinski</a:t>
            </a:r>
            <a:r>
              <a:rPr lang="en-AU" sz="800" dirty="0">
                <a:latin typeface="Nunito" pitchFamily="2" charset="77"/>
              </a:rPr>
              <a:t> MB, </a:t>
            </a:r>
            <a:r>
              <a:rPr lang="en-AU" sz="800" dirty="0" err="1">
                <a:latin typeface="Nunito" pitchFamily="2" charset="77"/>
              </a:rPr>
              <a:t>Rejtar</a:t>
            </a:r>
            <a:r>
              <a:rPr lang="en-AU" sz="800" dirty="0">
                <a:latin typeface="Nunito" pitchFamily="2" charset="77"/>
              </a:rPr>
              <a:t> T, Richardson EA, Thakur D, Sgroi DC, Karger BL. In situ proteomic analysis of human breast cancer epithelial cells using laser capture microdissection: annotation by protein set enrichment analysis and gene ontology. Mol Cell Proteomics. 2010</a:t>
            </a:r>
            <a:endParaRPr lang="en-AU" sz="800" dirty="0">
              <a:solidFill>
                <a:srgbClr val="212121"/>
              </a:solidFill>
              <a:latin typeface="Nunito" pitchFamily="2" charset="77"/>
            </a:endParaRPr>
          </a:p>
          <a:p>
            <a:pPr marL="285750" indent="-285750" algn="l">
              <a:buFont typeface="Arial" panose="020B0604020202020204" pitchFamily="34" charset="0"/>
              <a:buChar char="•"/>
            </a:pPr>
            <a:r>
              <a:rPr lang="en-AU" sz="800" b="0" i="0" dirty="0">
                <a:solidFill>
                  <a:srgbClr val="212121"/>
                </a:solidFill>
                <a:effectLst/>
                <a:latin typeface="Nunito" pitchFamily="2" charset="77"/>
              </a:rPr>
              <a:t>Lavallée-Adam M, </a:t>
            </a:r>
            <a:r>
              <a:rPr lang="en-AU" sz="800" b="0" i="0" dirty="0" err="1">
                <a:solidFill>
                  <a:srgbClr val="212121"/>
                </a:solidFill>
                <a:effectLst/>
                <a:latin typeface="Nunito" pitchFamily="2" charset="77"/>
              </a:rPr>
              <a:t>Rauniyar</a:t>
            </a:r>
            <a:r>
              <a:rPr lang="en-AU" sz="800" b="0" i="0" dirty="0">
                <a:solidFill>
                  <a:srgbClr val="212121"/>
                </a:solidFill>
                <a:effectLst/>
                <a:latin typeface="Nunito" pitchFamily="2" charset="77"/>
              </a:rPr>
              <a:t> N, McClatchy DB, Yates JR 3rd. PSEA-Quant: a protein set enrichment analysis on label-free and label-based protein quantification data. J Proteome Res. 2014</a:t>
            </a:r>
          </a:p>
        </p:txBody>
      </p:sp>
    </p:spTree>
    <p:extLst>
      <p:ext uri="{BB962C8B-B14F-4D97-AF65-F5344CB8AC3E}">
        <p14:creationId xmlns:p14="http://schemas.microsoft.com/office/powerpoint/2010/main" val="1285220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52">
          <a:extLst>
            <a:ext uri="{FF2B5EF4-FFF2-40B4-BE49-F238E27FC236}">
              <a16:creationId xmlns:a16="http://schemas.microsoft.com/office/drawing/2014/main" id="{D36A24FF-F594-76D1-3D54-E80271D96EF5}"/>
            </a:ext>
          </a:extLst>
        </p:cNvPr>
        <p:cNvGrpSpPr/>
        <p:nvPr/>
      </p:nvGrpSpPr>
      <p:grpSpPr>
        <a:xfrm>
          <a:off x="0" y="0"/>
          <a:ext cx="0" cy="0"/>
          <a:chOff x="0" y="0"/>
          <a:chExt cx="0" cy="0"/>
        </a:xfrm>
      </p:grpSpPr>
      <p:sp>
        <p:nvSpPr>
          <p:cNvPr id="453" name="Google Shape;453;g30babdeb835_0_433">
            <a:extLst>
              <a:ext uri="{FF2B5EF4-FFF2-40B4-BE49-F238E27FC236}">
                <a16:creationId xmlns:a16="http://schemas.microsoft.com/office/drawing/2014/main" id="{D268AAC3-C856-A58D-D28A-D9B590365B5F}"/>
              </a:ext>
            </a:extLst>
          </p:cNvPr>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dirty="0"/>
              <a:t>Special considerations - </a:t>
            </a:r>
            <a:r>
              <a:rPr lang="en-AU" dirty="0">
                <a:solidFill>
                  <a:srgbClr val="FF2600"/>
                </a:solidFill>
              </a:rPr>
              <a:t>Metabolomics</a:t>
            </a:r>
            <a:endParaRPr dirty="0">
              <a:solidFill>
                <a:srgbClr val="FF2600"/>
              </a:solidFill>
            </a:endParaRPr>
          </a:p>
        </p:txBody>
      </p:sp>
      <p:sp>
        <p:nvSpPr>
          <p:cNvPr id="454" name="Google Shape;454;g30babdeb835_0_433">
            <a:extLst>
              <a:ext uri="{FF2B5EF4-FFF2-40B4-BE49-F238E27FC236}">
                <a16:creationId xmlns:a16="http://schemas.microsoft.com/office/drawing/2014/main" id="{A3B75D40-3788-5A20-5202-B4D371A1F65C}"/>
              </a:ext>
            </a:extLst>
          </p:cNvPr>
          <p:cNvSpPr txBox="1"/>
          <p:nvPr/>
        </p:nvSpPr>
        <p:spPr>
          <a:xfrm>
            <a:off x="295200" y="1173600"/>
            <a:ext cx="7378219" cy="2782270"/>
          </a:xfrm>
          <a:prstGeom prst="rect">
            <a:avLst/>
          </a:prstGeom>
          <a:noFill/>
          <a:ln>
            <a:noFill/>
          </a:ln>
        </p:spPr>
        <p:txBody>
          <a:bodyPr spcFirstLastPara="1" wrap="square" lIns="91425" tIns="91425" rIns="91425" bIns="91425" anchor="t" anchorCtr="0">
            <a:spAutoFit/>
          </a:bodyPr>
          <a:lstStyle/>
          <a:p>
            <a:pPr marL="152400">
              <a:lnSpc>
                <a:spcPct val="115000"/>
              </a:lnSpc>
              <a:spcBef>
                <a:spcPts val="800"/>
              </a:spcBef>
              <a:buSzPts val="1200"/>
            </a:pPr>
            <a:r>
              <a:rPr lang="en-AU" b="1" dirty="0" err="1">
                <a:latin typeface="Nunito" pitchFamily="2" charset="77"/>
              </a:rPr>
              <a:t>MetPA</a:t>
            </a:r>
            <a:r>
              <a:rPr lang="en-AU" dirty="0">
                <a:latin typeface="Nunito" pitchFamily="2" charset="77"/>
              </a:rPr>
              <a:t>: relies on compound annotation + network topology</a:t>
            </a:r>
          </a:p>
          <a:p>
            <a:pPr marL="152400">
              <a:lnSpc>
                <a:spcPct val="115000"/>
              </a:lnSpc>
              <a:spcBef>
                <a:spcPts val="800"/>
              </a:spcBef>
              <a:buSzPts val="1200"/>
            </a:pPr>
            <a:r>
              <a:rPr lang="en-AU" dirty="0">
                <a:latin typeface="Nunito" pitchFamily="2" charset="77"/>
              </a:rPr>
              <a:t>- Annotating metabolites based of chemical standards, searching metabolic features like m/z or fragmentation patterns generated by MS against metabolite libraries.</a:t>
            </a:r>
          </a:p>
          <a:p>
            <a:pPr marL="152400">
              <a:lnSpc>
                <a:spcPct val="115000"/>
              </a:lnSpc>
              <a:spcBef>
                <a:spcPts val="800"/>
              </a:spcBef>
              <a:buSzPts val="1200"/>
            </a:pPr>
            <a:endParaRPr lang="en-AU" dirty="0">
              <a:latin typeface="Nunito" pitchFamily="2" charset="77"/>
            </a:endParaRPr>
          </a:p>
          <a:p>
            <a:pPr marL="152400">
              <a:lnSpc>
                <a:spcPct val="115000"/>
              </a:lnSpc>
              <a:spcBef>
                <a:spcPts val="800"/>
              </a:spcBef>
              <a:buSzPts val="1200"/>
            </a:pPr>
            <a:r>
              <a:rPr lang="en-AU" b="1" dirty="0">
                <a:latin typeface="Nunito" pitchFamily="2" charset="77"/>
              </a:rPr>
              <a:t>Mummichog</a:t>
            </a:r>
            <a:r>
              <a:rPr lang="en-AU" dirty="0">
                <a:latin typeface="Nunito" pitchFamily="2" charset="77"/>
              </a:rPr>
              <a:t>: to bypass annotation limitation</a:t>
            </a:r>
          </a:p>
          <a:p>
            <a:pPr marL="152400">
              <a:lnSpc>
                <a:spcPct val="115000"/>
              </a:lnSpc>
              <a:spcBef>
                <a:spcPts val="800"/>
              </a:spcBef>
              <a:buSzPts val="1200"/>
            </a:pPr>
            <a:r>
              <a:rPr lang="en-AU" dirty="0">
                <a:latin typeface="Nunito" pitchFamily="2" charset="77"/>
              </a:rPr>
              <a:t>- Using spectral features like m/z and retention time</a:t>
            </a:r>
          </a:p>
          <a:p>
            <a:pPr marL="152400">
              <a:lnSpc>
                <a:spcPct val="115000"/>
              </a:lnSpc>
              <a:spcBef>
                <a:spcPts val="800"/>
              </a:spcBef>
              <a:buSzPts val="1200"/>
            </a:pPr>
            <a:r>
              <a:rPr lang="en-AU" dirty="0">
                <a:latin typeface="Nunito" pitchFamily="2" charset="77"/>
              </a:rPr>
              <a:t>- Requires downstream analytical chemistry to identify specific metabolites associated with phenotypes of interest</a:t>
            </a:r>
          </a:p>
        </p:txBody>
      </p:sp>
      <p:sp>
        <p:nvSpPr>
          <p:cNvPr id="3" name="TextBox 2">
            <a:extLst>
              <a:ext uri="{FF2B5EF4-FFF2-40B4-BE49-F238E27FC236}">
                <a16:creationId xmlns:a16="http://schemas.microsoft.com/office/drawing/2014/main" id="{F6B3CE47-78A7-EEFE-CF95-8627796E02A5}"/>
              </a:ext>
            </a:extLst>
          </p:cNvPr>
          <p:cNvSpPr txBox="1"/>
          <p:nvPr/>
        </p:nvSpPr>
        <p:spPr>
          <a:xfrm>
            <a:off x="311700" y="4564280"/>
            <a:ext cx="7668090" cy="584775"/>
          </a:xfrm>
          <a:prstGeom prst="rect">
            <a:avLst/>
          </a:prstGeom>
          <a:noFill/>
        </p:spPr>
        <p:txBody>
          <a:bodyPr wrap="square">
            <a:spAutoFit/>
          </a:bodyPr>
          <a:lstStyle/>
          <a:p>
            <a:pPr marL="171450" indent="-171450">
              <a:buFont typeface="Arial" panose="020B0604020202020204" pitchFamily="34" charset="0"/>
              <a:buChar char="•"/>
            </a:pPr>
            <a:r>
              <a:rPr lang="en-AU" sz="800" dirty="0">
                <a:latin typeface="Nunito" pitchFamily="2" charset="77"/>
              </a:rPr>
              <a:t>Jianguo Xia, David S. Wishart, </a:t>
            </a:r>
            <a:r>
              <a:rPr lang="en-AU" sz="800" dirty="0" err="1">
                <a:latin typeface="Nunito" pitchFamily="2" charset="77"/>
              </a:rPr>
              <a:t>MetPA</a:t>
            </a:r>
            <a:r>
              <a:rPr lang="en-AU" sz="800" dirty="0">
                <a:latin typeface="Nunito" pitchFamily="2" charset="77"/>
              </a:rPr>
              <a:t>: a web-based metabolomics tool for pathway analysis and visualization, </a:t>
            </a:r>
            <a:r>
              <a:rPr lang="en-AU" sz="800" i="1" dirty="0">
                <a:latin typeface="Nunito" pitchFamily="2" charset="77"/>
              </a:rPr>
              <a:t>Bioinformatics</a:t>
            </a:r>
            <a:r>
              <a:rPr lang="en-AU" sz="800" dirty="0">
                <a:latin typeface="Nunito" pitchFamily="2" charset="77"/>
              </a:rPr>
              <a:t>, Volume 26, Issue 18, September 2010, Pages 2342–2344</a:t>
            </a:r>
          </a:p>
          <a:p>
            <a:pPr marL="171450" indent="-171450">
              <a:buFont typeface="Arial" panose="020B0604020202020204" pitchFamily="34" charset="0"/>
              <a:buChar char="•"/>
            </a:pPr>
            <a:r>
              <a:rPr lang="en-AU" sz="800" dirty="0">
                <a:latin typeface="Nunito" pitchFamily="2" charset="77"/>
              </a:rPr>
              <a:t>Li S, Park Y, </a:t>
            </a:r>
            <a:r>
              <a:rPr lang="en-AU" sz="800" dirty="0" err="1">
                <a:latin typeface="Nunito" pitchFamily="2" charset="77"/>
              </a:rPr>
              <a:t>Duraisingham</a:t>
            </a:r>
            <a:r>
              <a:rPr lang="en-AU" sz="800" dirty="0">
                <a:latin typeface="Nunito" pitchFamily="2" charset="77"/>
              </a:rPr>
              <a:t> S, Strobel FH, Khan N, Soltow QA, Jones DP, Pulendran B. Predicting network activity from high throughput metabolomics. </a:t>
            </a:r>
            <a:r>
              <a:rPr lang="en-AU" sz="800" dirty="0" err="1">
                <a:latin typeface="Nunito" pitchFamily="2" charset="77"/>
              </a:rPr>
              <a:t>PLoS</a:t>
            </a:r>
            <a:r>
              <a:rPr lang="en-AU" sz="800" dirty="0">
                <a:latin typeface="Nunito" pitchFamily="2" charset="77"/>
              </a:rPr>
              <a:t> </a:t>
            </a:r>
            <a:r>
              <a:rPr lang="en-AU" sz="800" dirty="0" err="1">
                <a:latin typeface="Nunito" pitchFamily="2" charset="77"/>
              </a:rPr>
              <a:t>Comput</a:t>
            </a:r>
            <a:r>
              <a:rPr lang="en-AU" sz="800" dirty="0">
                <a:latin typeface="Nunito" pitchFamily="2" charset="77"/>
              </a:rPr>
              <a:t> Biol. 2013;9(7):e1003123. </a:t>
            </a:r>
            <a:r>
              <a:rPr lang="en-AU" sz="800" dirty="0" err="1">
                <a:latin typeface="Nunito" pitchFamily="2" charset="77"/>
              </a:rPr>
              <a:t>doi</a:t>
            </a:r>
            <a:r>
              <a:rPr lang="en-AU" sz="800" dirty="0">
                <a:latin typeface="Nunito" pitchFamily="2" charset="77"/>
              </a:rPr>
              <a:t>: 10.1371/journal.pcbi.1003123. </a:t>
            </a:r>
            <a:r>
              <a:rPr lang="en-AU" sz="800" dirty="0" err="1">
                <a:latin typeface="Nunito" pitchFamily="2" charset="77"/>
              </a:rPr>
              <a:t>Epub</a:t>
            </a:r>
            <a:r>
              <a:rPr lang="en-AU" sz="800" dirty="0">
                <a:latin typeface="Nunito" pitchFamily="2" charset="77"/>
              </a:rPr>
              <a:t> 2013 Jul 4. PMID: 23861661; PMCID: PMC3701697.</a:t>
            </a:r>
          </a:p>
        </p:txBody>
      </p:sp>
      <p:sp>
        <p:nvSpPr>
          <p:cNvPr id="2" name="TextBox 1">
            <a:extLst>
              <a:ext uri="{FF2B5EF4-FFF2-40B4-BE49-F238E27FC236}">
                <a16:creationId xmlns:a16="http://schemas.microsoft.com/office/drawing/2014/main" id="{9B19080E-A5CB-F08D-B131-192E6464827B}"/>
              </a:ext>
            </a:extLst>
          </p:cNvPr>
          <p:cNvSpPr txBox="1"/>
          <p:nvPr/>
        </p:nvSpPr>
        <p:spPr>
          <a:xfrm>
            <a:off x="424823" y="4106186"/>
            <a:ext cx="3751251" cy="307777"/>
          </a:xfrm>
          <a:prstGeom prst="rect">
            <a:avLst/>
          </a:prstGeom>
          <a:noFill/>
        </p:spPr>
        <p:txBody>
          <a:bodyPr wrap="square">
            <a:spAutoFit/>
          </a:bodyPr>
          <a:lstStyle/>
          <a:p>
            <a:r>
              <a:rPr lang="en-AU" dirty="0">
                <a:latin typeface="Nunito" pitchFamily="2" charset="77"/>
                <a:hlinkClick r:id="rId3"/>
              </a:rPr>
              <a:t>Functional Analysis of Global Metabolomics</a:t>
            </a:r>
            <a:endParaRPr lang="en-AU" dirty="0">
              <a:latin typeface="Nunito" pitchFamily="2" charset="77"/>
            </a:endParaRPr>
          </a:p>
        </p:txBody>
      </p:sp>
    </p:spTree>
    <p:extLst>
      <p:ext uri="{BB962C8B-B14F-4D97-AF65-F5344CB8AC3E}">
        <p14:creationId xmlns:p14="http://schemas.microsoft.com/office/powerpoint/2010/main" val="1533749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g30babdeb835_0_428"/>
          <p:cNvSpPr txBox="1">
            <a:spLocks noGrp="1"/>
          </p:cNvSpPr>
          <p:nvPr>
            <p:ph type="body" idx="1"/>
          </p:nvPr>
        </p:nvSpPr>
        <p:spPr>
          <a:xfrm>
            <a:off x="311700" y="1005496"/>
            <a:ext cx="8563200" cy="3422958"/>
          </a:xfrm>
          <a:prstGeom prst="rect">
            <a:avLst/>
          </a:prstGeom>
        </p:spPr>
        <p:txBody>
          <a:bodyPr spcFirstLastPara="1" wrap="square" lIns="91425" tIns="91425" rIns="91425" bIns="91425" anchor="ctr" anchorCtr="0">
            <a:spAutoFit/>
          </a:bodyPr>
          <a:lstStyle/>
          <a:p>
            <a:pPr marL="457200" lvl="0" indent="-317500" algn="l" rtl="0">
              <a:spcBef>
                <a:spcPts val="0"/>
              </a:spcBef>
              <a:spcAft>
                <a:spcPts val="0"/>
              </a:spcAft>
              <a:buClr>
                <a:schemeClr val="accent5"/>
              </a:buClr>
              <a:buSzPts val="1400"/>
              <a:buAutoNum type="arabicPeriod"/>
            </a:pPr>
            <a:r>
              <a:rPr lang="en-AU" sz="1400" b="1" dirty="0">
                <a:solidFill>
                  <a:schemeClr val="accent5"/>
                </a:solidFill>
              </a:rPr>
              <a:t>The input gene lists for ORA and GSEA are different! </a:t>
            </a:r>
            <a:endParaRPr sz="1400" b="1" dirty="0">
              <a:solidFill>
                <a:schemeClr val="accent5"/>
              </a:solidFill>
            </a:endParaRPr>
          </a:p>
          <a:p>
            <a:pPr marL="457200" lvl="0" indent="0" algn="l" rtl="0">
              <a:spcBef>
                <a:spcPts val="400"/>
              </a:spcBef>
              <a:spcAft>
                <a:spcPts val="0"/>
              </a:spcAft>
              <a:buNone/>
            </a:pPr>
            <a:r>
              <a:rPr lang="en-AU" sz="1200" dirty="0">
                <a:solidFill>
                  <a:schemeClr val="accent5"/>
                </a:solidFill>
              </a:rPr>
              <a:t>GSEA requires a ranked yet unfiltered gene list, while ORA requires a filtered unranked gene list and experimental background gene list</a:t>
            </a:r>
            <a:endParaRPr sz="1200" dirty="0">
              <a:solidFill>
                <a:schemeClr val="accent5"/>
              </a:solidFill>
            </a:endParaRPr>
          </a:p>
          <a:p>
            <a:pPr marL="482600" lvl="0" indent="-342900" algn="l" rtl="0">
              <a:spcBef>
                <a:spcPts val="400"/>
              </a:spcBef>
              <a:spcAft>
                <a:spcPts val="0"/>
              </a:spcAft>
              <a:buClr>
                <a:schemeClr val="accent2"/>
              </a:buClr>
              <a:buSzPts val="1400"/>
              <a:buFont typeface="+mj-lt"/>
              <a:buAutoNum type="arabicPeriod" startAt="2"/>
            </a:pPr>
            <a:r>
              <a:rPr lang="en-AU" sz="1400" b="1" dirty="0">
                <a:solidFill>
                  <a:schemeClr val="accent2"/>
                </a:solidFill>
              </a:rPr>
              <a:t>Always correct for multiple testing!</a:t>
            </a:r>
            <a:endParaRPr sz="1400" b="1" dirty="0">
              <a:solidFill>
                <a:schemeClr val="accent2"/>
              </a:solidFill>
            </a:endParaRPr>
          </a:p>
          <a:p>
            <a:pPr marL="0" lvl="0" indent="457200" algn="l" rtl="0">
              <a:spcBef>
                <a:spcPts val="400"/>
              </a:spcBef>
              <a:spcAft>
                <a:spcPts val="0"/>
              </a:spcAft>
              <a:buNone/>
            </a:pPr>
            <a:r>
              <a:rPr lang="en-AU" sz="1200" dirty="0">
                <a:solidFill>
                  <a:schemeClr val="accent2"/>
                </a:solidFill>
              </a:rPr>
              <a:t>Use adjusted P values/FDR/</a:t>
            </a:r>
            <a:r>
              <a:rPr lang="en-AU" sz="1200" dirty="0" err="1">
                <a:solidFill>
                  <a:schemeClr val="accent2"/>
                </a:solidFill>
              </a:rPr>
              <a:t>qvalues</a:t>
            </a:r>
            <a:r>
              <a:rPr lang="en-AU" sz="1200" dirty="0">
                <a:solidFill>
                  <a:schemeClr val="accent2"/>
                </a:solidFill>
              </a:rPr>
              <a:t>, never unadjusted P values</a:t>
            </a:r>
            <a:endParaRPr sz="1200" dirty="0">
              <a:solidFill>
                <a:schemeClr val="accent2"/>
              </a:solidFill>
            </a:endParaRPr>
          </a:p>
          <a:p>
            <a:pPr marL="482600" lvl="0" indent="-342900" algn="l" rtl="0">
              <a:spcBef>
                <a:spcPts val="400"/>
              </a:spcBef>
              <a:spcAft>
                <a:spcPts val="0"/>
              </a:spcAft>
              <a:buClr>
                <a:schemeClr val="accent4"/>
              </a:buClr>
              <a:buSzPts val="1400"/>
              <a:buFont typeface="+mj-lt"/>
              <a:buAutoNum type="arabicPeriod" startAt="3"/>
            </a:pPr>
            <a:r>
              <a:rPr lang="en-AU" sz="1400" b="1" dirty="0">
                <a:solidFill>
                  <a:schemeClr val="accent4"/>
                </a:solidFill>
              </a:rPr>
              <a:t>Ensure reproducibility! </a:t>
            </a:r>
            <a:endParaRPr sz="1400" b="1" dirty="0">
              <a:solidFill>
                <a:schemeClr val="accent4"/>
              </a:solidFill>
            </a:endParaRPr>
          </a:p>
          <a:p>
            <a:pPr marL="457200" lvl="0" indent="0" algn="l" rtl="0">
              <a:spcBef>
                <a:spcPts val="400"/>
              </a:spcBef>
              <a:spcAft>
                <a:spcPts val="0"/>
              </a:spcAft>
              <a:buNone/>
            </a:pPr>
            <a:r>
              <a:rPr lang="en-AU" sz="1200" dirty="0">
                <a:solidFill>
                  <a:schemeClr val="accent4"/>
                </a:solidFill>
              </a:rPr>
              <a:t>Record all relevant details including tool and database names and versions, all default and custom parameters and options applied, and background gene list</a:t>
            </a:r>
            <a:endParaRPr sz="1200" dirty="0">
              <a:solidFill>
                <a:schemeClr val="accent4"/>
              </a:solidFill>
            </a:endParaRPr>
          </a:p>
          <a:p>
            <a:pPr marL="482600" lvl="0" indent="-342900" algn="l" rtl="0">
              <a:spcBef>
                <a:spcPts val="400"/>
              </a:spcBef>
              <a:spcAft>
                <a:spcPts val="0"/>
              </a:spcAft>
              <a:buClr>
                <a:srgbClr val="666666"/>
              </a:buClr>
              <a:buSzPts val="1400"/>
              <a:buFont typeface="+mj-lt"/>
              <a:buAutoNum type="arabicPeriod" startAt="4"/>
            </a:pPr>
            <a:r>
              <a:rPr lang="en-AU" sz="1400" b="1" dirty="0">
                <a:solidFill>
                  <a:srgbClr val="666666"/>
                </a:solidFill>
              </a:rPr>
              <a:t>Different analysis methods </a:t>
            </a:r>
            <a:r>
              <a:rPr lang="en-AU" sz="1400" b="1" i="1" dirty="0">
                <a:solidFill>
                  <a:srgbClr val="666666"/>
                </a:solidFill>
              </a:rPr>
              <a:t>will</a:t>
            </a:r>
            <a:r>
              <a:rPr lang="en-AU" sz="1400" b="1" dirty="0">
                <a:solidFill>
                  <a:srgbClr val="666666"/>
                </a:solidFill>
              </a:rPr>
              <a:t> return different results! </a:t>
            </a:r>
            <a:endParaRPr sz="1400" b="1" dirty="0">
              <a:solidFill>
                <a:srgbClr val="666666"/>
              </a:solidFill>
            </a:endParaRPr>
          </a:p>
          <a:p>
            <a:pPr marL="0" lvl="0" indent="457200" algn="l" rtl="0">
              <a:spcBef>
                <a:spcPts val="400"/>
              </a:spcBef>
              <a:spcAft>
                <a:spcPts val="0"/>
              </a:spcAft>
              <a:buNone/>
            </a:pPr>
            <a:r>
              <a:rPr lang="en-AU" sz="1200" dirty="0">
                <a:solidFill>
                  <a:srgbClr val="666666"/>
                </a:solidFill>
              </a:rPr>
              <a:t>This is expected and OK, as long as your methods are sensible and detailed.</a:t>
            </a:r>
          </a:p>
          <a:p>
            <a:pPr marL="482600" lvl="0" indent="-342900" algn="l" rtl="0">
              <a:spcBef>
                <a:spcPts val="400"/>
              </a:spcBef>
              <a:spcAft>
                <a:spcPts val="0"/>
              </a:spcAft>
              <a:buClr>
                <a:schemeClr val="accent6"/>
              </a:buClr>
              <a:buSzPts val="1400"/>
              <a:buFont typeface="+mj-lt"/>
              <a:buAutoNum type="arabicPeriod" startAt="5"/>
            </a:pPr>
            <a:r>
              <a:rPr lang="en-AU" sz="1400" b="1" dirty="0">
                <a:solidFill>
                  <a:schemeClr val="accent6"/>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Interpret your results in their biological context!</a:t>
            </a:r>
            <a:endParaRPr lang="en-AU" sz="1400" b="1" dirty="0">
              <a:solidFill>
                <a:schemeClr val="accent6"/>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7"/>
                </a:ext>
              </a:extLst>
            </a:endParaRPr>
          </a:p>
          <a:p>
            <a:pPr marL="457200" lvl="0" indent="0" algn="l" rtl="0">
              <a:spcBef>
                <a:spcPts val="400"/>
              </a:spcBef>
              <a:spcAft>
                <a:spcPts val="400"/>
              </a:spcAft>
              <a:buNone/>
            </a:pPr>
            <a:r>
              <a:rPr lang="en-AU" sz="1200" dirty="0">
                <a:solidFill>
                  <a:schemeClr val="accent6"/>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8"/>
                  </a:ext>
                </a:extLst>
              </a:rPr>
              <a:t>Functional categories are often broad and redundant. Use visualisations to make sense of it all.</a:t>
            </a:r>
            <a:r>
              <a:rPr lang="en-AU" sz="1200" dirty="0">
                <a:solidFill>
                  <a:schemeClr val="accent6"/>
                </a:solidFill>
              </a:rPr>
              <a:t> </a:t>
            </a:r>
            <a:endParaRPr sz="1400" dirty="0">
              <a:solidFill>
                <a:schemeClr val="accent6"/>
              </a:solidFill>
            </a:endParaRPr>
          </a:p>
        </p:txBody>
      </p:sp>
      <p:sp>
        <p:nvSpPr>
          <p:cNvPr id="448" name="Google Shape;448;g30babdeb835_0_428"/>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a:t>5 things to remember when doing FEA</a:t>
            </a:r>
            <a:endParaRPr/>
          </a:p>
        </p:txBody>
      </p:sp>
    </p:spTree>
    <p:extLst>
      <p:ext uri="{BB962C8B-B14F-4D97-AF65-F5344CB8AC3E}">
        <p14:creationId xmlns:p14="http://schemas.microsoft.com/office/powerpoint/2010/main" val="2598192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g30babdeb835_0_433"/>
          <p:cNvSpPr txBox="1">
            <a:spLocks noGrp="1"/>
          </p:cNvSpPr>
          <p:nvPr>
            <p:ph type="title"/>
          </p:nvPr>
        </p:nvSpPr>
        <p:spPr>
          <a:xfrm>
            <a:off x="311700" y="2926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AU"/>
              <a:t>Further reading</a:t>
            </a:r>
            <a:endParaRPr/>
          </a:p>
        </p:txBody>
      </p:sp>
      <p:sp>
        <p:nvSpPr>
          <p:cNvPr id="454" name="Google Shape;454;g30babdeb835_0_433"/>
          <p:cNvSpPr txBox="1"/>
          <p:nvPr/>
        </p:nvSpPr>
        <p:spPr>
          <a:xfrm>
            <a:off x="295200" y="1173600"/>
            <a:ext cx="8650500" cy="3129031"/>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800"/>
              </a:spcBef>
              <a:spcAft>
                <a:spcPts val="0"/>
              </a:spcAft>
              <a:buSzPts val="1200"/>
              <a:buFont typeface="Nunito"/>
              <a:buChar char="-"/>
            </a:pPr>
            <a:r>
              <a:rPr lang="en-AU" sz="1200" dirty="0">
                <a:latin typeface="Nunito" pitchFamily="2" charset="77"/>
              </a:rPr>
              <a:t>Zhao and Rhee 2023: </a:t>
            </a:r>
            <a:r>
              <a:rPr lang="en-AU" sz="1200" u="sng" dirty="0">
                <a:solidFill>
                  <a:schemeClr val="accent3"/>
                </a:solidFill>
                <a:latin typeface="Nunito" pitchFamily="2" charset="77"/>
                <a:ea typeface="Nunito"/>
                <a:cs typeface="Nunito"/>
                <a:sym typeface="Nunito"/>
                <a:hlinkClick r:id="rId3">
                  <a:extLst>
                    <a:ext uri="{A12FA001-AC4F-418D-AE19-62706E023703}">
                      <ahyp:hlinkClr xmlns:ahyp="http://schemas.microsoft.com/office/drawing/2018/hyperlinkcolor" val="tx"/>
                    </a:ext>
                  </a:extLst>
                </a:hlinkClick>
              </a:rPr>
              <a:t>Interpreting omics data with pathway enrichment analysis</a:t>
            </a:r>
            <a:endParaRPr sz="1200" u="sng" dirty="0">
              <a:solidFill>
                <a:schemeClr val="accent3"/>
              </a:solidFill>
              <a:latin typeface="Nunito" pitchFamily="2" charset="77"/>
              <a:ea typeface="Nunito"/>
              <a:cs typeface="Nunito"/>
              <a:sym typeface="Nunito"/>
            </a:endParaRPr>
          </a:p>
          <a:p>
            <a:pPr marL="457200" lvl="0" indent="-304800" algn="l" rtl="0">
              <a:lnSpc>
                <a:spcPct val="115000"/>
              </a:lnSpc>
              <a:spcBef>
                <a:spcPts val="800"/>
              </a:spcBef>
              <a:spcAft>
                <a:spcPts val="0"/>
              </a:spcAft>
              <a:buSzPts val="1200"/>
              <a:buFont typeface="Nunito"/>
              <a:buChar char="-"/>
            </a:pPr>
            <a:r>
              <a:rPr lang="en-AU" sz="1200" dirty="0">
                <a:latin typeface="Nunito" pitchFamily="2" charset="77"/>
              </a:rPr>
              <a:t>Gable et al 2022: </a:t>
            </a:r>
            <a:r>
              <a:rPr lang="en-AU" sz="1200" u="sng" dirty="0">
                <a:solidFill>
                  <a:schemeClr val="accent3"/>
                </a:solidFill>
                <a:latin typeface="Nunito" pitchFamily="2" charset="77"/>
                <a:ea typeface="Nunito"/>
                <a:cs typeface="Nunito"/>
                <a:sym typeface="Nunito"/>
                <a:hlinkClick r:id="rId4">
                  <a:extLst>
                    <a:ext uri="{A12FA001-AC4F-418D-AE19-62706E023703}">
                      <ahyp:hlinkClr xmlns:ahyp="http://schemas.microsoft.com/office/drawing/2018/hyperlinkcolor" val="tx"/>
                    </a:ext>
                  </a:extLst>
                </a:hlinkClick>
              </a:rPr>
              <a:t>Systematic assessment of pathway databases, based on a diverse collection of user-submitted experiments</a:t>
            </a:r>
            <a:endParaRPr sz="1200" u="sng" dirty="0">
              <a:solidFill>
                <a:schemeClr val="accent3"/>
              </a:solidFill>
              <a:latin typeface="Nunito" pitchFamily="2" charset="77"/>
              <a:ea typeface="Nunito"/>
              <a:cs typeface="Nunito"/>
              <a:sym typeface="Nunito"/>
            </a:endParaRPr>
          </a:p>
          <a:p>
            <a:pPr marL="457200" lvl="0" indent="-304800" algn="l" rtl="0">
              <a:lnSpc>
                <a:spcPct val="115000"/>
              </a:lnSpc>
              <a:spcBef>
                <a:spcPts val="800"/>
              </a:spcBef>
              <a:spcAft>
                <a:spcPts val="0"/>
              </a:spcAft>
              <a:buSzPts val="1200"/>
              <a:buFont typeface="Nunito"/>
              <a:buChar char="-"/>
            </a:pPr>
            <a:r>
              <a:rPr lang="en-AU" sz="1200" dirty="0">
                <a:latin typeface="Nunito" pitchFamily="2" charset="77"/>
              </a:rPr>
              <a:t>Mubeen et al 2019: </a:t>
            </a:r>
            <a:r>
              <a:rPr lang="en-AU" sz="1200" u="sng" dirty="0">
                <a:solidFill>
                  <a:schemeClr val="accent3"/>
                </a:solidFill>
                <a:latin typeface="Nunito" pitchFamily="2" charset="77"/>
                <a:ea typeface="Nunito"/>
                <a:cs typeface="Nunito"/>
                <a:sym typeface="Nunito"/>
                <a:hlinkClick r:id="rId5">
                  <a:extLst>
                    <a:ext uri="{A12FA001-AC4F-418D-AE19-62706E023703}">
                      <ahyp:hlinkClr xmlns:ahyp="http://schemas.microsoft.com/office/drawing/2018/hyperlinkcolor" val="tx"/>
                    </a:ext>
                  </a:extLst>
                </a:hlinkClick>
              </a:rPr>
              <a:t>The Impact of Pathway Database Choice on Statistical Enrichment Analysis and Predictive Modeling</a:t>
            </a:r>
            <a:endParaRPr sz="1200" u="sng" dirty="0">
              <a:solidFill>
                <a:schemeClr val="accent3"/>
              </a:solidFill>
              <a:latin typeface="Nunito" pitchFamily="2" charset="77"/>
              <a:ea typeface="Nunito"/>
              <a:cs typeface="Nunito"/>
              <a:sym typeface="Nunito"/>
            </a:endParaRPr>
          </a:p>
          <a:p>
            <a:pPr marL="457200" lvl="0" indent="-304800" algn="l" rtl="0">
              <a:lnSpc>
                <a:spcPct val="115000"/>
              </a:lnSpc>
              <a:spcBef>
                <a:spcPts val="800"/>
              </a:spcBef>
              <a:spcAft>
                <a:spcPts val="0"/>
              </a:spcAft>
              <a:buSzPts val="1200"/>
              <a:buFont typeface="Nunito"/>
              <a:buChar char="-"/>
            </a:pPr>
            <a:r>
              <a:rPr lang="en-AU" sz="1200" dirty="0">
                <a:latin typeface="Nunito" pitchFamily="2" charset="77"/>
              </a:rPr>
              <a:t>Timmons et al 2015: </a:t>
            </a:r>
            <a:r>
              <a:rPr lang="en-AU" sz="1200" u="sng" dirty="0">
                <a:solidFill>
                  <a:schemeClr val="accent3"/>
                </a:solidFill>
                <a:latin typeface="Nunito" pitchFamily="2" charset="77"/>
                <a:ea typeface="Nunito"/>
                <a:cs typeface="Nunito"/>
                <a:sym typeface="Nunito"/>
                <a:hlinkClick r:id="rId6">
                  <a:extLst>
                    <a:ext uri="{A12FA001-AC4F-418D-AE19-62706E023703}">
                      <ahyp:hlinkClr xmlns:ahyp="http://schemas.microsoft.com/office/drawing/2018/hyperlinkcolor" val="tx"/>
                    </a:ext>
                  </a:extLst>
                </a:hlinkClick>
              </a:rPr>
              <a:t>Multiple sources of bias confound functional enrichment analysis of global -omics data</a:t>
            </a:r>
            <a:endParaRPr sz="1200" u="sng" dirty="0">
              <a:solidFill>
                <a:schemeClr val="accent3"/>
              </a:solidFill>
              <a:latin typeface="Nunito" pitchFamily="2" charset="77"/>
              <a:ea typeface="Nunito"/>
              <a:cs typeface="Nunito"/>
              <a:sym typeface="Nunito"/>
            </a:endParaRPr>
          </a:p>
          <a:p>
            <a:pPr marL="457200" lvl="0" indent="-304800" algn="l" rtl="0">
              <a:lnSpc>
                <a:spcPct val="115000"/>
              </a:lnSpc>
              <a:spcBef>
                <a:spcPts val="800"/>
              </a:spcBef>
              <a:spcAft>
                <a:spcPts val="0"/>
              </a:spcAft>
              <a:buSzPts val="1200"/>
              <a:buFont typeface="Nunito"/>
              <a:buChar char="-"/>
            </a:pPr>
            <a:r>
              <a:rPr lang="en-AU" sz="1200" dirty="0">
                <a:latin typeface="Nunito" pitchFamily="2" charset="77"/>
              </a:rPr>
              <a:t>Wijesooriya et al 2022: </a:t>
            </a:r>
            <a:r>
              <a:rPr lang="en-AU" sz="1200" u="sng" dirty="0">
                <a:solidFill>
                  <a:schemeClr val="accent3"/>
                </a:solidFill>
                <a:latin typeface="Nunito" pitchFamily="2" charset="77"/>
                <a:ea typeface="Nunito"/>
                <a:cs typeface="Nunito"/>
                <a:sym typeface="Nunito"/>
                <a:hlinkClick r:id="rId7">
                  <a:extLst>
                    <a:ext uri="{A12FA001-AC4F-418D-AE19-62706E023703}">
                      <ahyp:hlinkClr xmlns:ahyp="http://schemas.microsoft.com/office/drawing/2018/hyperlinkcolor" val="tx"/>
                    </a:ext>
                  </a:extLst>
                </a:hlinkClick>
              </a:rPr>
              <a:t>Urgent need for consistent standards in functional enrichment analysis</a:t>
            </a:r>
            <a:endParaRPr sz="1200" u="sng" dirty="0">
              <a:solidFill>
                <a:schemeClr val="accent3"/>
              </a:solidFill>
              <a:latin typeface="Nunito" pitchFamily="2" charset="77"/>
              <a:ea typeface="Nunito"/>
              <a:cs typeface="Nunito"/>
              <a:sym typeface="Nunito"/>
            </a:endParaRPr>
          </a:p>
          <a:p>
            <a:pPr marL="457200" lvl="0" indent="-304800" algn="l" rtl="0">
              <a:lnSpc>
                <a:spcPct val="115000"/>
              </a:lnSpc>
              <a:spcBef>
                <a:spcPts val="800"/>
              </a:spcBef>
              <a:spcAft>
                <a:spcPts val="0"/>
              </a:spcAft>
              <a:buSzPts val="1200"/>
              <a:buFont typeface="Nunito"/>
              <a:buChar char="-"/>
            </a:pPr>
            <a:r>
              <a:rPr lang="en-AU" sz="1200" dirty="0" err="1">
                <a:latin typeface="Nunito" pitchFamily="2" charset="77"/>
              </a:rPr>
              <a:t>Reimand</a:t>
            </a:r>
            <a:r>
              <a:rPr lang="en-AU" sz="1200" dirty="0">
                <a:latin typeface="Nunito" pitchFamily="2" charset="77"/>
              </a:rPr>
              <a:t> et al 2019 (Nature Protocol): </a:t>
            </a:r>
            <a:r>
              <a:rPr lang="en-AU" sz="1200" u="sng" dirty="0">
                <a:solidFill>
                  <a:schemeClr val="hlink"/>
                </a:solidFill>
                <a:latin typeface="Nunito" pitchFamily="2" charset="77"/>
                <a:ea typeface="Nunito"/>
                <a:cs typeface="Nunito"/>
                <a:sym typeface="Nunito"/>
                <a:hlinkClick r:id="rId8"/>
              </a:rPr>
              <a:t>Pathway enrichment analysis and visualization of omics data using g:Profiler, GSEA, Cytoscape and EnrichmentMap</a:t>
            </a:r>
            <a:endParaRPr sz="1200" dirty="0">
              <a:latin typeface="Nunito" pitchFamily="2" charset="77"/>
              <a:ea typeface="Nunito"/>
              <a:cs typeface="Nunito"/>
              <a:sym typeface="Nunito"/>
            </a:endParaRPr>
          </a:p>
          <a:p>
            <a:pPr marL="457200" lvl="0" indent="-304800" algn="l" rtl="0">
              <a:lnSpc>
                <a:spcPct val="115000"/>
              </a:lnSpc>
              <a:spcBef>
                <a:spcPts val="800"/>
              </a:spcBef>
              <a:spcAft>
                <a:spcPts val="800"/>
              </a:spcAft>
              <a:buSzPts val="1200"/>
              <a:buFont typeface="Nunito"/>
              <a:buChar char="-"/>
            </a:pPr>
            <a:r>
              <a:rPr lang="en-AU" sz="1200" dirty="0">
                <a:latin typeface="Nunito" pitchFamily="2" charset="77"/>
                <a:ea typeface="Nunito"/>
                <a:cs typeface="Nunito"/>
                <a:sym typeface="Nunito"/>
              </a:rPr>
              <a:t>Geistlinger et al 2020: </a:t>
            </a:r>
            <a:r>
              <a:rPr lang="en-AU" sz="1200" u="sng" dirty="0">
                <a:solidFill>
                  <a:schemeClr val="hlink"/>
                </a:solidFill>
                <a:latin typeface="Nunito" pitchFamily="2" charset="77"/>
                <a:hlinkClick r:id="rId9"/>
              </a:rPr>
              <a:t>Toward a gold standard for benchmarking gene set enrichment analysis</a:t>
            </a:r>
            <a:endParaRPr sz="1200" dirty="0">
              <a:latin typeface="Nunito" pitchFamily="2" charset="77"/>
              <a:ea typeface="Nunito"/>
              <a:cs typeface="Nunito"/>
              <a:sym typeface="Nunito"/>
            </a:endParaRPr>
          </a:p>
        </p:txBody>
      </p:sp>
    </p:spTree>
    <p:extLst>
      <p:ext uri="{BB962C8B-B14F-4D97-AF65-F5344CB8AC3E}">
        <p14:creationId xmlns:p14="http://schemas.microsoft.com/office/powerpoint/2010/main" val="3517028534"/>
      </p:ext>
    </p:extLst>
  </p:cSld>
  <p:clrMapOvr>
    <a:masterClrMapping/>
  </p:clrMapOvr>
</p:sld>
</file>

<file path=ppt/theme/theme1.xml><?xml version="1.0" encoding="utf-8"?>
<a:theme xmlns:a="http://schemas.openxmlformats.org/drawingml/2006/main" name="BioCommons">
  <a:themeElements>
    <a:clrScheme name="Custom 5">
      <a:dk1>
        <a:srgbClr val="1B243B"/>
      </a:dk1>
      <a:lt1>
        <a:srgbClr val="FFFFFF"/>
      </a:lt1>
      <a:dk2>
        <a:srgbClr val="1B243B"/>
      </a:dk2>
      <a:lt2>
        <a:srgbClr val="FFFFFF"/>
      </a:lt2>
      <a:accent1>
        <a:srgbClr val="ED087C"/>
      </a:accent1>
      <a:accent2>
        <a:srgbClr val="B21E8D"/>
      </a:accent2>
      <a:accent3>
        <a:srgbClr val="5AC3B1"/>
      </a:accent3>
      <a:accent4>
        <a:srgbClr val="2CB77C"/>
      </a:accent4>
      <a:accent5>
        <a:srgbClr val="146899"/>
      </a:accent5>
      <a:accent6>
        <a:srgbClr val="F49F1D"/>
      </a:accent6>
      <a:hlink>
        <a:srgbClr val="5AC3B1"/>
      </a:hlink>
      <a:folHlink>
        <a:srgbClr val="1FB1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4087</TotalTime>
  <Words>3187</Words>
  <Application>Microsoft Macintosh PowerPoint</Application>
  <PresentationFormat>On-screen Show (16:9)</PresentationFormat>
  <Paragraphs>581</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PT Sans Narrow</vt:lpstr>
      <vt:lpstr>Raleway</vt:lpstr>
      <vt:lpstr>Nunito</vt:lpstr>
      <vt:lpstr>Droid Sans</vt:lpstr>
      <vt:lpstr>Arial</vt:lpstr>
      <vt:lpstr>Noto Sans Symbols</vt:lpstr>
      <vt:lpstr>Calibri</vt:lpstr>
      <vt:lpstr>BioCommons</vt:lpstr>
      <vt:lpstr>Functional enrichment analysis (FEA)</vt:lpstr>
      <vt:lpstr>Functional enrichment analysis</vt:lpstr>
      <vt:lpstr>Synonyms</vt:lpstr>
      <vt:lpstr>Functional enrichment analysis: when?</vt:lpstr>
      <vt:lpstr>Functional enrichment analysis: why?</vt:lpstr>
      <vt:lpstr>Functional enrichment analysis: Input data?</vt:lpstr>
      <vt:lpstr>Concepts</vt:lpstr>
      <vt:lpstr>FEA at a glance: Mouse diet experiment</vt:lpstr>
      <vt:lpstr>Types of Enrichment Analysis</vt:lpstr>
      <vt:lpstr>Comparison of Enrichment Methods</vt:lpstr>
      <vt:lpstr>Why/when ora/gsea? Or both?</vt:lpstr>
      <vt:lpstr>Statistics - overview (ora, gsea)</vt:lpstr>
      <vt:lpstr>Annotation Databases</vt:lpstr>
      <vt:lpstr>Gene Ontology (GO)</vt:lpstr>
      <vt:lpstr>The GO Graph</vt:lpstr>
      <vt:lpstr>GO Domains</vt:lpstr>
      <vt:lpstr>PowerPoint Presentation</vt:lpstr>
      <vt:lpstr>Annotation Databases</vt:lpstr>
      <vt:lpstr>Considerations – Background sets</vt:lpstr>
      <vt:lpstr>Considerations – Background sets</vt:lpstr>
      <vt:lpstr>Considerations – Annotation Databases</vt:lpstr>
      <vt:lpstr>Special considerations - Proteomics</vt:lpstr>
      <vt:lpstr>Special considerations - Metabolomics</vt:lpstr>
      <vt:lpstr>5 things to remember when doing FEA</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Hossein Valipour Kahrood</cp:lastModifiedBy>
  <cp:revision>90</cp:revision>
  <dcterms:modified xsi:type="dcterms:W3CDTF">2026-08-09T07:46:58Z</dcterms:modified>
</cp:coreProperties>
</file>